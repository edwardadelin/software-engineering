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300" r:id="rId3"/>
    <p:sldId id="305" r:id="rId4"/>
    <p:sldId id="301" r:id="rId5"/>
    <p:sldId id="293" r:id="rId6"/>
    <p:sldId id="306" r:id="rId7"/>
    <p:sldId id="308" r:id="rId8"/>
    <p:sldId id="309" r:id="rId9"/>
    <p:sldId id="310" r:id="rId10"/>
    <p:sldId id="311" r:id="rId11"/>
    <p:sldId id="312" r:id="rId12"/>
    <p:sldId id="313" r:id="rId13"/>
    <p:sldId id="314" r:id="rId14"/>
    <p:sldId id="315" r:id="rId15"/>
    <p:sldId id="316" r:id="rId16"/>
    <p:sldId id="317" r:id="rId17"/>
    <p:sldId id="318" r:id="rId18"/>
    <p:sldId id="283" r:id="rId19"/>
    <p:sldId id="302" r:id="rId20"/>
    <p:sldId id="284" r:id="rId21"/>
    <p:sldId id="319" r:id="rId22"/>
    <p:sldId id="320" r:id="rId23"/>
    <p:sldId id="287" r:id="rId24"/>
    <p:sldId id="288" r:id="rId25"/>
    <p:sldId id="321" r:id="rId26"/>
    <p:sldId id="322" r:id="rId27"/>
    <p:sldId id="323" r:id="rId28"/>
    <p:sldId id="324" r:id="rId29"/>
    <p:sldId id="325" r:id="rId30"/>
    <p:sldId id="326" r:id="rId31"/>
    <p:sldId id="32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7E5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 mediu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 mediu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94" autoAdjust="0"/>
    <p:restoredTop sz="94660"/>
  </p:normalViewPr>
  <p:slideViewPr>
    <p:cSldViewPr snapToGrid="0">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7.xml.rels><?xml version="1.0" encoding="UTF-8" standalone="yes"?>
<Relationships xmlns="http://schemas.openxmlformats.org/package/2006/relationships"><Relationship Id="rId3" Type="http://schemas.openxmlformats.org/officeDocument/2006/relationships/hyperlink" Target="https://www.sbert.net/" TargetMode="External"/><Relationship Id="rId2" Type="http://schemas.openxmlformats.org/officeDocument/2006/relationships/hyperlink" Target="https://github.com/facebookresearch/faiss" TargetMode="External"/><Relationship Id="rId1" Type="http://schemas.openxmlformats.org/officeDocument/2006/relationships/hyperlink" Target="https://huggingface.co/sentence-transformers/all-MiniLM-L6-v2" TargetMode="External"/></Relationships>
</file>

<file path=ppt/diagrams/_rels/drawing7.xml.rels><?xml version="1.0" encoding="UTF-8" standalone="yes"?>
<Relationships xmlns="http://schemas.openxmlformats.org/package/2006/relationships"><Relationship Id="rId3" Type="http://schemas.openxmlformats.org/officeDocument/2006/relationships/hyperlink" Target="https://github.com/facebookresearch/faiss" TargetMode="External"/><Relationship Id="rId2" Type="http://schemas.openxmlformats.org/officeDocument/2006/relationships/hyperlink" Target="https://www.sbert.net/" TargetMode="External"/><Relationship Id="rId1" Type="http://schemas.openxmlformats.org/officeDocument/2006/relationships/hyperlink" Target="https://huggingface.co/sentence-transformers/all-MiniLM-L6-v2" TargetMode="External"/></Relationships>
</file>

<file path=ppt/diagrams/colors1.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161237-2A6B-4D2F-AB8D-F8C209813AFF}" type="doc">
      <dgm:prSet loTypeId="urn:microsoft.com/office/officeart/2008/layout/VerticalCurvedList" loCatId="list" qsTypeId="urn:microsoft.com/office/officeart/2005/8/quickstyle/simple1" qsCatId="simple" csTypeId="urn:microsoft.com/office/officeart/2005/8/colors/accent2_5" csCatId="accent2" phldr="1"/>
      <dgm:spPr/>
      <dgm:t>
        <a:bodyPr/>
        <a:lstStyle/>
        <a:p>
          <a:endParaRPr lang="en-US"/>
        </a:p>
      </dgm:t>
    </dgm:pt>
    <dgm:pt modelId="{CEF2E2D3-5C5F-4468-A566-1E3CA3D7CDD2}">
      <dgm:prSet phldrT="[Text]"/>
      <dgm:spPr/>
      <dgm:t>
        <a:bodyPr/>
        <a:lstStyle/>
        <a:p>
          <a:r>
            <a:rPr lang="en-US" dirty="0"/>
            <a:t>What is RAG?</a:t>
          </a:r>
        </a:p>
      </dgm:t>
    </dgm:pt>
    <dgm:pt modelId="{FE3AC735-F028-447A-A0DE-7D1751DA00A6}" type="parTrans" cxnId="{A8EF670B-74D6-41E7-AD0B-8503CFF73E68}">
      <dgm:prSet/>
      <dgm:spPr/>
      <dgm:t>
        <a:bodyPr/>
        <a:lstStyle/>
        <a:p>
          <a:endParaRPr lang="en-US"/>
        </a:p>
      </dgm:t>
    </dgm:pt>
    <dgm:pt modelId="{4F57D538-0219-4946-ACB3-8FDFB8B1F009}" type="sibTrans" cxnId="{A8EF670B-74D6-41E7-AD0B-8503CFF73E68}">
      <dgm:prSet/>
      <dgm:spPr/>
      <dgm:t>
        <a:bodyPr/>
        <a:lstStyle/>
        <a:p>
          <a:endParaRPr lang="en-US"/>
        </a:p>
      </dgm:t>
    </dgm:pt>
    <dgm:pt modelId="{E31D0CDC-C46B-4E4D-AAA8-7E707E9898A0}">
      <dgm:prSet phldrT="[Text]"/>
      <dgm:spPr/>
      <dgm:t>
        <a:bodyPr/>
        <a:lstStyle/>
        <a:p>
          <a:r>
            <a:rPr lang="en-US" dirty="0"/>
            <a:t>Recap L02</a:t>
          </a:r>
        </a:p>
      </dgm:t>
    </dgm:pt>
    <dgm:pt modelId="{B4318DED-6A83-46D2-816C-A4E96F4B16CD}" type="parTrans" cxnId="{33EB97F7-D6AD-412A-8DB7-C8E3307BE810}">
      <dgm:prSet/>
      <dgm:spPr/>
      <dgm:t>
        <a:bodyPr/>
        <a:lstStyle/>
        <a:p>
          <a:endParaRPr lang="en-US"/>
        </a:p>
      </dgm:t>
    </dgm:pt>
    <dgm:pt modelId="{874A203C-1A21-4C82-816C-1F72BD832A13}" type="sibTrans" cxnId="{33EB97F7-D6AD-412A-8DB7-C8E3307BE810}">
      <dgm:prSet/>
      <dgm:spPr/>
      <dgm:t>
        <a:bodyPr/>
        <a:lstStyle/>
        <a:p>
          <a:endParaRPr lang="en-US"/>
        </a:p>
      </dgm:t>
    </dgm:pt>
    <dgm:pt modelId="{950EB507-E99A-4688-AA64-ED5A8ABFC70C}">
      <dgm:prSet phldrT="[Text]"/>
      <dgm:spPr/>
      <dgm:t>
        <a:bodyPr/>
        <a:lstStyle/>
        <a:p>
          <a:r>
            <a:rPr lang="en-US" dirty="0"/>
            <a:t>RAG Architecture</a:t>
          </a:r>
        </a:p>
      </dgm:t>
    </dgm:pt>
    <dgm:pt modelId="{E9E89554-BA7F-4764-BF7B-5F75D5564A2E}" type="parTrans" cxnId="{451F548B-40D1-4E4D-BB42-AC84658F233C}">
      <dgm:prSet/>
      <dgm:spPr/>
      <dgm:t>
        <a:bodyPr/>
        <a:lstStyle/>
        <a:p>
          <a:endParaRPr lang="en-US"/>
        </a:p>
      </dgm:t>
    </dgm:pt>
    <dgm:pt modelId="{21536E0D-CD94-4FF2-A7C4-A1EFB04FEC40}" type="sibTrans" cxnId="{451F548B-40D1-4E4D-BB42-AC84658F233C}">
      <dgm:prSet/>
      <dgm:spPr/>
      <dgm:t>
        <a:bodyPr/>
        <a:lstStyle/>
        <a:p>
          <a:endParaRPr lang="en-US"/>
        </a:p>
      </dgm:t>
    </dgm:pt>
    <dgm:pt modelId="{6010D9E6-679E-41FA-86EF-0D12E03DACC7}">
      <dgm:prSet phldrT="[Text]"/>
      <dgm:spPr/>
      <dgm:t>
        <a:bodyPr/>
        <a:lstStyle/>
        <a:p>
          <a:r>
            <a:rPr lang="en-US" dirty="0"/>
            <a:t>Why RAG and not just Fine-tuning?</a:t>
          </a:r>
        </a:p>
      </dgm:t>
    </dgm:pt>
    <dgm:pt modelId="{67284C68-13DE-4038-AA51-478A28BD8DD9}" type="parTrans" cxnId="{80752BE3-EE8A-4174-BDB7-8B89DEA0BE01}">
      <dgm:prSet/>
      <dgm:spPr/>
      <dgm:t>
        <a:bodyPr/>
        <a:lstStyle/>
        <a:p>
          <a:endParaRPr lang="en-US"/>
        </a:p>
      </dgm:t>
    </dgm:pt>
    <dgm:pt modelId="{8385F7D4-1F56-498B-9F38-4A09790798B0}" type="sibTrans" cxnId="{80752BE3-EE8A-4174-BDB7-8B89DEA0BE01}">
      <dgm:prSet/>
      <dgm:spPr/>
      <dgm:t>
        <a:bodyPr/>
        <a:lstStyle/>
        <a:p>
          <a:endParaRPr lang="en-US"/>
        </a:p>
      </dgm:t>
    </dgm:pt>
    <dgm:pt modelId="{5633E883-2B24-4150-A856-46CB73971444}">
      <dgm:prSet phldrT="[Text]"/>
      <dgm:spPr/>
      <dgm:t>
        <a:bodyPr/>
        <a:lstStyle/>
        <a:p>
          <a:r>
            <a:rPr lang="en-US"/>
            <a:t>Steps</a:t>
          </a:r>
          <a:endParaRPr lang="en-US" dirty="0"/>
        </a:p>
      </dgm:t>
    </dgm:pt>
    <dgm:pt modelId="{FC5B436E-2389-46CA-B60A-8C8596927E68}" type="parTrans" cxnId="{955B4A2A-FBFB-47A7-8863-766A91A939C0}">
      <dgm:prSet/>
      <dgm:spPr/>
      <dgm:t>
        <a:bodyPr/>
        <a:lstStyle/>
        <a:p>
          <a:endParaRPr lang="en-US"/>
        </a:p>
      </dgm:t>
    </dgm:pt>
    <dgm:pt modelId="{96400CDB-BB02-4752-AEC4-F100D467B53E}" type="sibTrans" cxnId="{955B4A2A-FBFB-47A7-8863-766A91A939C0}">
      <dgm:prSet/>
      <dgm:spPr/>
      <dgm:t>
        <a:bodyPr/>
        <a:lstStyle/>
        <a:p>
          <a:endParaRPr lang="en-US"/>
        </a:p>
      </dgm:t>
    </dgm:pt>
    <dgm:pt modelId="{919ECC71-3551-433B-A3DF-F3C8A3D0E968}">
      <dgm:prSet phldrT="[Text]"/>
      <dgm:spPr/>
      <dgm:t>
        <a:bodyPr/>
        <a:lstStyle/>
        <a:p>
          <a:r>
            <a:rPr lang="en-US"/>
            <a:t>Home Assignment</a:t>
          </a:r>
          <a:endParaRPr lang="en-US" dirty="0"/>
        </a:p>
      </dgm:t>
    </dgm:pt>
    <dgm:pt modelId="{9809DAFE-14F7-4083-8F5B-CFE50385E808}" type="parTrans" cxnId="{E1F902CE-BF55-4E1E-9BD8-748E77F3107A}">
      <dgm:prSet/>
      <dgm:spPr/>
      <dgm:t>
        <a:bodyPr/>
        <a:lstStyle/>
        <a:p>
          <a:endParaRPr lang="en-US"/>
        </a:p>
      </dgm:t>
    </dgm:pt>
    <dgm:pt modelId="{EB8F4361-55E5-43A5-84DB-9A553B9A2BE9}" type="sibTrans" cxnId="{E1F902CE-BF55-4E1E-9BD8-748E77F3107A}">
      <dgm:prSet/>
      <dgm:spPr/>
      <dgm:t>
        <a:bodyPr/>
        <a:lstStyle/>
        <a:p>
          <a:endParaRPr lang="en-US"/>
        </a:p>
      </dgm:t>
    </dgm:pt>
    <dgm:pt modelId="{94BCAC3B-3D45-4356-A56C-433E056F807A}">
      <dgm:prSet phldrT="[Text]"/>
      <dgm:spPr/>
      <dgm:t>
        <a:bodyPr/>
        <a:lstStyle/>
        <a:p>
          <a:r>
            <a:rPr lang="en-US"/>
            <a:t>Limitations of LLMs</a:t>
          </a:r>
          <a:endParaRPr lang="en-US" dirty="0"/>
        </a:p>
      </dgm:t>
    </dgm:pt>
    <dgm:pt modelId="{E868468F-8DDE-4A2C-806F-093F73D03027}" type="parTrans" cxnId="{A3BBB4C5-6A5C-45C2-91B5-8DFE34B51181}">
      <dgm:prSet/>
      <dgm:spPr/>
      <dgm:t>
        <a:bodyPr/>
        <a:lstStyle/>
        <a:p>
          <a:endParaRPr lang="en-US"/>
        </a:p>
      </dgm:t>
    </dgm:pt>
    <dgm:pt modelId="{54FDDA7B-1EC9-48A4-8080-9231A0761C6F}" type="sibTrans" cxnId="{A3BBB4C5-6A5C-45C2-91B5-8DFE34B51181}">
      <dgm:prSet/>
      <dgm:spPr/>
      <dgm:t>
        <a:bodyPr/>
        <a:lstStyle/>
        <a:p>
          <a:endParaRPr lang="en-US"/>
        </a:p>
      </dgm:t>
    </dgm:pt>
    <dgm:pt modelId="{DC8C9A38-15E9-43EB-8EA1-A158E70E2194}" type="pres">
      <dgm:prSet presAssocID="{F2161237-2A6B-4D2F-AB8D-F8C209813AFF}" presName="Name0" presStyleCnt="0">
        <dgm:presLayoutVars>
          <dgm:chMax val="7"/>
          <dgm:chPref val="7"/>
          <dgm:dir/>
        </dgm:presLayoutVars>
      </dgm:prSet>
      <dgm:spPr/>
    </dgm:pt>
    <dgm:pt modelId="{2E9403D9-EBD7-464F-969D-7781D2E5453E}" type="pres">
      <dgm:prSet presAssocID="{F2161237-2A6B-4D2F-AB8D-F8C209813AFF}" presName="Name1" presStyleCnt="0"/>
      <dgm:spPr/>
    </dgm:pt>
    <dgm:pt modelId="{D4A7B339-E1E4-4C5A-B94D-F65ED72C7770}" type="pres">
      <dgm:prSet presAssocID="{F2161237-2A6B-4D2F-AB8D-F8C209813AFF}" presName="cycle" presStyleCnt="0"/>
      <dgm:spPr/>
    </dgm:pt>
    <dgm:pt modelId="{4602E8B0-1912-46F6-97A1-226E6340F367}" type="pres">
      <dgm:prSet presAssocID="{F2161237-2A6B-4D2F-AB8D-F8C209813AFF}" presName="srcNode" presStyleLbl="node1" presStyleIdx="0" presStyleCnt="7"/>
      <dgm:spPr/>
    </dgm:pt>
    <dgm:pt modelId="{BBDA452B-6FFB-468D-835E-DA3D860EDFB9}" type="pres">
      <dgm:prSet presAssocID="{F2161237-2A6B-4D2F-AB8D-F8C209813AFF}" presName="conn" presStyleLbl="parChTrans1D2" presStyleIdx="0" presStyleCnt="1"/>
      <dgm:spPr/>
    </dgm:pt>
    <dgm:pt modelId="{BE3D0F8D-A2E7-4EBF-A3F3-9B4467DBDA38}" type="pres">
      <dgm:prSet presAssocID="{F2161237-2A6B-4D2F-AB8D-F8C209813AFF}" presName="extraNode" presStyleLbl="node1" presStyleIdx="0" presStyleCnt="7"/>
      <dgm:spPr/>
    </dgm:pt>
    <dgm:pt modelId="{801AD3CB-C503-4C97-9C61-60F19AFCCC73}" type="pres">
      <dgm:prSet presAssocID="{F2161237-2A6B-4D2F-AB8D-F8C209813AFF}" presName="dstNode" presStyleLbl="node1" presStyleIdx="0" presStyleCnt="7"/>
      <dgm:spPr/>
    </dgm:pt>
    <dgm:pt modelId="{2754B335-533D-4B1D-9FD4-4AA63DDA2D6E}" type="pres">
      <dgm:prSet presAssocID="{E31D0CDC-C46B-4E4D-AAA8-7E707E9898A0}" presName="text_1" presStyleLbl="node1" presStyleIdx="0" presStyleCnt="7">
        <dgm:presLayoutVars>
          <dgm:bulletEnabled val="1"/>
        </dgm:presLayoutVars>
      </dgm:prSet>
      <dgm:spPr/>
    </dgm:pt>
    <dgm:pt modelId="{6DCA9D00-1A38-4241-B7EC-113DA14C7A64}" type="pres">
      <dgm:prSet presAssocID="{E31D0CDC-C46B-4E4D-AAA8-7E707E9898A0}" presName="accent_1" presStyleCnt="0"/>
      <dgm:spPr/>
    </dgm:pt>
    <dgm:pt modelId="{D525DF61-683F-4228-BD97-A1A34914F0F6}" type="pres">
      <dgm:prSet presAssocID="{E31D0CDC-C46B-4E4D-AAA8-7E707E9898A0}" presName="accentRepeatNode" presStyleLbl="solidFgAcc1" presStyleIdx="0" presStyleCnt="7"/>
      <dgm:spPr/>
    </dgm:pt>
    <dgm:pt modelId="{392C9FD3-C172-4FCD-9F31-8A4E2A6D5744}" type="pres">
      <dgm:prSet presAssocID="{94BCAC3B-3D45-4356-A56C-433E056F807A}" presName="text_2" presStyleLbl="node1" presStyleIdx="1" presStyleCnt="7">
        <dgm:presLayoutVars>
          <dgm:bulletEnabled val="1"/>
        </dgm:presLayoutVars>
      </dgm:prSet>
      <dgm:spPr/>
    </dgm:pt>
    <dgm:pt modelId="{EE00E625-4E69-49B5-8CF1-7B956B993597}" type="pres">
      <dgm:prSet presAssocID="{94BCAC3B-3D45-4356-A56C-433E056F807A}" presName="accent_2" presStyleCnt="0"/>
      <dgm:spPr/>
    </dgm:pt>
    <dgm:pt modelId="{C8F94678-BB25-48F5-9EB0-829EFD26130E}" type="pres">
      <dgm:prSet presAssocID="{94BCAC3B-3D45-4356-A56C-433E056F807A}" presName="accentRepeatNode" presStyleLbl="solidFgAcc1" presStyleIdx="1" presStyleCnt="7"/>
      <dgm:spPr/>
    </dgm:pt>
    <dgm:pt modelId="{87E59A31-6465-4B26-A3EA-FD29875E71B3}" type="pres">
      <dgm:prSet presAssocID="{CEF2E2D3-5C5F-4468-A566-1E3CA3D7CDD2}" presName="text_3" presStyleLbl="node1" presStyleIdx="2" presStyleCnt="7">
        <dgm:presLayoutVars>
          <dgm:bulletEnabled val="1"/>
        </dgm:presLayoutVars>
      </dgm:prSet>
      <dgm:spPr/>
    </dgm:pt>
    <dgm:pt modelId="{DABE7C27-0234-442C-B675-8A7CF45D50D9}" type="pres">
      <dgm:prSet presAssocID="{CEF2E2D3-5C5F-4468-A566-1E3CA3D7CDD2}" presName="accent_3" presStyleCnt="0"/>
      <dgm:spPr/>
    </dgm:pt>
    <dgm:pt modelId="{51252450-6459-4396-BE02-766F48544AB2}" type="pres">
      <dgm:prSet presAssocID="{CEF2E2D3-5C5F-4468-A566-1E3CA3D7CDD2}" presName="accentRepeatNode" presStyleLbl="solidFgAcc1" presStyleIdx="2" presStyleCnt="7"/>
      <dgm:spPr/>
    </dgm:pt>
    <dgm:pt modelId="{0E932845-2D2B-481B-815A-FD6D11C0C9AF}" type="pres">
      <dgm:prSet presAssocID="{950EB507-E99A-4688-AA64-ED5A8ABFC70C}" presName="text_4" presStyleLbl="node1" presStyleIdx="3" presStyleCnt="7">
        <dgm:presLayoutVars>
          <dgm:bulletEnabled val="1"/>
        </dgm:presLayoutVars>
      </dgm:prSet>
      <dgm:spPr/>
    </dgm:pt>
    <dgm:pt modelId="{54324568-832B-45E5-82E9-B92370F1436E}" type="pres">
      <dgm:prSet presAssocID="{950EB507-E99A-4688-AA64-ED5A8ABFC70C}" presName="accent_4" presStyleCnt="0"/>
      <dgm:spPr/>
    </dgm:pt>
    <dgm:pt modelId="{E62DF8A7-EF3F-4952-9C36-BC7B3FE0133C}" type="pres">
      <dgm:prSet presAssocID="{950EB507-E99A-4688-AA64-ED5A8ABFC70C}" presName="accentRepeatNode" presStyleLbl="solidFgAcc1" presStyleIdx="3" presStyleCnt="7"/>
      <dgm:spPr/>
    </dgm:pt>
    <dgm:pt modelId="{D79400F0-CAFF-4FD5-B15C-20740FE0ABE3}" type="pres">
      <dgm:prSet presAssocID="{6010D9E6-679E-41FA-86EF-0D12E03DACC7}" presName="text_5" presStyleLbl="node1" presStyleIdx="4" presStyleCnt="7">
        <dgm:presLayoutVars>
          <dgm:bulletEnabled val="1"/>
        </dgm:presLayoutVars>
      </dgm:prSet>
      <dgm:spPr/>
    </dgm:pt>
    <dgm:pt modelId="{70CAF43C-130B-42B7-B3A6-C1FE6599A053}" type="pres">
      <dgm:prSet presAssocID="{6010D9E6-679E-41FA-86EF-0D12E03DACC7}" presName="accent_5" presStyleCnt="0"/>
      <dgm:spPr/>
    </dgm:pt>
    <dgm:pt modelId="{4E8CE539-5AB5-48C4-BE30-DD9E68563953}" type="pres">
      <dgm:prSet presAssocID="{6010D9E6-679E-41FA-86EF-0D12E03DACC7}" presName="accentRepeatNode" presStyleLbl="solidFgAcc1" presStyleIdx="4" presStyleCnt="7"/>
      <dgm:spPr/>
    </dgm:pt>
    <dgm:pt modelId="{D48DEF7A-1DD9-42A6-BA27-2C543430AB42}" type="pres">
      <dgm:prSet presAssocID="{5633E883-2B24-4150-A856-46CB73971444}" presName="text_6" presStyleLbl="node1" presStyleIdx="5" presStyleCnt="7">
        <dgm:presLayoutVars>
          <dgm:bulletEnabled val="1"/>
        </dgm:presLayoutVars>
      </dgm:prSet>
      <dgm:spPr/>
    </dgm:pt>
    <dgm:pt modelId="{DA5C94E3-0545-4570-8FA5-D7CA2EA34E24}" type="pres">
      <dgm:prSet presAssocID="{5633E883-2B24-4150-A856-46CB73971444}" presName="accent_6" presStyleCnt="0"/>
      <dgm:spPr/>
    </dgm:pt>
    <dgm:pt modelId="{52B5A04F-8D8D-4ED8-9910-A6FEAC8EE0C6}" type="pres">
      <dgm:prSet presAssocID="{5633E883-2B24-4150-A856-46CB73971444}" presName="accentRepeatNode" presStyleLbl="solidFgAcc1" presStyleIdx="5" presStyleCnt="7"/>
      <dgm:spPr/>
    </dgm:pt>
    <dgm:pt modelId="{C956EFA2-E683-40C5-9381-27395E7B65AE}" type="pres">
      <dgm:prSet presAssocID="{919ECC71-3551-433B-A3DF-F3C8A3D0E968}" presName="text_7" presStyleLbl="node1" presStyleIdx="6" presStyleCnt="7">
        <dgm:presLayoutVars>
          <dgm:bulletEnabled val="1"/>
        </dgm:presLayoutVars>
      </dgm:prSet>
      <dgm:spPr/>
    </dgm:pt>
    <dgm:pt modelId="{167120F6-D3F9-43ED-B90B-961E445A836E}" type="pres">
      <dgm:prSet presAssocID="{919ECC71-3551-433B-A3DF-F3C8A3D0E968}" presName="accent_7" presStyleCnt="0"/>
      <dgm:spPr/>
    </dgm:pt>
    <dgm:pt modelId="{ED9163F2-F8DC-4BB1-AD75-4592C077241B}" type="pres">
      <dgm:prSet presAssocID="{919ECC71-3551-433B-A3DF-F3C8A3D0E968}" presName="accentRepeatNode" presStyleLbl="solidFgAcc1" presStyleIdx="6" presStyleCnt="7"/>
      <dgm:spPr/>
    </dgm:pt>
  </dgm:ptLst>
  <dgm:cxnLst>
    <dgm:cxn modelId="{24BA7C09-1D0A-41CB-9A41-12C541C05B3B}" type="presOf" srcId="{CEF2E2D3-5C5F-4468-A566-1E3CA3D7CDD2}" destId="{87E59A31-6465-4B26-A3EA-FD29875E71B3}" srcOrd="0" destOrd="0" presId="urn:microsoft.com/office/officeart/2008/layout/VerticalCurvedList"/>
    <dgm:cxn modelId="{A8EF670B-74D6-41E7-AD0B-8503CFF73E68}" srcId="{F2161237-2A6B-4D2F-AB8D-F8C209813AFF}" destId="{CEF2E2D3-5C5F-4468-A566-1E3CA3D7CDD2}" srcOrd="2" destOrd="0" parTransId="{FE3AC735-F028-447A-A0DE-7D1751DA00A6}" sibTransId="{4F57D538-0219-4946-ACB3-8FDFB8B1F009}"/>
    <dgm:cxn modelId="{86CA8F1B-D629-4051-AC09-5243790FA1C7}" type="presOf" srcId="{6010D9E6-679E-41FA-86EF-0D12E03DACC7}" destId="{D79400F0-CAFF-4FD5-B15C-20740FE0ABE3}" srcOrd="0" destOrd="0" presId="urn:microsoft.com/office/officeart/2008/layout/VerticalCurvedList"/>
    <dgm:cxn modelId="{955B4A2A-FBFB-47A7-8863-766A91A939C0}" srcId="{F2161237-2A6B-4D2F-AB8D-F8C209813AFF}" destId="{5633E883-2B24-4150-A856-46CB73971444}" srcOrd="5" destOrd="0" parTransId="{FC5B436E-2389-46CA-B60A-8C8596927E68}" sibTransId="{96400CDB-BB02-4752-AEC4-F100D467B53E}"/>
    <dgm:cxn modelId="{E4E7992B-AC3B-473A-AFE5-F25B531F88F0}" type="presOf" srcId="{950EB507-E99A-4688-AA64-ED5A8ABFC70C}" destId="{0E932845-2D2B-481B-815A-FD6D11C0C9AF}" srcOrd="0" destOrd="0" presId="urn:microsoft.com/office/officeart/2008/layout/VerticalCurvedList"/>
    <dgm:cxn modelId="{4298E62B-5B07-4566-A26B-1E6C754B7DD8}" type="presOf" srcId="{94BCAC3B-3D45-4356-A56C-433E056F807A}" destId="{392C9FD3-C172-4FCD-9F31-8A4E2A6D5744}" srcOrd="0" destOrd="0" presId="urn:microsoft.com/office/officeart/2008/layout/VerticalCurvedList"/>
    <dgm:cxn modelId="{08898542-8581-45C4-B935-272967A0DF9E}" type="presOf" srcId="{919ECC71-3551-433B-A3DF-F3C8A3D0E968}" destId="{C956EFA2-E683-40C5-9381-27395E7B65AE}" srcOrd="0" destOrd="0" presId="urn:microsoft.com/office/officeart/2008/layout/VerticalCurvedList"/>
    <dgm:cxn modelId="{085C5680-6815-42E6-97C9-18B6BFDAB66B}" type="presOf" srcId="{874A203C-1A21-4C82-816C-1F72BD832A13}" destId="{BBDA452B-6FFB-468D-835E-DA3D860EDFB9}" srcOrd="0" destOrd="0" presId="urn:microsoft.com/office/officeart/2008/layout/VerticalCurvedList"/>
    <dgm:cxn modelId="{451F548B-40D1-4E4D-BB42-AC84658F233C}" srcId="{F2161237-2A6B-4D2F-AB8D-F8C209813AFF}" destId="{950EB507-E99A-4688-AA64-ED5A8ABFC70C}" srcOrd="3" destOrd="0" parTransId="{E9E89554-BA7F-4764-BF7B-5F75D5564A2E}" sibTransId="{21536E0D-CD94-4FF2-A7C4-A1EFB04FEC40}"/>
    <dgm:cxn modelId="{EAE8C69D-8C62-4B6B-9742-D1F2EB09C333}" type="presOf" srcId="{F2161237-2A6B-4D2F-AB8D-F8C209813AFF}" destId="{DC8C9A38-15E9-43EB-8EA1-A158E70E2194}" srcOrd="0" destOrd="0" presId="urn:microsoft.com/office/officeart/2008/layout/VerticalCurvedList"/>
    <dgm:cxn modelId="{DEEB77A9-E0F3-4CCB-A616-89E23E9CD086}" type="presOf" srcId="{E31D0CDC-C46B-4E4D-AAA8-7E707E9898A0}" destId="{2754B335-533D-4B1D-9FD4-4AA63DDA2D6E}" srcOrd="0" destOrd="0" presId="urn:microsoft.com/office/officeart/2008/layout/VerticalCurvedList"/>
    <dgm:cxn modelId="{04FD42BC-0351-4272-AD1A-83D81B979D4F}" type="presOf" srcId="{5633E883-2B24-4150-A856-46CB73971444}" destId="{D48DEF7A-1DD9-42A6-BA27-2C543430AB42}" srcOrd="0" destOrd="0" presId="urn:microsoft.com/office/officeart/2008/layout/VerticalCurvedList"/>
    <dgm:cxn modelId="{A3BBB4C5-6A5C-45C2-91B5-8DFE34B51181}" srcId="{F2161237-2A6B-4D2F-AB8D-F8C209813AFF}" destId="{94BCAC3B-3D45-4356-A56C-433E056F807A}" srcOrd="1" destOrd="0" parTransId="{E868468F-8DDE-4A2C-806F-093F73D03027}" sibTransId="{54FDDA7B-1EC9-48A4-8080-9231A0761C6F}"/>
    <dgm:cxn modelId="{E1F902CE-BF55-4E1E-9BD8-748E77F3107A}" srcId="{F2161237-2A6B-4D2F-AB8D-F8C209813AFF}" destId="{919ECC71-3551-433B-A3DF-F3C8A3D0E968}" srcOrd="6" destOrd="0" parTransId="{9809DAFE-14F7-4083-8F5B-CFE50385E808}" sibTransId="{EB8F4361-55E5-43A5-84DB-9A553B9A2BE9}"/>
    <dgm:cxn modelId="{80752BE3-EE8A-4174-BDB7-8B89DEA0BE01}" srcId="{F2161237-2A6B-4D2F-AB8D-F8C209813AFF}" destId="{6010D9E6-679E-41FA-86EF-0D12E03DACC7}" srcOrd="4" destOrd="0" parTransId="{67284C68-13DE-4038-AA51-478A28BD8DD9}" sibTransId="{8385F7D4-1F56-498B-9F38-4A09790798B0}"/>
    <dgm:cxn modelId="{33EB97F7-D6AD-412A-8DB7-C8E3307BE810}" srcId="{F2161237-2A6B-4D2F-AB8D-F8C209813AFF}" destId="{E31D0CDC-C46B-4E4D-AAA8-7E707E9898A0}" srcOrd="0" destOrd="0" parTransId="{B4318DED-6A83-46D2-816C-A4E96F4B16CD}" sibTransId="{874A203C-1A21-4C82-816C-1F72BD832A13}"/>
    <dgm:cxn modelId="{749E4E0E-0341-4A11-BAF2-D60B45CB09A8}" type="presParOf" srcId="{DC8C9A38-15E9-43EB-8EA1-A158E70E2194}" destId="{2E9403D9-EBD7-464F-969D-7781D2E5453E}" srcOrd="0" destOrd="0" presId="urn:microsoft.com/office/officeart/2008/layout/VerticalCurvedList"/>
    <dgm:cxn modelId="{3D967CA5-612D-4D3C-BB64-8E371B1DFF53}" type="presParOf" srcId="{2E9403D9-EBD7-464F-969D-7781D2E5453E}" destId="{D4A7B339-E1E4-4C5A-B94D-F65ED72C7770}" srcOrd="0" destOrd="0" presId="urn:microsoft.com/office/officeart/2008/layout/VerticalCurvedList"/>
    <dgm:cxn modelId="{6595AF66-09CB-433C-AD7E-C3B9B9E5A47B}" type="presParOf" srcId="{D4A7B339-E1E4-4C5A-B94D-F65ED72C7770}" destId="{4602E8B0-1912-46F6-97A1-226E6340F367}" srcOrd="0" destOrd="0" presId="urn:microsoft.com/office/officeart/2008/layout/VerticalCurvedList"/>
    <dgm:cxn modelId="{E5707F09-88E3-4AD1-9293-B2D8A8C93854}" type="presParOf" srcId="{D4A7B339-E1E4-4C5A-B94D-F65ED72C7770}" destId="{BBDA452B-6FFB-468D-835E-DA3D860EDFB9}" srcOrd="1" destOrd="0" presId="urn:microsoft.com/office/officeart/2008/layout/VerticalCurvedList"/>
    <dgm:cxn modelId="{02176C83-0BD6-4D85-8750-FDE3E57BF211}" type="presParOf" srcId="{D4A7B339-E1E4-4C5A-B94D-F65ED72C7770}" destId="{BE3D0F8D-A2E7-4EBF-A3F3-9B4467DBDA38}" srcOrd="2" destOrd="0" presId="urn:microsoft.com/office/officeart/2008/layout/VerticalCurvedList"/>
    <dgm:cxn modelId="{B293C92A-5191-48AA-AD28-984B01180699}" type="presParOf" srcId="{D4A7B339-E1E4-4C5A-B94D-F65ED72C7770}" destId="{801AD3CB-C503-4C97-9C61-60F19AFCCC73}" srcOrd="3" destOrd="0" presId="urn:microsoft.com/office/officeart/2008/layout/VerticalCurvedList"/>
    <dgm:cxn modelId="{92447943-488C-4617-A28A-0214E9D5BA08}" type="presParOf" srcId="{2E9403D9-EBD7-464F-969D-7781D2E5453E}" destId="{2754B335-533D-4B1D-9FD4-4AA63DDA2D6E}" srcOrd="1" destOrd="0" presId="urn:microsoft.com/office/officeart/2008/layout/VerticalCurvedList"/>
    <dgm:cxn modelId="{1A2F3EEA-FBBC-4B5C-B90E-8C971A832429}" type="presParOf" srcId="{2E9403D9-EBD7-464F-969D-7781D2E5453E}" destId="{6DCA9D00-1A38-4241-B7EC-113DA14C7A64}" srcOrd="2" destOrd="0" presId="urn:microsoft.com/office/officeart/2008/layout/VerticalCurvedList"/>
    <dgm:cxn modelId="{E5EE48BD-D039-4683-BA97-E70797AAF30F}" type="presParOf" srcId="{6DCA9D00-1A38-4241-B7EC-113DA14C7A64}" destId="{D525DF61-683F-4228-BD97-A1A34914F0F6}" srcOrd="0" destOrd="0" presId="urn:microsoft.com/office/officeart/2008/layout/VerticalCurvedList"/>
    <dgm:cxn modelId="{1AD23F3E-F008-4498-A2BE-8AE49C3655E9}" type="presParOf" srcId="{2E9403D9-EBD7-464F-969D-7781D2E5453E}" destId="{392C9FD3-C172-4FCD-9F31-8A4E2A6D5744}" srcOrd="3" destOrd="0" presId="urn:microsoft.com/office/officeart/2008/layout/VerticalCurvedList"/>
    <dgm:cxn modelId="{32F0BA81-07F9-43DC-9FD3-692760259AD8}" type="presParOf" srcId="{2E9403D9-EBD7-464F-969D-7781D2E5453E}" destId="{EE00E625-4E69-49B5-8CF1-7B956B993597}" srcOrd="4" destOrd="0" presId="urn:microsoft.com/office/officeart/2008/layout/VerticalCurvedList"/>
    <dgm:cxn modelId="{2F2BB7F0-B32A-424F-A617-B03A49B7FB5A}" type="presParOf" srcId="{EE00E625-4E69-49B5-8CF1-7B956B993597}" destId="{C8F94678-BB25-48F5-9EB0-829EFD26130E}" srcOrd="0" destOrd="0" presId="urn:microsoft.com/office/officeart/2008/layout/VerticalCurvedList"/>
    <dgm:cxn modelId="{83ACBFB2-E9B2-43EE-AEC1-CC206688BF6E}" type="presParOf" srcId="{2E9403D9-EBD7-464F-969D-7781D2E5453E}" destId="{87E59A31-6465-4B26-A3EA-FD29875E71B3}" srcOrd="5" destOrd="0" presId="urn:microsoft.com/office/officeart/2008/layout/VerticalCurvedList"/>
    <dgm:cxn modelId="{59ACC6B6-722E-469A-8747-FCB2270D86FC}" type="presParOf" srcId="{2E9403D9-EBD7-464F-969D-7781D2E5453E}" destId="{DABE7C27-0234-442C-B675-8A7CF45D50D9}" srcOrd="6" destOrd="0" presId="urn:microsoft.com/office/officeart/2008/layout/VerticalCurvedList"/>
    <dgm:cxn modelId="{119BBBBB-F360-49FF-9386-BFA8998542A9}" type="presParOf" srcId="{DABE7C27-0234-442C-B675-8A7CF45D50D9}" destId="{51252450-6459-4396-BE02-766F48544AB2}" srcOrd="0" destOrd="0" presId="urn:microsoft.com/office/officeart/2008/layout/VerticalCurvedList"/>
    <dgm:cxn modelId="{4CE0891B-75B2-454E-A84C-87094B57692B}" type="presParOf" srcId="{2E9403D9-EBD7-464F-969D-7781D2E5453E}" destId="{0E932845-2D2B-481B-815A-FD6D11C0C9AF}" srcOrd="7" destOrd="0" presId="urn:microsoft.com/office/officeart/2008/layout/VerticalCurvedList"/>
    <dgm:cxn modelId="{27ACADD5-8D5A-42D1-85E1-0471ACC6EA3C}" type="presParOf" srcId="{2E9403D9-EBD7-464F-969D-7781D2E5453E}" destId="{54324568-832B-45E5-82E9-B92370F1436E}" srcOrd="8" destOrd="0" presId="urn:microsoft.com/office/officeart/2008/layout/VerticalCurvedList"/>
    <dgm:cxn modelId="{77DB3DEE-0C89-41BE-82D5-0EBE7CDF55F0}" type="presParOf" srcId="{54324568-832B-45E5-82E9-B92370F1436E}" destId="{E62DF8A7-EF3F-4952-9C36-BC7B3FE0133C}" srcOrd="0" destOrd="0" presId="urn:microsoft.com/office/officeart/2008/layout/VerticalCurvedList"/>
    <dgm:cxn modelId="{A62C4F8B-2E77-41CA-A2C6-7A8EA6823466}" type="presParOf" srcId="{2E9403D9-EBD7-464F-969D-7781D2E5453E}" destId="{D79400F0-CAFF-4FD5-B15C-20740FE0ABE3}" srcOrd="9" destOrd="0" presId="urn:microsoft.com/office/officeart/2008/layout/VerticalCurvedList"/>
    <dgm:cxn modelId="{B89D3046-6227-427C-AF17-BDEB94BE934C}" type="presParOf" srcId="{2E9403D9-EBD7-464F-969D-7781D2E5453E}" destId="{70CAF43C-130B-42B7-B3A6-C1FE6599A053}" srcOrd="10" destOrd="0" presId="urn:microsoft.com/office/officeart/2008/layout/VerticalCurvedList"/>
    <dgm:cxn modelId="{46FA686E-9971-4ADE-8D93-6E28F4E262C6}" type="presParOf" srcId="{70CAF43C-130B-42B7-B3A6-C1FE6599A053}" destId="{4E8CE539-5AB5-48C4-BE30-DD9E68563953}" srcOrd="0" destOrd="0" presId="urn:microsoft.com/office/officeart/2008/layout/VerticalCurvedList"/>
    <dgm:cxn modelId="{16542985-AC5C-499B-B602-82FDE80DC275}" type="presParOf" srcId="{2E9403D9-EBD7-464F-969D-7781D2E5453E}" destId="{D48DEF7A-1DD9-42A6-BA27-2C543430AB42}" srcOrd="11" destOrd="0" presId="urn:microsoft.com/office/officeart/2008/layout/VerticalCurvedList"/>
    <dgm:cxn modelId="{AC109147-239D-4036-9A51-B588D8E28F70}" type="presParOf" srcId="{2E9403D9-EBD7-464F-969D-7781D2E5453E}" destId="{DA5C94E3-0545-4570-8FA5-D7CA2EA34E24}" srcOrd="12" destOrd="0" presId="urn:microsoft.com/office/officeart/2008/layout/VerticalCurvedList"/>
    <dgm:cxn modelId="{4FA76058-E897-4CAA-BAEF-88685E1FD67C}" type="presParOf" srcId="{DA5C94E3-0545-4570-8FA5-D7CA2EA34E24}" destId="{52B5A04F-8D8D-4ED8-9910-A6FEAC8EE0C6}" srcOrd="0" destOrd="0" presId="urn:microsoft.com/office/officeart/2008/layout/VerticalCurvedList"/>
    <dgm:cxn modelId="{C1976B79-1784-417F-B00B-5A707CE96E1D}" type="presParOf" srcId="{2E9403D9-EBD7-464F-969D-7781D2E5453E}" destId="{C956EFA2-E683-40C5-9381-27395E7B65AE}" srcOrd="13" destOrd="0" presId="urn:microsoft.com/office/officeart/2008/layout/VerticalCurvedList"/>
    <dgm:cxn modelId="{570AD000-9946-4F80-BB1F-07AB155BA9B3}" type="presParOf" srcId="{2E9403D9-EBD7-464F-969D-7781D2E5453E}" destId="{167120F6-D3F9-43ED-B90B-961E445A836E}" srcOrd="14" destOrd="0" presId="urn:microsoft.com/office/officeart/2008/layout/VerticalCurvedList"/>
    <dgm:cxn modelId="{0054FD3C-6CD1-4DBA-B001-06D37128DAD7}" type="presParOf" srcId="{167120F6-D3F9-43ED-B90B-961E445A836E}" destId="{ED9163F2-F8DC-4BB1-AD75-4592C077241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4E454F-7D29-4694-94CB-9B0BBD3288B3}"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DA0D4ECE-D510-4672-9901-1F78B9D156B1}">
      <dgm:prSet/>
      <dgm:spPr/>
      <dgm:t>
        <a:bodyPr/>
        <a:lstStyle/>
        <a:p>
          <a:r>
            <a:rPr lang="en-US" dirty="0"/>
            <a:t>Fine-tuning Overview</a:t>
          </a:r>
        </a:p>
      </dgm:t>
    </dgm:pt>
    <dgm:pt modelId="{615DCDC5-887F-466F-BCAE-88A8BB6415F3}" type="parTrans" cxnId="{428E242A-051A-4381-A30E-E99898421350}">
      <dgm:prSet/>
      <dgm:spPr/>
      <dgm:t>
        <a:bodyPr/>
        <a:lstStyle/>
        <a:p>
          <a:endParaRPr lang="en-US"/>
        </a:p>
      </dgm:t>
    </dgm:pt>
    <dgm:pt modelId="{736BD031-6F54-4E5F-9432-B64969EE0DE6}" type="sibTrans" cxnId="{428E242A-051A-4381-A30E-E99898421350}">
      <dgm:prSet/>
      <dgm:spPr/>
      <dgm:t>
        <a:bodyPr/>
        <a:lstStyle/>
        <a:p>
          <a:endParaRPr lang="en-US"/>
        </a:p>
      </dgm:t>
    </dgm:pt>
    <dgm:pt modelId="{E0C0EDC2-1F00-451F-80E8-4897FD03E6FF}">
      <dgm:prSet/>
      <dgm:spPr/>
      <dgm:t>
        <a:bodyPr/>
        <a:lstStyle/>
        <a:p>
          <a:r>
            <a:rPr lang="en-US" dirty="0"/>
            <a:t>Data Collection</a:t>
          </a:r>
        </a:p>
      </dgm:t>
    </dgm:pt>
    <dgm:pt modelId="{C0BF81F3-2072-4069-898E-675F3DF69859}" type="parTrans" cxnId="{9D045162-F3BC-43C1-A7C9-2B9C5DF4A6F2}">
      <dgm:prSet/>
      <dgm:spPr/>
      <dgm:t>
        <a:bodyPr/>
        <a:lstStyle/>
        <a:p>
          <a:endParaRPr lang="en-US"/>
        </a:p>
      </dgm:t>
    </dgm:pt>
    <dgm:pt modelId="{F610D0DE-22E9-47A8-862A-F74229C1F21B}" type="sibTrans" cxnId="{9D045162-F3BC-43C1-A7C9-2B9C5DF4A6F2}">
      <dgm:prSet/>
      <dgm:spPr/>
      <dgm:t>
        <a:bodyPr/>
        <a:lstStyle/>
        <a:p>
          <a:endParaRPr lang="en-US"/>
        </a:p>
      </dgm:t>
    </dgm:pt>
    <dgm:pt modelId="{635CF230-8104-40B9-BF51-2C47A58192C9}">
      <dgm:prSet/>
      <dgm:spPr/>
      <dgm:t>
        <a:bodyPr/>
        <a:lstStyle/>
        <a:p>
          <a:r>
            <a:rPr lang="en-US" dirty="0"/>
            <a:t>Loaded Model and Tokenizer</a:t>
          </a:r>
        </a:p>
      </dgm:t>
    </dgm:pt>
    <dgm:pt modelId="{FCFF072E-BD3F-4281-BE65-B68CD650649E}" type="parTrans" cxnId="{9388DEE3-A2D0-4675-8561-99B739711260}">
      <dgm:prSet/>
      <dgm:spPr/>
      <dgm:t>
        <a:bodyPr/>
        <a:lstStyle/>
        <a:p>
          <a:endParaRPr lang="en-US"/>
        </a:p>
      </dgm:t>
    </dgm:pt>
    <dgm:pt modelId="{3EB5A955-357F-43CD-B3C0-36C2DFDDA0A7}" type="sibTrans" cxnId="{9388DEE3-A2D0-4675-8561-99B739711260}">
      <dgm:prSet/>
      <dgm:spPr/>
      <dgm:t>
        <a:bodyPr/>
        <a:lstStyle/>
        <a:p>
          <a:endParaRPr lang="en-US"/>
        </a:p>
      </dgm:t>
    </dgm:pt>
    <dgm:pt modelId="{84293570-C4BE-493D-BB6B-4ED8245765E8}">
      <dgm:prSet/>
      <dgm:spPr/>
      <dgm:t>
        <a:bodyPr/>
        <a:lstStyle/>
        <a:p>
          <a:r>
            <a:rPr lang="en-US" dirty="0"/>
            <a:t>Trained the Model</a:t>
          </a:r>
        </a:p>
      </dgm:t>
    </dgm:pt>
    <dgm:pt modelId="{5A3D050E-086C-4E2D-B09F-51D72A8E97A8}" type="parTrans" cxnId="{65F3D259-D8B1-45CD-9BD5-264ED59D1EBF}">
      <dgm:prSet/>
      <dgm:spPr/>
      <dgm:t>
        <a:bodyPr/>
        <a:lstStyle/>
        <a:p>
          <a:endParaRPr lang="en-US"/>
        </a:p>
      </dgm:t>
    </dgm:pt>
    <dgm:pt modelId="{5BF139B2-10B2-475B-85F8-F2213229F4B8}" type="sibTrans" cxnId="{65F3D259-D8B1-45CD-9BD5-264ED59D1EBF}">
      <dgm:prSet/>
      <dgm:spPr/>
      <dgm:t>
        <a:bodyPr/>
        <a:lstStyle/>
        <a:p>
          <a:endParaRPr lang="en-US"/>
        </a:p>
      </dgm:t>
    </dgm:pt>
    <dgm:pt modelId="{A97D5F11-99A5-4588-84AE-BC1931D1E92D}">
      <dgm:prSet/>
      <dgm:spPr/>
      <dgm:t>
        <a:bodyPr/>
        <a:lstStyle/>
        <a:p>
          <a:r>
            <a:rPr lang="en-US"/>
            <a:t>Ran experiments + homework</a:t>
          </a:r>
        </a:p>
      </dgm:t>
    </dgm:pt>
    <dgm:pt modelId="{5B706A3C-B7CA-40C0-B43D-902561B8A227}" type="parTrans" cxnId="{25B234EB-5E60-4FCE-B65F-D36BCAB56D47}">
      <dgm:prSet/>
      <dgm:spPr/>
      <dgm:t>
        <a:bodyPr/>
        <a:lstStyle/>
        <a:p>
          <a:endParaRPr lang="en-US"/>
        </a:p>
      </dgm:t>
    </dgm:pt>
    <dgm:pt modelId="{B63E23D8-616F-4C2D-9DC3-C7924B7236C4}" type="sibTrans" cxnId="{25B234EB-5E60-4FCE-B65F-D36BCAB56D47}">
      <dgm:prSet/>
      <dgm:spPr/>
      <dgm:t>
        <a:bodyPr/>
        <a:lstStyle/>
        <a:p>
          <a:endParaRPr lang="en-US"/>
        </a:p>
      </dgm:t>
    </dgm:pt>
    <dgm:pt modelId="{5805E43A-5F08-4147-8928-683E0DF39E0D}" type="pres">
      <dgm:prSet presAssocID="{984E454F-7D29-4694-94CB-9B0BBD3288B3}" presName="Name0" presStyleCnt="0">
        <dgm:presLayoutVars>
          <dgm:dir/>
          <dgm:resizeHandles val="exact"/>
        </dgm:presLayoutVars>
      </dgm:prSet>
      <dgm:spPr/>
    </dgm:pt>
    <dgm:pt modelId="{84E25242-4735-44AE-9F78-4640E94E01A1}" type="pres">
      <dgm:prSet presAssocID="{DA0D4ECE-D510-4672-9901-1F78B9D156B1}" presName="node" presStyleLbl="node1" presStyleIdx="0" presStyleCnt="5">
        <dgm:presLayoutVars>
          <dgm:bulletEnabled val="1"/>
        </dgm:presLayoutVars>
      </dgm:prSet>
      <dgm:spPr/>
    </dgm:pt>
    <dgm:pt modelId="{72269503-2296-4A91-A9FC-3B3EA2CB3949}" type="pres">
      <dgm:prSet presAssocID="{736BD031-6F54-4E5F-9432-B64969EE0DE6}" presName="sibTrans" presStyleLbl="sibTrans1D1" presStyleIdx="0" presStyleCnt="4"/>
      <dgm:spPr/>
    </dgm:pt>
    <dgm:pt modelId="{4D4CB1CE-9033-429D-8325-D6E962FD9ABF}" type="pres">
      <dgm:prSet presAssocID="{736BD031-6F54-4E5F-9432-B64969EE0DE6}" presName="connectorText" presStyleLbl="sibTrans1D1" presStyleIdx="0" presStyleCnt="4"/>
      <dgm:spPr/>
    </dgm:pt>
    <dgm:pt modelId="{C92D092E-639D-4A57-9E4E-B33030BD71D0}" type="pres">
      <dgm:prSet presAssocID="{E0C0EDC2-1F00-451F-80E8-4897FD03E6FF}" presName="node" presStyleLbl="node1" presStyleIdx="1" presStyleCnt="5">
        <dgm:presLayoutVars>
          <dgm:bulletEnabled val="1"/>
        </dgm:presLayoutVars>
      </dgm:prSet>
      <dgm:spPr/>
    </dgm:pt>
    <dgm:pt modelId="{EAB60A69-C412-4D3A-AFD6-13DB3A6EABC8}" type="pres">
      <dgm:prSet presAssocID="{F610D0DE-22E9-47A8-862A-F74229C1F21B}" presName="sibTrans" presStyleLbl="sibTrans1D1" presStyleIdx="1" presStyleCnt="4"/>
      <dgm:spPr/>
    </dgm:pt>
    <dgm:pt modelId="{A838688C-D151-4EC8-9425-44D965F96B01}" type="pres">
      <dgm:prSet presAssocID="{F610D0DE-22E9-47A8-862A-F74229C1F21B}" presName="connectorText" presStyleLbl="sibTrans1D1" presStyleIdx="1" presStyleCnt="4"/>
      <dgm:spPr/>
    </dgm:pt>
    <dgm:pt modelId="{F97787F3-37FA-4FCD-9701-30EB161E4852}" type="pres">
      <dgm:prSet presAssocID="{635CF230-8104-40B9-BF51-2C47A58192C9}" presName="node" presStyleLbl="node1" presStyleIdx="2" presStyleCnt="5">
        <dgm:presLayoutVars>
          <dgm:bulletEnabled val="1"/>
        </dgm:presLayoutVars>
      </dgm:prSet>
      <dgm:spPr/>
    </dgm:pt>
    <dgm:pt modelId="{D50C6729-421F-4AF2-B59E-8611323DDABF}" type="pres">
      <dgm:prSet presAssocID="{3EB5A955-357F-43CD-B3C0-36C2DFDDA0A7}" presName="sibTrans" presStyleLbl="sibTrans1D1" presStyleIdx="2" presStyleCnt="4"/>
      <dgm:spPr/>
    </dgm:pt>
    <dgm:pt modelId="{1C58814C-F365-41BB-9F78-F4C75B057905}" type="pres">
      <dgm:prSet presAssocID="{3EB5A955-357F-43CD-B3C0-36C2DFDDA0A7}" presName="connectorText" presStyleLbl="sibTrans1D1" presStyleIdx="2" presStyleCnt="4"/>
      <dgm:spPr/>
    </dgm:pt>
    <dgm:pt modelId="{B401C22C-8580-4CC1-90BC-99151C621E7A}" type="pres">
      <dgm:prSet presAssocID="{84293570-C4BE-493D-BB6B-4ED8245765E8}" presName="node" presStyleLbl="node1" presStyleIdx="3" presStyleCnt="5">
        <dgm:presLayoutVars>
          <dgm:bulletEnabled val="1"/>
        </dgm:presLayoutVars>
      </dgm:prSet>
      <dgm:spPr/>
    </dgm:pt>
    <dgm:pt modelId="{5EA876B9-6648-470F-ACAE-C0586677F872}" type="pres">
      <dgm:prSet presAssocID="{5BF139B2-10B2-475B-85F8-F2213229F4B8}" presName="sibTrans" presStyleLbl="sibTrans1D1" presStyleIdx="3" presStyleCnt="4"/>
      <dgm:spPr/>
    </dgm:pt>
    <dgm:pt modelId="{815DF889-3410-4344-AECD-8C5292212F88}" type="pres">
      <dgm:prSet presAssocID="{5BF139B2-10B2-475B-85F8-F2213229F4B8}" presName="connectorText" presStyleLbl="sibTrans1D1" presStyleIdx="3" presStyleCnt="4"/>
      <dgm:spPr/>
    </dgm:pt>
    <dgm:pt modelId="{B6EA6948-3EAD-46CB-9DFB-67DD6A472095}" type="pres">
      <dgm:prSet presAssocID="{A97D5F11-99A5-4588-84AE-BC1931D1E92D}" presName="node" presStyleLbl="node1" presStyleIdx="4" presStyleCnt="5">
        <dgm:presLayoutVars>
          <dgm:bulletEnabled val="1"/>
        </dgm:presLayoutVars>
      </dgm:prSet>
      <dgm:spPr/>
    </dgm:pt>
  </dgm:ptLst>
  <dgm:cxnLst>
    <dgm:cxn modelId="{BEEEAB0A-DD2B-42E1-BE4B-A07BE19E9FD3}" type="presOf" srcId="{3EB5A955-357F-43CD-B3C0-36C2DFDDA0A7}" destId="{D50C6729-421F-4AF2-B59E-8611323DDABF}" srcOrd="0" destOrd="0" presId="urn:microsoft.com/office/officeart/2016/7/layout/RepeatingBendingProcessNew"/>
    <dgm:cxn modelId="{8C29C720-5FAE-461F-A423-D7EEA01F0B43}" type="presOf" srcId="{A97D5F11-99A5-4588-84AE-BC1931D1E92D}" destId="{B6EA6948-3EAD-46CB-9DFB-67DD6A472095}" srcOrd="0" destOrd="0" presId="urn:microsoft.com/office/officeart/2016/7/layout/RepeatingBendingProcessNew"/>
    <dgm:cxn modelId="{428E242A-051A-4381-A30E-E99898421350}" srcId="{984E454F-7D29-4694-94CB-9B0BBD3288B3}" destId="{DA0D4ECE-D510-4672-9901-1F78B9D156B1}" srcOrd="0" destOrd="0" parTransId="{615DCDC5-887F-466F-BCAE-88A8BB6415F3}" sibTransId="{736BD031-6F54-4E5F-9432-B64969EE0DE6}"/>
    <dgm:cxn modelId="{9D045162-F3BC-43C1-A7C9-2B9C5DF4A6F2}" srcId="{984E454F-7D29-4694-94CB-9B0BBD3288B3}" destId="{E0C0EDC2-1F00-451F-80E8-4897FD03E6FF}" srcOrd="1" destOrd="0" parTransId="{C0BF81F3-2072-4069-898E-675F3DF69859}" sibTransId="{F610D0DE-22E9-47A8-862A-F74229C1F21B}"/>
    <dgm:cxn modelId="{AE817349-D327-4669-B53A-5DCC556E271C}" type="presOf" srcId="{635CF230-8104-40B9-BF51-2C47A58192C9}" destId="{F97787F3-37FA-4FCD-9701-30EB161E4852}" srcOrd="0" destOrd="0" presId="urn:microsoft.com/office/officeart/2016/7/layout/RepeatingBendingProcessNew"/>
    <dgm:cxn modelId="{4DCE696B-F7CF-4266-B525-BB8089CB5EAA}" type="presOf" srcId="{84293570-C4BE-493D-BB6B-4ED8245765E8}" destId="{B401C22C-8580-4CC1-90BC-99151C621E7A}" srcOrd="0" destOrd="0" presId="urn:microsoft.com/office/officeart/2016/7/layout/RepeatingBendingProcessNew"/>
    <dgm:cxn modelId="{DBED3C54-EF91-48B8-8281-0BF4F87FCA51}" type="presOf" srcId="{F610D0DE-22E9-47A8-862A-F74229C1F21B}" destId="{A838688C-D151-4EC8-9425-44D965F96B01}" srcOrd="1" destOrd="0" presId="urn:microsoft.com/office/officeart/2016/7/layout/RepeatingBendingProcessNew"/>
    <dgm:cxn modelId="{65F3D259-D8B1-45CD-9BD5-264ED59D1EBF}" srcId="{984E454F-7D29-4694-94CB-9B0BBD3288B3}" destId="{84293570-C4BE-493D-BB6B-4ED8245765E8}" srcOrd="3" destOrd="0" parTransId="{5A3D050E-086C-4E2D-B09F-51D72A8E97A8}" sibTransId="{5BF139B2-10B2-475B-85F8-F2213229F4B8}"/>
    <dgm:cxn modelId="{79B0EC85-C6AA-4A4A-ADF9-DCBC3819141C}" type="presOf" srcId="{E0C0EDC2-1F00-451F-80E8-4897FD03E6FF}" destId="{C92D092E-639D-4A57-9E4E-B33030BD71D0}" srcOrd="0" destOrd="0" presId="urn:microsoft.com/office/officeart/2016/7/layout/RepeatingBendingProcessNew"/>
    <dgm:cxn modelId="{51B0C98E-3B80-4A94-A5DB-A0EFFD90D54D}" type="presOf" srcId="{DA0D4ECE-D510-4672-9901-1F78B9D156B1}" destId="{84E25242-4735-44AE-9F78-4640E94E01A1}" srcOrd="0" destOrd="0" presId="urn:microsoft.com/office/officeart/2016/7/layout/RepeatingBendingProcessNew"/>
    <dgm:cxn modelId="{A40FBEA3-CDC2-4FAA-ABBC-FD65BC3F0529}" type="presOf" srcId="{5BF139B2-10B2-475B-85F8-F2213229F4B8}" destId="{815DF889-3410-4344-AECD-8C5292212F88}" srcOrd="1" destOrd="0" presId="urn:microsoft.com/office/officeart/2016/7/layout/RepeatingBendingProcessNew"/>
    <dgm:cxn modelId="{7219FEA9-CA7F-439A-A01F-52610851CF8B}" type="presOf" srcId="{F610D0DE-22E9-47A8-862A-F74229C1F21B}" destId="{EAB60A69-C412-4D3A-AFD6-13DB3A6EABC8}" srcOrd="0" destOrd="0" presId="urn:microsoft.com/office/officeart/2016/7/layout/RepeatingBendingProcessNew"/>
    <dgm:cxn modelId="{E6C789B8-DDD5-4F82-BC1E-75618D3C72D7}" type="presOf" srcId="{736BD031-6F54-4E5F-9432-B64969EE0DE6}" destId="{4D4CB1CE-9033-429D-8325-D6E962FD9ABF}" srcOrd="1" destOrd="0" presId="urn:microsoft.com/office/officeart/2016/7/layout/RepeatingBendingProcessNew"/>
    <dgm:cxn modelId="{E610A4BE-B807-4C34-8EA0-FC5D1EE9E2F5}" type="presOf" srcId="{736BD031-6F54-4E5F-9432-B64969EE0DE6}" destId="{72269503-2296-4A91-A9FC-3B3EA2CB3949}" srcOrd="0" destOrd="0" presId="urn:microsoft.com/office/officeart/2016/7/layout/RepeatingBendingProcessNew"/>
    <dgm:cxn modelId="{F14CD4D1-5A6A-4910-AD24-3D3A085FCFFE}" type="presOf" srcId="{5BF139B2-10B2-475B-85F8-F2213229F4B8}" destId="{5EA876B9-6648-470F-ACAE-C0586677F872}" srcOrd="0" destOrd="0" presId="urn:microsoft.com/office/officeart/2016/7/layout/RepeatingBendingProcessNew"/>
    <dgm:cxn modelId="{9388DEE3-A2D0-4675-8561-99B739711260}" srcId="{984E454F-7D29-4694-94CB-9B0BBD3288B3}" destId="{635CF230-8104-40B9-BF51-2C47A58192C9}" srcOrd="2" destOrd="0" parTransId="{FCFF072E-BD3F-4281-BE65-B68CD650649E}" sibTransId="{3EB5A955-357F-43CD-B3C0-36C2DFDDA0A7}"/>
    <dgm:cxn modelId="{25B234EB-5E60-4FCE-B65F-D36BCAB56D47}" srcId="{984E454F-7D29-4694-94CB-9B0BBD3288B3}" destId="{A97D5F11-99A5-4588-84AE-BC1931D1E92D}" srcOrd="4" destOrd="0" parTransId="{5B706A3C-B7CA-40C0-B43D-902561B8A227}" sibTransId="{B63E23D8-616F-4C2D-9DC3-C7924B7236C4}"/>
    <dgm:cxn modelId="{090282FC-8CE8-4DC4-8B4E-FB62C79E88EF}" type="presOf" srcId="{3EB5A955-357F-43CD-B3C0-36C2DFDDA0A7}" destId="{1C58814C-F365-41BB-9F78-F4C75B057905}" srcOrd="1" destOrd="0" presId="urn:microsoft.com/office/officeart/2016/7/layout/RepeatingBendingProcessNew"/>
    <dgm:cxn modelId="{B2763DFF-AFD3-49FC-9A49-77F8ABFED460}" type="presOf" srcId="{984E454F-7D29-4694-94CB-9B0BBD3288B3}" destId="{5805E43A-5F08-4147-8928-683E0DF39E0D}" srcOrd="0" destOrd="0" presId="urn:microsoft.com/office/officeart/2016/7/layout/RepeatingBendingProcessNew"/>
    <dgm:cxn modelId="{AB2C06CB-04A3-43C7-ABCB-8F3AD669ED1D}" type="presParOf" srcId="{5805E43A-5F08-4147-8928-683E0DF39E0D}" destId="{84E25242-4735-44AE-9F78-4640E94E01A1}" srcOrd="0" destOrd="0" presId="urn:microsoft.com/office/officeart/2016/7/layout/RepeatingBendingProcessNew"/>
    <dgm:cxn modelId="{25FE606F-B852-4B16-8946-F761FB025D88}" type="presParOf" srcId="{5805E43A-5F08-4147-8928-683E0DF39E0D}" destId="{72269503-2296-4A91-A9FC-3B3EA2CB3949}" srcOrd="1" destOrd="0" presId="urn:microsoft.com/office/officeart/2016/7/layout/RepeatingBendingProcessNew"/>
    <dgm:cxn modelId="{EF586AEB-1828-4E3F-8ACB-106077AF6DBB}" type="presParOf" srcId="{72269503-2296-4A91-A9FC-3B3EA2CB3949}" destId="{4D4CB1CE-9033-429D-8325-D6E962FD9ABF}" srcOrd="0" destOrd="0" presId="urn:microsoft.com/office/officeart/2016/7/layout/RepeatingBendingProcessNew"/>
    <dgm:cxn modelId="{6FC8CD0E-0F3A-480C-8C1A-859E8226E159}" type="presParOf" srcId="{5805E43A-5F08-4147-8928-683E0DF39E0D}" destId="{C92D092E-639D-4A57-9E4E-B33030BD71D0}" srcOrd="2" destOrd="0" presId="urn:microsoft.com/office/officeart/2016/7/layout/RepeatingBendingProcessNew"/>
    <dgm:cxn modelId="{8DA9BBE9-BC37-46A0-86B3-4D2FFE80BB2E}" type="presParOf" srcId="{5805E43A-5F08-4147-8928-683E0DF39E0D}" destId="{EAB60A69-C412-4D3A-AFD6-13DB3A6EABC8}" srcOrd="3" destOrd="0" presId="urn:microsoft.com/office/officeart/2016/7/layout/RepeatingBendingProcessNew"/>
    <dgm:cxn modelId="{3F9D8F9A-1EE9-46C0-8C46-9720322B74E3}" type="presParOf" srcId="{EAB60A69-C412-4D3A-AFD6-13DB3A6EABC8}" destId="{A838688C-D151-4EC8-9425-44D965F96B01}" srcOrd="0" destOrd="0" presId="urn:microsoft.com/office/officeart/2016/7/layout/RepeatingBendingProcessNew"/>
    <dgm:cxn modelId="{6FB78A8F-90CA-48BA-8B3C-DB3F08EF42DA}" type="presParOf" srcId="{5805E43A-5F08-4147-8928-683E0DF39E0D}" destId="{F97787F3-37FA-4FCD-9701-30EB161E4852}" srcOrd="4" destOrd="0" presId="urn:microsoft.com/office/officeart/2016/7/layout/RepeatingBendingProcessNew"/>
    <dgm:cxn modelId="{32EBC4A7-D5FD-4B2F-9A4E-F0A87065E279}" type="presParOf" srcId="{5805E43A-5F08-4147-8928-683E0DF39E0D}" destId="{D50C6729-421F-4AF2-B59E-8611323DDABF}" srcOrd="5" destOrd="0" presId="urn:microsoft.com/office/officeart/2016/7/layout/RepeatingBendingProcessNew"/>
    <dgm:cxn modelId="{9C792351-E2BE-46CC-BA76-C42D596C43B5}" type="presParOf" srcId="{D50C6729-421F-4AF2-B59E-8611323DDABF}" destId="{1C58814C-F365-41BB-9F78-F4C75B057905}" srcOrd="0" destOrd="0" presId="urn:microsoft.com/office/officeart/2016/7/layout/RepeatingBendingProcessNew"/>
    <dgm:cxn modelId="{A66375EC-AA98-4597-956E-7FC163B69E2F}" type="presParOf" srcId="{5805E43A-5F08-4147-8928-683E0DF39E0D}" destId="{B401C22C-8580-4CC1-90BC-99151C621E7A}" srcOrd="6" destOrd="0" presId="urn:microsoft.com/office/officeart/2016/7/layout/RepeatingBendingProcessNew"/>
    <dgm:cxn modelId="{C651C75C-4A80-496D-A038-426FF4BEA861}" type="presParOf" srcId="{5805E43A-5F08-4147-8928-683E0DF39E0D}" destId="{5EA876B9-6648-470F-ACAE-C0586677F872}" srcOrd="7" destOrd="0" presId="urn:microsoft.com/office/officeart/2016/7/layout/RepeatingBendingProcessNew"/>
    <dgm:cxn modelId="{3B5A6433-D836-42D6-846E-69820F7256FE}" type="presParOf" srcId="{5EA876B9-6648-470F-ACAE-C0586677F872}" destId="{815DF889-3410-4344-AECD-8C5292212F88}" srcOrd="0" destOrd="0" presId="urn:microsoft.com/office/officeart/2016/7/layout/RepeatingBendingProcessNew"/>
    <dgm:cxn modelId="{F894D520-BF3D-4895-9D56-3567F7C95D92}" type="presParOf" srcId="{5805E43A-5F08-4147-8928-683E0DF39E0D}" destId="{B6EA6948-3EAD-46CB-9DFB-67DD6A472095}" srcOrd="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9AFE07-97B4-4560-9201-51F290BF3BA3}" type="doc">
      <dgm:prSet loTypeId="urn:microsoft.com/office/officeart/2005/8/layout/vList2" loCatId="list" qsTypeId="urn:microsoft.com/office/officeart/2005/8/quickstyle/simple4" qsCatId="simple" csTypeId="urn:microsoft.com/office/officeart/2005/8/colors/accent0_2" csCatId="mainScheme" phldr="1"/>
      <dgm:spPr/>
      <dgm:t>
        <a:bodyPr/>
        <a:lstStyle/>
        <a:p>
          <a:endParaRPr lang="en-US"/>
        </a:p>
      </dgm:t>
    </dgm:pt>
    <dgm:pt modelId="{5BA118B1-E951-4AB0-805F-92764754EB1B}">
      <dgm:prSet/>
      <dgm:spPr/>
      <dgm:t>
        <a:bodyPr/>
        <a:lstStyle/>
        <a:p>
          <a:r>
            <a:rPr lang="en-US" dirty="0">
              <a:latin typeface="Times New Roman" panose="02020603050405020304" pitchFamily="18" charset="0"/>
              <a:cs typeface="Times New Roman" panose="02020603050405020304" pitchFamily="18" charset="0"/>
            </a:rPr>
            <a:t>Not updated on the</a:t>
          </a:r>
          <a:r>
            <a:rPr lang="en-US" b="1" dirty="0">
              <a:latin typeface="Times New Roman" panose="02020603050405020304" pitchFamily="18" charset="0"/>
              <a:cs typeface="Times New Roman" panose="02020603050405020304" pitchFamily="18" charset="0"/>
            </a:rPr>
            <a:t> latest information</a:t>
          </a:r>
          <a:r>
            <a:rPr lang="en-US" dirty="0">
              <a:latin typeface="Times New Roman" panose="02020603050405020304" pitchFamily="18" charset="0"/>
              <a:cs typeface="Times New Roman" panose="02020603050405020304" pitchFamily="18" charset="0"/>
            </a:rPr>
            <a:t>: limited to the data they were </a:t>
          </a:r>
          <a:r>
            <a:rPr lang="en-US" b="1" dirty="0">
              <a:latin typeface="Times New Roman" panose="02020603050405020304" pitchFamily="18" charset="0"/>
              <a:cs typeface="Times New Roman" panose="02020603050405020304" pitchFamily="18" charset="0"/>
            </a:rPr>
            <a:t>trained on</a:t>
          </a:r>
        </a:p>
      </dgm:t>
    </dgm:pt>
    <dgm:pt modelId="{4C60A0A8-B61F-4A22-A820-E4F8A053F5A6}" type="parTrans" cxnId="{6BC21046-9B0F-433B-B387-715502C2468B}">
      <dgm:prSet/>
      <dgm:spPr/>
      <dgm:t>
        <a:bodyPr/>
        <a:lstStyle/>
        <a:p>
          <a:endParaRPr lang="en-US">
            <a:latin typeface="Times New Roman" panose="02020603050405020304" pitchFamily="18" charset="0"/>
            <a:cs typeface="Times New Roman" panose="02020603050405020304" pitchFamily="18" charset="0"/>
          </a:endParaRPr>
        </a:p>
      </dgm:t>
    </dgm:pt>
    <dgm:pt modelId="{37761DD7-9C29-4692-A9DE-669F205ADB1B}" type="sibTrans" cxnId="{6BC21046-9B0F-433B-B387-715502C2468B}">
      <dgm:prSet/>
      <dgm:spPr/>
      <dgm:t>
        <a:bodyPr/>
        <a:lstStyle/>
        <a:p>
          <a:endParaRPr lang="en-US">
            <a:latin typeface="Times New Roman" panose="02020603050405020304" pitchFamily="18" charset="0"/>
            <a:cs typeface="Times New Roman" panose="02020603050405020304" pitchFamily="18" charset="0"/>
          </a:endParaRPr>
        </a:p>
      </dgm:t>
    </dgm:pt>
    <dgm:pt modelId="{53C2BD4F-8B0B-48CB-B71C-FBEDD75D4504}">
      <dgm:prSet/>
      <dgm:spPr/>
      <dgm:t>
        <a:bodyPr/>
        <a:lstStyle/>
        <a:p>
          <a:r>
            <a:rPr lang="en-US" dirty="0">
              <a:latin typeface="Times New Roman" panose="02020603050405020304" pitchFamily="18" charset="0"/>
              <a:cs typeface="Times New Roman" panose="02020603050405020304" pitchFamily="18" charset="0"/>
            </a:rPr>
            <a:t>LLMs often </a:t>
          </a:r>
          <a:r>
            <a:rPr lang="en-US" b="1" dirty="0">
              <a:latin typeface="Times New Roman" panose="02020603050405020304" pitchFamily="18" charset="0"/>
              <a:cs typeface="Times New Roman" panose="02020603050405020304" pitchFamily="18" charset="0"/>
            </a:rPr>
            <a:t>hallucinate</a:t>
          </a:r>
          <a:r>
            <a:rPr lang="en-US" dirty="0">
              <a:latin typeface="Times New Roman" panose="02020603050405020304" pitchFamily="18" charset="0"/>
              <a:cs typeface="Times New Roman" panose="02020603050405020304" pitchFamily="18" charset="0"/>
            </a:rPr>
            <a:t> (generate incorrect facts) </a:t>
          </a:r>
          <a:r>
            <a:rPr lang="en-US" b="1" dirty="0">
              <a:latin typeface="Times New Roman" panose="02020603050405020304" pitchFamily="18" charset="0"/>
              <a:cs typeface="Times New Roman" panose="02020603050405020304" pitchFamily="18" charset="0"/>
            </a:rPr>
            <a:t>while appearing confident </a:t>
          </a:r>
          <a:r>
            <a:rPr lang="en-US" dirty="0">
              <a:latin typeface="Times New Roman" panose="02020603050405020304" pitchFamily="18" charset="0"/>
              <a:cs typeface="Times New Roman" panose="02020603050405020304" pitchFamily="18" charset="0"/>
            </a:rPr>
            <a:t>in their answers</a:t>
          </a:r>
        </a:p>
      </dgm:t>
    </dgm:pt>
    <dgm:pt modelId="{C23D7DF3-918A-4BEF-9A19-379DA8598E7E}" type="parTrans" cxnId="{D049D980-E3F1-40CA-8537-F73AA7E97A8E}">
      <dgm:prSet/>
      <dgm:spPr/>
      <dgm:t>
        <a:bodyPr/>
        <a:lstStyle/>
        <a:p>
          <a:endParaRPr lang="en-US">
            <a:latin typeface="Times New Roman" panose="02020603050405020304" pitchFamily="18" charset="0"/>
            <a:cs typeface="Times New Roman" panose="02020603050405020304" pitchFamily="18" charset="0"/>
          </a:endParaRPr>
        </a:p>
      </dgm:t>
    </dgm:pt>
    <dgm:pt modelId="{357751A6-7FBC-4286-AAC8-A01DB5532A49}" type="sibTrans" cxnId="{D049D980-E3F1-40CA-8537-F73AA7E97A8E}">
      <dgm:prSet/>
      <dgm:spPr/>
      <dgm:t>
        <a:bodyPr/>
        <a:lstStyle/>
        <a:p>
          <a:endParaRPr lang="en-US">
            <a:latin typeface="Times New Roman" panose="02020603050405020304" pitchFamily="18" charset="0"/>
            <a:cs typeface="Times New Roman" panose="02020603050405020304" pitchFamily="18" charset="0"/>
          </a:endParaRPr>
        </a:p>
      </dgm:t>
    </dgm:pt>
    <dgm:pt modelId="{2CFD90F6-B87F-4468-887C-18207580E8E8}">
      <dgm:prSet/>
      <dgm:spPr/>
      <dgm:t>
        <a:bodyPr/>
        <a:lstStyle/>
        <a:p>
          <a:r>
            <a:rPr lang="en-US" b="1" dirty="0">
              <a:latin typeface="Times New Roman" panose="02020603050405020304" pitchFamily="18" charset="0"/>
              <a:cs typeface="Times New Roman" panose="02020603050405020304" pitchFamily="18" charset="0"/>
            </a:rPr>
            <a:t>Lack of domain-specific information</a:t>
          </a:r>
          <a:r>
            <a:rPr lang="en-US" dirty="0">
              <a:latin typeface="Times New Roman" panose="02020603050405020304" pitchFamily="18" charset="0"/>
              <a:cs typeface="Times New Roman" panose="02020603050405020304" pitchFamily="18" charset="0"/>
            </a:rPr>
            <a:t> since the models are trained on general knowledge</a:t>
          </a:r>
        </a:p>
      </dgm:t>
    </dgm:pt>
    <dgm:pt modelId="{D37D929A-523C-48B2-A5BC-A35CF34CEFFB}" type="parTrans" cxnId="{271BD1EC-4E85-4108-B096-C44DC6AE5A3F}">
      <dgm:prSet/>
      <dgm:spPr/>
      <dgm:t>
        <a:bodyPr/>
        <a:lstStyle/>
        <a:p>
          <a:endParaRPr lang="en-US">
            <a:latin typeface="Times New Roman" panose="02020603050405020304" pitchFamily="18" charset="0"/>
            <a:cs typeface="Times New Roman" panose="02020603050405020304" pitchFamily="18" charset="0"/>
          </a:endParaRPr>
        </a:p>
      </dgm:t>
    </dgm:pt>
    <dgm:pt modelId="{5CFC32CF-4EF9-479E-9B73-181492E1C8E1}" type="sibTrans" cxnId="{271BD1EC-4E85-4108-B096-C44DC6AE5A3F}">
      <dgm:prSet/>
      <dgm:spPr/>
      <dgm:t>
        <a:bodyPr/>
        <a:lstStyle/>
        <a:p>
          <a:endParaRPr lang="en-US">
            <a:latin typeface="Times New Roman" panose="02020603050405020304" pitchFamily="18" charset="0"/>
            <a:cs typeface="Times New Roman" panose="02020603050405020304" pitchFamily="18" charset="0"/>
          </a:endParaRPr>
        </a:p>
      </dgm:t>
    </dgm:pt>
    <dgm:pt modelId="{9CD02BF7-17A2-41EF-A913-1C82194713B5}">
      <dgm:prSet/>
      <dgm:spPr/>
      <dgm:t>
        <a:bodyPr/>
        <a:lstStyle/>
        <a:p>
          <a:r>
            <a:rPr lang="en-US" dirty="0">
              <a:latin typeface="Times New Roman" panose="02020603050405020304" pitchFamily="18" charset="0"/>
              <a:cs typeface="Times New Roman" panose="02020603050405020304" pitchFamily="18" charset="0"/>
            </a:rPr>
            <a:t>Re-training LLMs with new information requires </a:t>
          </a:r>
          <a:r>
            <a:rPr lang="en-US" b="1" dirty="0">
              <a:latin typeface="Times New Roman" panose="02020603050405020304" pitchFamily="18" charset="0"/>
              <a:cs typeface="Times New Roman" panose="02020603050405020304" pitchFamily="18" charset="0"/>
            </a:rPr>
            <a:t>significant time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compute resources</a:t>
          </a:r>
        </a:p>
      </dgm:t>
    </dgm:pt>
    <dgm:pt modelId="{68AF5CC5-9CC3-4A9B-BE3B-365912316B2F}" type="parTrans" cxnId="{98DE2ADC-8DC9-4616-B466-8CAF0A5B56BD}">
      <dgm:prSet/>
      <dgm:spPr/>
      <dgm:t>
        <a:bodyPr/>
        <a:lstStyle/>
        <a:p>
          <a:endParaRPr lang="en-US">
            <a:latin typeface="Times New Roman" panose="02020603050405020304" pitchFamily="18" charset="0"/>
            <a:cs typeface="Times New Roman" panose="02020603050405020304" pitchFamily="18" charset="0"/>
          </a:endParaRPr>
        </a:p>
      </dgm:t>
    </dgm:pt>
    <dgm:pt modelId="{3580362F-4433-4318-AD1E-D2F56C420957}" type="sibTrans" cxnId="{98DE2ADC-8DC9-4616-B466-8CAF0A5B56BD}">
      <dgm:prSet/>
      <dgm:spPr/>
      <dgm:t>
        <a:bodyPr/>
        <a:lstStyle/>
        <a:p>
          <a:endParaRPr lang="en-US">
            <a:latin typeface="Times New Roman" panose="02020603050405020304" pitchFamily="18" charset="0"/>
            <a:cs typeface="Times New Roman" panose="02020603050405020304" pitchFamily="18" charset="0"/>
          </a:endParaRPr>
        </a:p>
      </dgm:t>
    </dgm:pt>
    <dgm:pt modelId="{CC33AFB7-C995-4FF6-B6FC-79B149A6C987}" type="pres">
      <dgm:prSet presAssocID="{F09AFE07-97B4-4560-9201-51F290BF3BA3}" presName="linear" presStyleCnt="0">
        <dgm:presLayoutVars>
          <dgm:animLvl val="lvl"/>
          <dgm:resizeHandles val="exact"/>
        </dgm:presLayoutVars>
      </dgm:prSet>
      <dgm:spPr/>
    </dgm:pt>
    <dgm:pt modelId="{A9D7F22A-04B1-4F9F-B709-38C19F98C0DD}" type="pres">
      <dgm:prSet presAssocID="{5BA118B1-E951-4AB0-805F-92764754EB1B}" presName="parentText" presStyleLbl="node1" presStyleIdx="0" presStyleCnt="4">
        <dgm:presLayoutVars>
          <dgm:chMax val="0"/>
          <dgm:bulletEnabled val="1"/>
        </dgm:presLayoutVars>
      </dgm:prSet>
      <dgm:spPr/>
    </dgm:pt>
    <dgm:pt modelId="{778643FC-EB02-430D-91EC-BF6FE086D007}" type="pres">
      <dgm:prSet presAssocID="{37761DD7-9C29-4692-A9DE-669F205ADB1B}" presName="spacer" presStyleCnt="0"/>
      <dgm:spPr/>
    </dgm:pt>
    <dgm:pt modelId="{80D010FE-9F84-4979-BA36-7C5779D4A927}" type="pres">
      <dgm:prSet presAssocID="{53C2BD4F-8B0B-48CB-B71C-FBEDD75D4504}" presName="parentText" presStyleLbl="node1" presStyleIdx="1" presStyleCnt="4">
        <dgm:presLayoutVars>
          <dgm:chMax val="0"/>
          <dgm:bulletEnabled val="1"/>
        </dgm:presLayoutVars>
      </dgm:prSet>
      <dgm:spPr/>
    </dgm:pt>
    <dgm:pt modelId="{3706B388-DA9D-4EC3-9A2F-BD79F3F2B140}" type="pres">
      <dgm:prSet presAssocID="{357751A6-7FBC-4286-AAC8-A01DB5532A49}" presName="spacer" presStyleCnt="0"/>
      <dgm:spPr/>
    </dgm:pt>
    <dgm:pt modelId="{AE11C44B-0831-47A9-ACD8-9076ED20AB23}" type="pres">
      <dgm:prSet presAssocID="{2CFD90F6-B87F-4468-887C-18207580E8E8}" presName="parentText" presStyleLbl="node1" presStyleIdx="2" presStyleCnt="4">
        <dgm:presLayoutVars>
          <dgm:chMax val="0"/>
          <dgm:bulletEnabled val="1"/>
        </dgm:presLayoutVars>
      </dgm:prSet>
      <dgm:spPr/>
    </dgm:pt>
    <dgm:pt modelId="{297EC141-4D5C-4E9B-A657-01D61ACA9F2D}" type="pres">
      <dgm:prSet presAssocID="{5CFC32CF-4EF9-479E-9B73-181492E1C8E1}" presName="spacer" presStyleCnt="0"/>
      <dgm:spPr/>
    </dgm:pt>
    <dgm:pt modelId="{53C10163-6DB0-4CAC-BBF8-99900FFFE965}" type="pres">
      <dgm:prSet presAssocID="{9CD02BF7-17A2-41EF-A913-1C82194713B5}" presName="parentText" presStyleLbl="node1" presStyleIdx="3" presStyleCnt="4">
        <dgm:presLayoutVars>
          <dgm:chMax val="0"/>
          <dgm:bulletEnabled val="1"/>
        </dgm:presLayoutVars>
      </dgm:prSet>
      <dgm:spPr/>
    </dgm:pt>
  </dgm:ptLst>
  <dgm:cxnLst>
    <dgm:cxn modelId="{D5790E06-F920-46DF-8B3C-8B13F51FF041}" type="presOf" srcId="{F09AFE07-97B4-4560-9201-51F290BF3BA3}" destId="{CC33AFB7-C995-4FF6-B6FC-79B149A6C987}" srcOrd="0" destOrd="0" presId="urn:microsoft.com/office/officeart/2005/8/layout/vList2"/>
    <dgm:cxn modelId="{6BC21046-9B0F-433B-B387-715502C2468B}" srcId="{F09AFE07-97B4-4560-9201-51F290BF3BA3}" destId="{5BA118B1-E951-4AB0-805F-92764754EB1B}" srcOrd="0" destOrd="0" parTransId="{4C60A0A8-B61F-4A22-A820-E4F8A053F5A6}" sibTransId="{37761DD7-9C29-4692-A9DE-669F205ADB1B}"/>
    <dgm:cxn modelId="{5BA7C66A-2C33-461A-A915-42C073734544}" type="presOf" srcId="{53C2BD4F-8B0B-48CB-B71C-FBEDD75D4504}" destId="{80D010FE-9F84-4979-BA36-7C5779D4A927}" srcOrd="0" destOrd="0" presId="urn:microsoft.com/office/officeart/2005/8/layout/vList2"/>
    <dgm:cxn modelId="{8D44E056-B0F8-4CA7-AAAF-4D91F07641AB}" type="presOf" srcId="{9CD02BF7-17A2-41EF-A913-1C82194713B5}" destId="{53C10163-6DB0-4CAC-BBF8-99900FFFE965}" srcOrd="0" destOrd="0" presId="urn:microsoft.com/office/officeart/2005/8/layout/vList2"/>
    <dgm:cxn modelId="{D049D980-E3F1-40CA-8537-F73AA7E97A8E}" srcId="{F09AFE07-97B4-4560-9201-51F290BF3BA3}" destId="{53C2BD4F-8B0B-48CB-B71C-FBEDD75D4504}" srcOrd="1" destOrd="0" parTransId="{C23D7DF3-918A-4BEF-9A19-379DA8598E7E}" sibTransId="{357751A6-7FBC-4286-AAC8-A01DB5532A49}"/>
    <dgm:cxn modelId="{CBC6CEB5-7268-47CB-AF5C-F9C2BBEE2A06}" type="presOf" srcId="{2CFD90F6-B87F-4468-887C-18207580E8E8}" destId="{AE11C44B-0831-47A9-ACD8-9076ED20AB23}" srcOrd="0" destOrd="0" presId="urn:microsoft.com/office/officeart/2005/8/layout/vList2"/>
    <dgm:cxn modelId="{CFE006D2-04C0-4ABB-AF31-5A7EFFD15E12}" type="presOf" srcId="{5BA118B1-E951-4AB0-805F-92764754EB1B}" destId="{A9D7F22A-04B1-4F9F-B709-38C19F98C0DD}" srcOrd="0" destOrd="0" presId="urn:microsoft.com/office/officeart/2005/8/layout/vList2"/>
    <dgm:cxn modelId="{98DE2ADC-8DC9-4616-B466-8CAF0A5B56BD}" srcId="{F09AFE07-97B4-4560-9201-51F290BF3BA3}" destId="{9CD02BF7-17A2-41EF-A913-1C82194713B5}" srcOrd="3" destOrd="0" parTransId="{68AF5CC5-9CC3-4A9B-BE3B-365912316B2F}" sibTransId="{3580362F-4433-4318-AD1E-D2F56C420957}"/>
    <dgm:cxn modelId="{271BD1EC-4E85-4108-B096-C44DC6AE5A3F}" srcId="{F09AFE07-97B4-4560-9201-51F290BF3BA3}" destId="{2CFD90F6-B87F-4468-887C-18207580E8E8}" srcOrd="2" destOrd="0" parTransId="{D37D929A-523C-48B2-A5BC-A35CF34CEFFB}" sibTransId="{5CFC32CF-4EF9-479E-9B73-181492E1C8E1}"/>
    <dgm:cxn modelId="{480BBB29-01F7-438D-B1D3-7002C606A341}" type="presParOf" srcId="{CC33AFB7-C995-4FF6-B6FC-79B149A6C987}" destId="{A9D7F22A-04B1-4F9F-B709-38C19F98C0DD}" srcOrd="0" destOrd="0" presId="urn:microsoft.com/office/officeart/2005/8/layout/vList2"/>
    <dgm:cxn modelId="{7FA06A22-BCE3-4BD6-AF1B-ECD198E2836A}" type="presParOf" srcId="{CC33AFB7-C995-4FF6-B6FC-79B149A6C987}" destId="{778643FC-EB02-430D-91EC-BF6FE086D007}" srcOrd="1" destOrd="0" presId="urn:microsoft.com/office/officeart/2005/8/layout/vList2"/>
    <dgm:cxn modelId="{7A804D82-10B6-4C9F-B571-6D3994C6AD2F}" type="presParOf" srcId="{CC33AFB7-C995-4FF6-B6FC-79B149A6C987}" destId="{80D010FE-9F84-4979-BA36-7C5779D4A927}" srcOrd="2" destOrd="0" presId="urn:microsoft.com/office/officeart/2005/8/layout/vList2"/>
    <dgm:cxn modelId="{1047C521-F656-4D87-BAC6-2FD806E92DAA}" type="presParOf" srcId="{CC33AFB7-C995-4FF6-B6FC-79B149A6C987}" destId="{3706B388-DA9D-4EC3-9A2F-BD79F3F2B140}" srcOrd="3" destOrd="0" presId="urn:microsoft.com/office/officeart/2005/8/layout/vList2"/>
    <dgm:cxn modelId="{60648CDB-067B-4305-9610-524E76B04857}" type="presParOf" srcId="{CC33AFB7-C995-4FF6-B6FC-79B149A6C987}" destId="{AE11C44B-0831-47A9-ACD8-9076ED20AB23}" srcOrd="4" destOrd="0" presId="urn:microsoft.com/office/officeart/2005/8/layout/vList2"/>
    <dgm:cxn modelId="{767A49EB-4ABA-410E-9BD1-507157C8F8E9}" type="presParOf" srcId="{CC33AFB7-C995-4FF6-B6FC-79B149A6C987}" destId="{297EC141-4D5C-4E9B-A657-01D61ACA9F2D}" srcOrd="5" destOrd="0" presId="urn:microsoft.com/office/officeart/2005/8/layout/vList2"/>
    <dgm:cxn modelId="{A66D62EF-F0D6-440B-B84D-8D379261FC4A}" type="presParOf" srcId="{CC33AFB7-C995-4FF6-B6FC-79B149A6C987}" destId="{53C10163-6DB0-4CAC-BBF8-99900FFFE96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48BCACE-53D4-4965-8445-36677E9DACDD}" type="doc">
      <dgm:prSet loTypeId="urn:microsoft.com/office/officeart/2005/8/layout/hierarchy1" loCatId="hierarchy" qsTypeId="urn:microsoft.com/office/officeart/2005/8/quickstyle/simple1" qsCatId="simple" csTypeId="urn:microsoft.com/office/officeart/2005/8/colors/colorful1" csCatId="colorful" phldr="1"/>
      <dgm:spPr/>
      <dgm:t>
        <a:bodyPr/>
        <a:lstStyle/>
        <a:p>
          <a:endParaRPr lang="en-US"/>
        </a:p>
      </dgm:t>
    </dgm:pt>
    <dgm:pt modelId="{EED3FBEA-7F6B-48FC-9B65-FD0EE72D66FB}">
      <dgm:prSet custT="1"/>
      <dgm:spPr/>
      <dgm:t>
        <a:bodyPr/>
        <a:lstStyle/>
        <a:p>
          <a:pPr>
            <a:buNone/>
          </a:pPr>
          <a:r>
            <a:rPr lang="en-US" sz="1800" dirty="0">
              <a:latin typeface="Times New Roman" panose="02020603050405020304" pitchFamily="18" charset="0"/>
              <a:cs typeface="Times New Roman" panose="02020603050405020304" pitchFamily="18" charset="0"/>
            </a:rPr>
            <a:t>RAG stands for </a:t>
          </a:r>
          <a:r>
            <a:rPr lang="en-US" sz="1800" b="1"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etrieval </a:t>
          </a:r>
          <a:r>
            <a:rPr lang="en-US" sz="1800" b="1"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ugmented </a:t>
          </a:r>
          <a:r>
            <a:rPr lang="en-US" sz="1800" b="1" dirty="0">
              <a:latin typeface="Times New Roman" panose="02020603050405020304" pitchFamily="18" charset="0"/>
              <a:cs typeface="Times New Roman" panose="02020603050405020304" pitchFamily="18" charset="0"/>
            </a:rPr>
            <a:t>G</a:t>
          </a:r>
          <a:r>
            <a:rPr lang="en-US" sz="1800" dirty="0">
              <a:latin typeface="Times New Roman" panose="02020603050405020304" pitchFamily="18" charset="0"/>
              <a:cs typeface="Times New Roman" panose="02020603050405020304" pitchFamily="18" charset="0"/>
            </a:rPr>
            <a:t>eneration</a:t>
          </a:r>
        </a:p>
      </dgm:t>
    </dgm:pt>
    <dgm:pt modelId="{BFE3F3A6-FBCD-4BEE-9569-C19CF0277058}" type="parTrans" cxnId="{9C2B2377-0F21-4A84-89AA-98CB4C944AD7}">
      <dgm:prSet/>
      <dgm:spPr/>
      <dgm:t>
        <a:bodyPr/>
        <a:lstStyle/>
        <a:p>
          <a:endParaRPr lang="en-US" sz="1400">
            <a:latin typeface="Times New Roman" panose="02020603050405020304" pitchFamily="18" charset="0"/>
            <a:cs typeface="Times New Roman" panose="02020603050405020304" pitchFamily="18" charset="0"/>
          </a:endParaRPr>
        </a:p>
      </dgm:t>
    </dgm:pt>
    <dgm:pt modelId="{AFF8D90F-7143-4654-8927-9EE3BB551A5E}" type="sibTrans" cxnId="{9C2B2377-0F21-4A84-89AA-98CB4C944AD7}">
      <dgm:prSet/>
      <dgm:spPr/>
      <dgm:t>
        <a:bodyPr/>
        <a:lstStyle/>
        <a:p>
          <a:endParaRPr lang="en-US" sz="1400">
            <a:latin typeface="Times New Roman" panose="02020603050405020304" pitchFamily="18" charset="0"/>
            <a:cs typeface="Times New Roman" panose="02020603050405020304" pitchFamily="18" charset="0"/>
          </a:endParaRPr>
        </a:p>
      </dgm:t>
    </dgm:pt>
    <dgm:pt modelId="{8FE51447-9CA0-4530-B18C-A4EC442EB84E}">
      <dgm:prSet custT="1"/>
      <dgm:spPr/>
      <dgm:t>
        <a:bodyPr/>
        <a:lstStyle/>
        <a:p>
          <a:r>
            <a:rPr lang="en-US" sz="1800" dirty="0">
              <a:latin typeface="Times New Roman" panose="02020603050405020304" pitchFamily="18" charset="0"/>
              <a:cs typeface="Times New Roman" panose="02020603050405020304" pitchFamily="18" charset="0"/>
            </a:rPr>
            <a:t>The retrieved information is used </a:t>
          </a:r>
          <a:r>
            <a:rPr lang="en-US" sz="1800" b="1" dirty="0">
              <a:latin typeface="Times New Roman" panose="02020603050405020304" pitchFamily="18" charset="0"/>
              <a:cs typeface="Times New Roman" panose="02020603050405020304" pitchFamily="18" charset="0"/>
            </a:rPr>
            <a:t>in conjunction </a:t>
          </a:r>
          <a:r>
            <a:rPr lang="en-US" sz="1800" dirty="0">
              <a:latin typeface="Times New Roman" panose="02020603050405020304" pitchFamily="18" charset="0"/>
              <a:cs typeface="Times New Roman" panose="02020603050405020304" pitchFamily="18" charset="0"/>
            </a:rPr>
            <a:t>with the model’s </a:t>
          </a:r>
          <a:r>
            <a:rPr lang="en-US" sz="1800" b="1" dirty="0">
              <a:latin typeface="Times New Roman" panose="02020603050405020304" pitchFamily="18" charset="0"/>
              <a:cs typeface="Times New Roman" panose="02020603050405020304" pitchFamily="18" charset="0"/>
            </a:rPr>
            <a:t>internal knowledge </a:t>
          </a:r>
          <a:r>
            <a:rPr lang="en-US" sz="1800" dirty="0">
              <a:latin typeface="Times New Roman" panose="02020603050405020304" pitchFamily="18" charset="0"/>
              <a:cs typeface="Times New Roman" panose="02020603050405020304" pitchFamily="18" charset="0"/>
            </a:rPr>
            <a:t>to generate the answers</a:t>
          </a:r>
        </a:p>
      </dgm:t>
    </dgm:pt>
    <dgm:pt modelId="{B51C5880-4AE4-4CEA-94B9-FFD8793EBEB9}" type="parTrans" cxnId="{DB62087F-549A-4A21-B9FB-11EBC76DB028}">
      <dgm:prSet/>
      <dgm:spPr/>
      <dgm:t>
        <a:bodyPr/>
        <a:lstStyle/>
        <a:p>
          <a:endParaRPr lang="en-US" sz="1400">
            <a:latin typeface="Times New Roman" panose="02020603050405020304" pitchFamily="18" charset="0"/>
            <a:cs typeface="Times New Roman" panose="02020603050405020304" pitchFamily="18" charset="0"/>
          </a:endParaRPr>
        </a:p>
      </dgm:t>
    </dgm:pt>
    <dgm:pt modelId="{9F9C46B4-D229-4F79-A6B7-3C4056B1D4B4}" type="sibTrans" cxnId="{DB62087F-549A-4A21-B9FB-11EBC76DB028}">
      <dgm:prSet/>
      <dgm:spPr/>
      <dgm:t>
        <a:bodyPr/>
        <a:lstStyle/>
        <a:p>
          <a:endParaRPr lang="en-US" sz="1400">
            <a:latin typeface="Times New Roman" panose="02020603050405020304" pitchFamily="18" charset="0"/>
            <a:cs typeface="Times New Roman" panose="02020603050405020304" pitchFamily="18" charset="0"/>
          </a:endParaRPr>
        </a:p>
      </dgm:t>
    </dgm:pt>
    <dgm:pt modelId="{6097140F-3B11-49A2-AF8C-80B436013F0D}">
      <dgm:prSet custT="1"/>
      <dgm:spPr/>
      <dgm:t>
        <a:bodyPr/>
        <a:lstStyle/>
        <a:p>
          <a:r>
            <a:rPr lang="en-US" sz="1800" dirty="0">
              <a:latin typeface="Times New Roman" panose="02020603050405020304" pitchFamily="18" charset="0"/>
              <a:cs typeface="Times New Roman" panose="02020603050405020304" pitchFamily="18" charset="0"/>
            </a:rPr>
            <a:t>RAG </a:t>
          </a:r>
          <a:r>
            <a:rPr lang="en-US" sz="1800" b="1" dirty="0">
              <a:latin typeface="Times New Roman" panose="02020603050405020304" pitchFamily="18" charset="0"/>
              <a:cs typeface="Times New Roman" panose="02020603050405020304" pitchFamily="18" charset="0"/>
            </a:rPr>
            <a:t>combines information retrieval with text generation</a:t>
          </a:r>
          <a:r>
            <a:rPr lang="en-US" sz="1800" dirty="0">
              <a:latin typeface="Times New Roman" panose="02020603050405020304" pitchFamily="18" charset="0"/>
              <a:cs typeface="Times New Roman" panose="02020603050405020304" pitchFamily="18" charset="0"/>
            </a:rPr>
            <a:t>, allowing AI models to retrieve relevant information from a knowledge source and incorporate it into generated text</a:t>
          </a:r>
        </a:p>
      </dgm:t>
    </dgm:pt>
    <dgm:pt modelId="{9FD025D5-72F9-43A4-B346-3E78F4895C75}" type="parTrans" cxnId="{ACB08ED1-73C8-49E6-B428-6D22C1497920}">
      <dgm:prSet/>
      <dgm:spPr/>
      <dgm:t>
        <a:bodyPr/>
        <a:lstStyle/>
        <a:p>
          <a:endParaRPr lang="en-US" sz="1800">
            <a:latin typeface="Times New Roman" panose="02020603050405020304" pitchFamily="18" charset="0"/>
            <a:cs typeface="Times New Roman" panose="02020603050405020304" pitchFamily="18" charset="0"/>
          </a:endParaRPr>
        </a:p>
      </dgm:t>
    </dgm:pt>
    <dgm:pt modelId="{DF6BE3AA-8F15-427C-BA6F-BA5FF320BDB9}" type="sibTrans" cxnId="{ACB08ED1-73C8-49E6-B428-6D22C1497920}">
      <dgm:prSet/>
      <dgm:spPr/>
      <dgm:t>
        <a:bodyPr/>
        <a:lstStyle/>
        <a:p>
          <a:endParaRPr lang="en-US" sz="1800">
            <a:latin typeface="Times New Roman" panose="02020603050405020304" pitchFamily="18" charset="0"/>
            <a:cs typeface="Times New Roman" panose="02020603050405020304" pitchFamily="18" charset="0"/>
          </a:endParaRPr>
        </a:p>
      </dgm:t>
    </dgm:pt>
    <dgm:pt modelId="{0DC4278A-AA1D-4217-89A1-EE5D91A019C8}" type="pres">
      <dgm:prSet presAssocID="{648BCACE-53D4-4965-8445-36677E9DACDD}" presName="hierChild1" presStyleCnt="0">
        <dgm:presLayoutVars>
          <dgm:chPref val="1"/>
          <dgm:dir/>
          <dgm:animOne val="branch"/>
          <dgm:animLvl val="lvl"/>
          <dgm:resizeHandles/>
        </dgm:presLayoutVars>
      </dgm:prSet>
      <dgm:spPr/>
    </dgm:pt>
    <dgm:pt modelId="{E0DA8053-0A54-4AF7-ADDC-1992C49F632C}" type="pres">
      <dgm:prSet presAssocID="{EED3FBEA-7F6B-48FC-9B65-FD0EE72D66FB}" presName="hierRoot1" presStyleCnt="0"/>
      <dgm:spPr/>
    </dgm:pt>
    <dgm:pt modelId="{64A03FF0-5C2D-43BE-989C-DD9F5CACD192}" type="pres">
      <dgm:prSet presAssocID="{EED3FBEA-7F6B-48FC-9B65-FD0EE72D66FB}" presName="composite" presStyleCnt="0"/>
      <dgm:spPr/>
    </dgm:pt>
    <dgm:pt modelId="{F8C35F2F-F677-4D1A-92AC-DD3987852980}" type="pres">
      <dgm:prSet presAssocID="{EED3FBEA-7F6B-48FC-9B65-FD0EE72D66FB}" presName="background" presStyleLbl="node0" presStyleIdx="0" presStyleCnt="3"/>
      <dgm:spPr/>
    </dgm:pt>
    <dgm:pt modelId="{E736B16C-5234-4024-BA30-826EBB30478D}" type="pres">
      <dgm:prSet presAssocID="{EED3FBEA-7F6B-48FC-9B65-FD0EE72D66FB}" presName="text" presStyleLbl="fgAcc0" presStyleIdx="0" presStyleCnt="3">
        <dgm:presLayoutVars>
          <dgm:chPref val="3"/>
        </dgm:presLayoutVars>
      </dgm:prSet>
      <dgm:spPr/>
    </dgm:pt>
    <dgm:pt modelId="{4A1DAD6B-EC87-4168-9B54-F8822668C711}" type="pres">
      <dgm:prSet presAssocID="{EED3FBEA-7F6B-48FC-9B65-FD0EE72D66FB}" presName="hierChild2" presStyleCnt="0"/>
      <dgm:spPr/>
    </dgm:pt>
    <dgm:pt modelId="{742E3D77-3315-4DA2-BE31-C1E8A266C923}" type="pres">
      <dgm:prSet presAssocID="{6097140F-3B11-49A2-AF8C-80B436013F0D}" presName="hierRoot1" presStyleCnt="0"/>
      <dgm:spPr/>
    </dgm:pt>
    <dgm:pt modelId="{2694AA45-6411-48AD-BA16-684298345160}" type="pres">
      <dgm:prSet presAssocID="{6097140F-3B11-49A2-AF8C-80B436013F0D}" presName="composite" presStyleCnt="0"/>
      <dgm:spPr/>
    </dgm:pt>
    <dgm:pt modelId="{1E69F0B6-40E7-43F5-B69B-DDC655A11BEE}" type="pres">
      <dgm:prSet presAssocID="{6097140F-3B11-49A2-AF8C-80B436013F0D}" presName="background" presStyleLbl="node0" presStyleIdx="1" presStyleCnt="3"/>
      <dgm:spPr/>
    </dgm:pt>
    <dgm:pt modelId="{9DCEC926-0CF1-441F-A0CF-52275E20135D}" type="pres">
      <dgm:prSet presAssocID="{6097140F-3B11-49A2-AF8C-80B436013F0D}" presName="text" presStyleLbl="fgAcc0" presStyleIdx="1" presStyleCnt="3">
        <dgm:presLayoutVars>
          <dgm:chPref val="3"/>
        </dgm:presLayoutVars>
      </dgm:prSet>
      <dgm:spPr/>
    </dgm:pt>
    <dgm:pt modelId="{8EEA2152-27D4-45C1-A926-676E36C233A1}" type="pres">
      <dgm:prSet presAssocID="{6097140F-3B11-49A2-AF8C-80B436013F0D}" presName="hierChild2" presStyleCnt="0"/>
      <dgm:spPr/>
    </dgm:pt>
    <dgm:pt modelId="{4F8A0286-A8D9-4E4B-B980-C18313D4116B}" type="pres">
      <dgm:prSet presAssocID="{8FE51447-9CA0-4530-B18C-A4EC442EB84E}" presName="hierRoot1" presStyleCnt="0"/>
      <dgm:spPr/>
    </dgm:pt>
    <dgm:pt modelId="{FD29CE1A-FB2C-4534-9B10-64D0528B5991}" type="pres">
      <dgm:prSet presAssocID="{8FE51447-9CA0-4530-B18C-A4EC442EB84E}" presName="composite" presStyleCnt="0"/>
      <dgm:spPr/>
    </dgm:pt>
    <dgm:pt modelId="{7D0DC589-7E46-401C-A6D6-3A449F0530C2}" type="pres">
      <dgm:prSet presAssocID="{8FE51447-9CA0-4530-B18C-A4EC442EB84E}" presName="background" presStyleLbl="node0" presStyleIdx="2" presStyleCnt="3"/>
      <dgm:spPr/>
    </dgm:pt>
    <dgm:pt modelId="{B71CF17D-63FA-4B36-A375-7D575758CD2A}" type="pres">
      <dgm:prSet presAssocID="{8FE51447-9CA0-4530-B18C-A4EC442EB84E}" presName="text" presStyleLbl="fgAcc0" presStyleIdx="2" presStyleCnt="3" custLinFactNeighborX="28067" custLinFactNeighborY="1232">
        <dgm:presLayoutVars>
          <dgm:chPref val="3"/>
        </dgm:presLayoutVars>
      </dgm:prSet>
      <dgm:spPr/>
    </dgm:pt>
    <dgm:pt modelId="{5B80A0E2-652B-45CB-A85B-FACCCF2864FD}" type="pres">
      <dgm:prSet presAssocID="{8FE51447-9CA0-4530-B18C-A4EC442EB84E}" presName="hierChild2" presStyleCnt="0"/>
      <dgm:spPr/>
    </dgm:pt>
  </dgm:ptLst>
  <dgm:cxnLst>
    <dgm:cxn modelId="{F07FEE01-361F-4D2E-8C1A-6A95A7633547}" type="presOf" srcId="{8FE51447-9CA0-4530-B18C-A4EC442EB84E}" destId="{B71CF17D-63FA-4B36-A375-7D575758CD2A}" srcOrd="0" destOrd="0" presId="urn:microsoft.com/office/officeart/2005/8/layout/hierarchy1"/>
    <dgm:cxn modelId="{2B5E9123-3999-42B0-B2FE-8F6666F73214}" type="presOf" srcId="{6097140F-3B11-49A2-AF8C-80B436013F0D}" destId="{9DCEC926-0CF1-441F-A0CF-52275E20135D}" srcOrd="0" destOrd="0" presId="urn:microsoft.com/office/officeart/2005/8/layout/hierarchy1"/>
    <dgm:cxn modelId="{4FB2B138-121F-4505-95D9-D5912BB75519}" type="presOf" srcId="{648BCACE-53D4-4965-8445-36677E9DACDD}" destId="{0DC4278A-AA1D-4217-89A1-EE5D91A019C8}" srcOrd="0" destOrd="0" presId="urn:microsoft.com/office/officeart/2005/8/layout/hierarchy1"/>
    <dgm:cxn modelId="{D315654E-3342-448B-8C55-604CD650FEA3}" type="presOf" srcId="{EED3FBEA-7F6B-48FC-9B65-FD0EE72D66FB}" destId="{E736B16C-5234-4024-BA30-826EBB30478D}" srcOrd="0" destOrd="0" presId="urn:microsoft.com/office/officeart/2005/8/layout/hierarchy1"/>
    <dgm:cxn modelId="{9C2B2377-0F21-4A84-89AA-98CB4C944AD7}" srcId="{648BCACE-53D4-4965-8445-36677E9DACDD}" destId="{EED3FBEA-7F6B-48FC-9B65-FD0EE72D66FB}" srcOrd="0" destOrd="0" parTransId="{BFE3F3A6-FBCD-4BEE-9569-C19CF0277058}" sibTransId="{AFF8D90F-7143-4654-8927-9EE3BB551A5E}"/>
    <dgm:cxn modelId="{DB62087F-549A-4A21-B9FB-11EBC76DB028}" srcId="{648BCACE-53D4-4965-8445-36677E9DACDD}" destId="{8FE51447-9CA0-4530-B18C-A4EC442EB84E}" srcOrd="2" destOrd="0" parTransId="{B51C5880-4AE4-4CEA-94B9-FFD8793EBEB9}" sibTransId="{9F9C46B4-D229-4F79-A6B7-3C4056B1D4B4}"/>
    <dgm:cxn modelId="{ACB08ED1-73C8-49E6-B428-6D22C1497920}" srcId="{648BCACE-53D4-4965-8445-36677E9DACDD}" destId="{6097140F-3B11-49A2-AF8C-80B436013F0D}" srcOrd="1" destOrd="0" parTransId="{9FD025D5-72F9-43A4-B346-3E78F4895C75}" sibTransId="{DF6BE3AA-8F15-427C-BA6F-BA5FF320BDB9}"/>
    <dgm:cxn modelId="{A5721594-FC5F-4D4D-93CA-FA3F369109AE}" type="presParOf" srcId="{0DC4278A-AA1D-4217-89A1-EE5D91A019C8}" destId="{E0DA8053-0A54-4AF7-ADDC-1992C49F632C}" srcOrd="0" destOrd="0" presId="urn:microsoft.com/office/officeart/2005/8/layout/hierarchy1"/>
    <dgm:cxn modelId="{F7B06004-1958-4C88-B639-9A7B61E56754}" type="presParOf" srcId="{E0DA8053-0A54-4AF7-ADDC-1992C49F632C}" destId="{64A03FF0-5C2D-43BE-989C-DD9F5CACD192}" srcOrd="0" destOrd="0" presId="urn:microsoft.com/office/officeart/2005/8/layout/hierarchy1"/>
    <dgm:cxn modelId="{A2D44853-1A2D-45AA-A45C-BD9C5ED23009}" type="presParOf" srcId="{64A03FF0-5C2D-43BE-989C-DD9F5CACD192}" destId="{F8C35F2F-F677-4D1A-92AC-DD3987852980}" srcOrd="0" destOrd="0" presId="urn:microsoft.com/office/officeart/2005/8/layout/hierarchy1"/>
    <dgm:cxn modelId="{73D29BFD-DCD8-4C35-BB14-D631AAB91531}" type="presParOf" srcId="{64A03FF0-5C2D-43BE-989C-DD9F5CACD192}" destId="{E736B16C-5234-4024-BA30-826EBB30478D}" srcOrd="1" destOrd="0" presId="urn:microsoft.com/office/officeart/2005/8/layout/hierarchy1"/>
    <dgm:cxn modelId="{68522AE5-04D4-4931-85CD-FBD279F42B3C}" type="presParOf" srcId="{E0DA8053-0A54-4AF7-ADDC-1992C49F632C}" destId="{4A1DAD6B-EC87-4168-9B54-F8822668C711}" srcOrd="1" destOrd="0" presId="urn:microsoft.com/office/officeart/2005/8/layout/hierarchy1"/>
    <dgm:cxn modelId="{1BAFB949-C5E0-4CE9-9BA8-1D821CD192C1}" type="presParOf" srcId="{0DC4278A-AA1D-4217-89A1-EE5D91A019C8}" destId="{742E3D77-3315-4DA2-BE31-C1E8A266C923}" srcOrd="1" destOrd="0" presId="urn:microsoft.com/office/officeart/2005/8/layout/hierarchy1"/>
    <dgm:cxn modelId="{2656144D-C3DA-45B4-B811-6AC56B36CE10}" type="presParOf" srcId="{742E3D77-3315-4DA2-BE31-C1E8A266C923}" destId="{2694AA45-6411-48AD-BA16-684298345160}" srcOrd="0" destOrd="0" presId="urn:microsoft.com/office/officeart/2005/8/layout/hierarchy1"/>
    <dgm:cxn modelId="{9728CB17-7208-4D0C-A214-B4494F1DE68B}" type="presParOf" srcId="{2694AA45-6411-48AD-BA16-684298345160}" destId="{1E69F0B6-40E7-43F5-B69B-DDC655A11BEE}" srcOrd="0" destOrd="0" presId="urn:microsoft.com/office/officeart/2005/8/layout/hierarchy1"/>
    <dgm:cxn modelId="{F96C944C-6E2B-4E6E-931E-54CD8AD9BA69}" type="presParOf" srcId="{2694AA45-6411-48AD-BA16-684298345160}" destId="{9DCEC926-0CF1-441F-A0CF-52275E20135D}" srcOrd="1" destOrd="0" presId="urn:microsoft.com/office/officeart/2005/8/layout/hierarchy1"/>
    <dgm:cxn modelId="{9EB5D584-C706-4923-99CD-0F27CCEF7E2A}" type="presParOf" srcId="{742E3D77-3315-4DA2-BE31-C1E8A266C923}" destId="{8EEA2152-27D4-45C1-A926-676E36C233A1}" srcOrd="1" destOrd="0" presId="urn:microsoft.com/office/officeart/2005/8/layout/hierarchy1"/>
    <dgm:cxn modelId="{C0692588-D361-4BAC-9A8A-604168C9C61D}" type="presParOf" srcId="{0DC4278A-AA1D-4217-89A1-EE5D91A019C8}" destId="{4F8A0286-A8D9-4E4B-B980-C18313D4116B}" srcOrd="2" destOrd="0" presId="urn:microsoft.com/office/officeart/2005/8/layout/hierarchy1"/>
    <dgm:cxn modelId="{7B8AD018-422D-40BF-BCEE-7714C0598512}" type="presParOf" srcId="{4F8A0286-A8D9-4E4B-B980-C18313D4116B}" destId="{FD29CE1A-FB2C-4534-9B10-64D0528B5991}" srcOrd="0" destOrd="0" presId="urn:microsoft.com/office/officeart/2005/8/layout/hierarchy1"/>
    <dgm:cxn modelId="{8FB12E25-B2C2-4591-A625-EFFC2C831B9A}" type="presParOf" srcId="{FD29CE1A-FB2C-4534-9B10-64D0528B5991}" destId="{7D0DC589-7E46-401C-A6D6-3A449F0530C2}" srcOrd="0" destOrd="0" presId="urn:microsoft.com/office/officeart/2005/8/layout/hierarchy1"/>
    <dgm:cxn modelId="{D216590A-21E6-4C27-B539-DFD53639276A}" type="presParOf" srcId="{FD29CE1A-FB2C-4534-9B10-64D0528B5991}" destId="{B71CF17D-63FA-4B36-A375-7D575758CD2A}" srcOrd="1" destOrd="0" presId="urn:microsoft.com/office/officeart/2005/8/layout/hierarchy1"/>
    <dgm:cxn modelId="{671365DB-CBB5-4C60-A451-F10FC4B107E4}" type="presParOf" srcId="{4F8A0286-A8D9-4E4B-B980-C18313D4116B}" destId="{5B80A0E2-652B-45CB-A85B-FACCCF2864F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E21591-523B-499A-9F92-11BF7CC632F5}"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0CA8625-E1DA-469A-980F-E73129DAE7A3}">
      <dgm:prSet/>
      <dgm:spPr/>
      <dgm:t>
        <a:bodyPr/>
        <a:lstStyle/>
        <a:p>
          <a:r>
            <a:rPr lang="en-US">
              <a:latin typeface="Times New Roman" panose="02020603050405020304" pitchFamily="18" charset="0"/>
              <a:cs typeface="Times New Roman" panose="02020603050405020304" pitchFamily="18" charset="0"/>
            </a:rPr>
            <a:t>Fine-tuning is expensive</a:t>
          </a:r>
        </a:p>
      </dgm:t>
    </dgm:pt>
    <dgm:pt modelId="{D33CF0A3-8762-47B1-B182-7F33FAFECAB9}" type="parTrans" cxnId="{0F828C43-1860-4AC5-883A-E762C6A0CBAF}">
      <dgm:prSet/>
      <dgm:spPr/>
      <dgm:t>
        <a:bodyPr/>
        <a:lstStyle/>
        <a:p>
          <a:endParaRPr lang="en-US">
            <a:latin typeface="Times New Roman" panose="02020603050405020304" pitchFamily="18" charset="0"/>
            <a:cs typeface="Times New Roman" panose="02020603050405020304" pitchFamily="18" charset="0"/>
          </a:endParaRPr>
        </a:p>
      </dgm:t>
    </dgm:pt>
    <dgm:pt modelId="{CDFC44E6-2E28-4AB2-89B5-F2CE8B40A174}" type="sibTrans" cxnId="{0F828C43-1860-4AC5-883A-E762C6A0CBAF}">
      <dgm:prSet/>
      <dgm:spPr/>
      <dgm:t>
        <a:bodyPr/>
        <a:lstStyle/>
        <a:p>
          <a:endParaRPr lang="en-US">
            <a:latin typeface="Times New Roman" panose="02020603050405020304" pitchFamily="18" charset="0"/>
            <a:cs typeface="Times New Roman" panose="02020603050405020304" pitchFamily="18" charset="0"/>
          </a:endParaRPr>
        </a:p>
      </dgm:t>
    </dgm:pt>
    <dgm:pt modelId="{05FE20CB-85CD-487D-8835-A97015F2EB38}">
      <dgm:prSet/>
      <dgm:spPr/>
      <dgm:t>
        <a:bodyPr/>
        <a:lstStyle/>
        <a:p>
          <a:r>
            <a:rPr lang="en-US">
              <a:latin typeface="Times New Roman" panose="02020603050405020304" pitchFamily="18" charset="0"/>
              <a:cs typeface="Times New Roman" panose="02020603050405020304" pitchFamily="18" charset="0"/>
            </a:rPr>
            <a:t>Fine-tuning is time consuming</a:t>
          </a:r>
        </a:p>
      </dgm:t>
    </dgm:pt>
    <dgm:pt modelId="{905BF628-0593-41DE-A350-2AE044A89584}" type="parTrans" cxnId="{2084F4B4-C03A-46CA-AA86-CE1211C9FE6D}">
      <dgm:prSet/>
      <dgm:spPr/>
      <dgm:t>
        <a:bodyPr/>
        <a:lstStyle/>
        <a:p>
          <a:endParaRPr lang="en-US">
            <a:latin typeface="Times New Roman" panose="02020603050405020304" pitchFamily="18" charset="0"/>
            <a:cs typeface="Times New Roman" panose="02020603050405020304" pitchFamily="18" charset="0"/>
          </a:endParaRPr>
        </a:p>
      </dgm:t>
    </dgm:pt>
    <dgm:pt modelId="{AE35B019-5FE3-42CF-A1F7-D540A70C5F4F}" type="sibTrans" cxnId="{2084F4B4-C03A-46CA-AA86-CE1211C9FE6D}">
      <dgm:prSet/>
      <dgm:spPr/>
      <dgm:t>
        <a:bodyPr/>
        <a:lstStyle/>
        <a:p>
          <a:endParaRPr lang="en-US">
            <a:latin typeface="Times New Roman" panose="02020603050405020304" pitchFamily="18" charset="0"/>
            <a:cs typeface="Times New Roman" panose="02020603050405020304" pitchFamily="18" charset="0"/>
          </a:endParaRPr>
        </a:p>
      </dgm:t>
    </dgm:pt>
    <dgm:pt modelId="{CBADDCC2-29AE-41B1-8B38-A9D3FD0635E2}">
      <dgm:prSet/>
      <dgm:spPr/>
      <dgm:t>
        <a:bodyPr/>
        <a:lstStyle/>
        <a:p>
          <a:r>
            <a:rPr lang="en-US">
              <a:latin typeface="Times New Roman" panose="02020603050405020304" pitchFamily="18" charset="0"/>
              <a:cs typeface="Times New Roman" panose="02020603050405020304" pitchFamily="18" charset="0"/>
            </a:rPr>
            <a:t>Knowledge of LLMs is out of date</a:t>
          </a:r>
        </a:p>
      </dgm:t>
    </dgm:pt>
    <dgm:pt modelId="{558E6BAF-80EC-47C1-A8E0-B35ED011FB6A}" type="parTrans" cxnId="{385DCFB5-2C8C-44EA-9BAD-14CFB9B5D645}">
      <dgm:prSet/>
      <dgm:spPr/>
      <dgm:t>
        <a:bodyPr/>
        <a:lstStyle/>
        <a:p>
          <a:endParaRPr lang="en-US">
            <a:latin typeface="Times New Roman" panose="02020603050405020304" pitchFamily="18" charset="0"/>
            <a:cs typeface="Times New Roman" panose="02020603050405020304" pitchFamily="18" charset="0"/>
          </a:endParaRPr>
        </a:p>
      </dgm:t>
    </dgm:pt>
    <dgm:pt modelId="{70B5F2F7-703E-4E2B-BFC1-4867AD3572B8}" type="sibTrans" cxnId="{385DCFB5-2C8C-44EA-9BAD-14CFB9B5D645}">
      <dgm:prSet/>
      <dgm:spPr/>
      <dgm:t>
        <a:bodyPr/>
        <a:lstStyle/>
        <a:p>
          <a:endParaRPr lang="en-US">
            <a:latin typeface="Times New Roman" panose="02020603050405020304" pitchFamily="18" charset="0"/>
            <a:cs typeface="Times New Roman" panose="02020603050405020304" pitchFamily="18" charset="0"/>
          </a:endParaRPr>
        </a:p>
      </dgm:t>
    </dgm:pt>
    <dgm:pt modelId="{72237094-EB0D-420A-9021-1341B9C0B680}">
      <dgm:prSet/>
      <dgm:spPr/>
      <dgm:t>
        <a:bodyPr/>
        <a:lstStyle/>
        <a:p>
          <a:r>
            <a:rPr lang="en-US">
              <a:latin typeface="Times New Roman" panose="02020603050405020304" pitchFamily="18" charset="0"/>
              <a:cs typeface="Times New Roman" panose="02020603050405020304" pitchFamily="18" charset="0"/>
            </a:rPr>
            <a:t>RAG is pluggable</a:t>
          </a:r>
        </a:p>
      </dgm:t>
    </dgm:pt>
    <dgm:pt modelId="{131FAF89-692D-4C68-ADEC-5A2625605060}" type="parTrans" cxnId="{EEA3C4B8-EACD-4367-80DF-5E7574AC0C7E}">
      <dgm:prSet/>
      <dgm:spPr/>
      <dgm:t>
        <a:bodyPr/>
        <a:lstStyle/>
        <a:p>
          <a:endParaRPr lang="en-US">
            <a:latin typeface="Times New Roman" panose="02020603050405020304" pitchFamily="18" charset="0"/>
            <a:cs typeface="Times New Roman" panose="02020603050405020304" pitchFamily="18" charset="0"/>
          </a:endParaRPr>
        </a:p>
      </dgm:t>
    </dgm:pt>
    <dgm:pt modelId="{74D20BA9-91FE-467F-A67F-D3AA992ACD6A}" type="sibTrans" cxnId="{EEA3C4B8-EACD-4367-80DF-5E7574AC0C7E}">
      <dgm:prSet/>
      <dgm:spPr/>
      <dgm:t>
        <a:bodyPr/>
        <a:lstStyle/>
        <a:p>
          <a:endParaRPr lang="en-US">
            <a:latin typeface="Times New Roman" panose="02020603050405020304" pitchFamily="18" charset="0"/>
            <a:cs typeface="Times New Roman" panose="02020603050405020304" pitchFamily="18" charset="0"/>
          </a:endParaRPr>
        </a:p>
      </dgm:t>
    </dgm:pt>
    <dgm:pt modelId="{E4A1E3AD-4C1A-4AA7-9799-203E766A5E83}" type="pres">
      <dgm:prSet presAssocID="{0BE21591-523B-499A-9F92-11BF7CC632F5}" presName="hierChild1" presStyleCnt="0">
        <dgm:presLayoutVars>
          <dgm:chPref val="1"/>
          <dgm:dir/>
          <dgm:animOne val="branch"/>
          <dgm:animLvl val="lvl"/>
          <dgm:resizeHandles/>
        </dgm:presLayoutVars>
      </dgm:prSet>
      <dgm:spPr/>
    </dgm:pt>
    <dgm:pt modelId="{5C47CB48-9502-4348-8EB2-26BABE5FE32B}" type="pres">
      <dgm:prSet presAssocID="{A0CA8625-E1DA-469A-980F-E73129DAE7A3}" presName="hierRoot1" presStyleCnt="0"/>
      <dgm:spPr/>
    </dgm:pt>
    <dgm:pt modelId="{8F32D777-5A16-455F-817C-658438CAD98D}" type="pres">
      <dgm:prSet presAssocID="{A0CA8625-E1DA-469A-980F-E73129DAE7A3}" presName="composite" presStyleCnt="0"/>
      <dgm:spPr/>
    </dgm:pt>
    <dgm:pt modelId="{CAE06349-ABA5-4F3E-B21D-CAA720EE1CEF}" type="pres">
      <dgm:prSet presAssocID="{A0CA8625-E1DA-469A-980F-E73129DAE7A3}" presName="background" presStyleLbl="node0" presStyleIdx="0" presStyleCnt="4"/>
      <dgm:spPr/>
    </dgm:pt>
    <dgm:pt modelId="{34F92CB0-16CE-4B9B-B674-CA79BC61B5C8}" type="pres">
      <dgm:prSet presAssocID="{A0CA8625-E1DA-469A-980F-E73129DAE7A3}" presName="text" presStyleLbl="fgAcc0" presStyleIdx="0" presStyleCnt="4">
        <dgm:presLayoutVars>
          <dgm:chPref val="3"/>
        </dgm:presLayoutVars>
      </dgm:prSet>
      <dgm:spPr/>
    </dgm:pt>
    <dgm:pt modelId="{7F97F745-4410-41B7-A281-AB18891A45AB}" type="pres">
      <dgm:prSet presAssocID="{A0CA8625-E1DA-469A-980F-E73129DAE7A3}" presName="hierChild2" presStyleCnt="0"/>
      <dgm:spPr/>
    </dgm:pt>
    <dgm:pt modelId="{37A5D39D-26FE-4DDF-B0A7-BFB87D219531}" type="pres">
      <dgm:prSet presAssocID="{05FE20CB-85CD-487D-8835-A97015F2EB38}" presName="hierRoot1" presStyleCnt="0"/>
      <dgm:spPr/>
    </dgm:pt>
    <dgm:pt modelId="{CE609DC4-7F38-44F7-9348-37660D2B12B5}" type="pres">
      <dgm:prSet presAssocID="{05FE20CB-85CD-487D-8835-A97015F2EB38}" presName="composite" presStyleCnt="0"/>
      <dgm:spPr/>
    </dgm:pt>
    <dgm:pt modelId="{03A8EB06-1A1E-428B-9512-749EA2779ED5}" type="pres">
      <dgm:prSet presAssocID="{05FE20CB-85CD-487D-8835-A97015F2EB38}" presName="background" presStyleLbl="node0" presStyleIdx="1" presStyleCnt="4"/>
      <dgm:spPr/>
    </dgm:pt>
    <dgm:pt modelId="{5812206A-CC45-4BC8-8410-8884C6F7446E}" type="pres">
      <dgm:prSet presAssocID="{05FE20CB-85CD-487D-8835-A97015F2EB38}" presName="text" presStyleLbl="fgAcc0" presStyleIdx="1" presStyleCnt="4">
        <dgm:presLayoutVars>
          <dgm:chPref val="3"/>
        </dgm:presLayoutVars>
      </dgm:prSet>
      <dgm:spPr/>
    </dgm:pt>
    <dgm:pt modelId="{CB3FD50E-6E2F-4787-8F38-CF8B255B11BE}" type="pres">
      <dgm:prSet presAssocID="{05FE20CB-85CD-487D-8835-A97015F2EB38}" presName="hierChild2" presStyleCnt="0"/>
      <dgm:spPr/>
    </dgm:pt>
    <dgm:pt modelId="{1DFD6206-49D0-476D-83F4-2204558B1C4F}" type="pres">
      <dgm:prSet presAssocID="{CBADDCC2-29AE-41B1-8B38-A9D3FD0635E2}" presName="hierRoot1" presStyleCnt="0"/>
      <dgm:spPr/>
    </dgm:pt>
    <dgm:pt modelId="{C9ABC494-9A35-401D-8EB2-0243DB9831B9}" type="pres">
      <dgm:prSet presAssocID="{CBADDCC2-29AE-41B1-8B38-A9D3FD0635E2}" presName="composite" presStyleCnt="0"/>
      <dgm:spPr/>
    </dgm:pt>
    <dgm:pt modelId="{A624ED80-6F32-4D6D-905F-F07AE9DAC757}" type="pres">
      <dgm:prSet presAssocID="{CBADDCC2-29AE-41B1-8B38-A9D3FD0635E2}" presName="background" presStyleLbl="node0" presStyleIdx="2" presStyleCnt="4"/>
      <dgm:spPr/>
    </dgm:pt>
    <dgm:pt modelId="{5133A05E-F5E2-40EC-835A-ACD9E1FCF1FC}" type="pres">
      <dgm:prSet presAssocID="{CBADDCC2-29AE-41B1-8B38-A9D3FD0635E2}" presName="text" presStyleLbl="fgAcc0" presStyleIdx="2" presStyleCnt="4">
        <dgm:presLayoutVars>
          <dgm:chPref val="3"/>
        </dgm:presLayoutVars>
      </dgm:prSet>
      <dgm:spPr/>
    </dgm:pt>
    <dgm:pt modelId="{8CBBD640-73C5-477F-99FD-F796C405E79D}" type="pres">
      <dgm:prSet presAssocID="{CBADDCC2-29AE-41B1-8B38-A9D3FD0635E2}" presName="hierChild2" presStyleCnt="0"/>
      <dgm:spPr/>
    </dgm:pt>
    <dgm:pt modelId="{938C7D82-F04F-4163-A8F5-B56F1D90711E}" type="pres">
      <dgm:prSet presAssocID="{72237094-EB0D-420A-9021-1341B9C0B680}" presName="hierRoot1" presStyleCnt="0"/>
      <dgm:spPr/>
    </dgm:pt>
    <dgm:pt modelId="{691FEEB2-35AF-4F01-B081-E9C1FD3DAB69}" type="pres">
      <dgm:prSet presAssocID="{72237094-EB0D-420A-9021-1341B9C0B680}" presName="composite" presStyleCnt="0"/>
      <dgm:spPr/>
    </dgm:pt>
    <dgm:pt modelId="{DFA67267-2845-41A8-A4A2-B7C889731EBF}" type="pres">
      <dgm:prSet presAssocID="{72237094-EB0D-420A-9021-1341B9C0B680}" presName="background" presStyleLbl="node0" presStyleIdx="3" presStyleCnt="4"/>
      <dgm:spPr/>
    </dgm:pt>
    <dgm:pt modelId="{C125B844-8364-43A5-B194-F9940F383942}" type="pres">
      <dgm:prSet presAssocID="{72237094-EB0D-420A-9021-1341B9C0B680}" presName="text" presStyleLbl="fgAcc0" presStyleIdx="3" presStyleCnt="4">
        <dgm:presLayoutVars>
          <dgm:chPref val="3"/>
        </dgm:presLayoutVars>
      </dgm:prSet>
      <dgm:spPr/>
    </dgm:pt>
    <dgm:pt modelId="{97D2E8EA-8981-4242-82D9-5E2C66329C15}" type="pres">
      <dgm:prSet presAssocID="{72237094-EB0D-420A-9021-1341B9C0B680}" presName="hierChild2" presStyleCnt="0"/>
      <dgm:spPr/>
    </dgm:pt>
  </dgm:ptLst>
  <dgm:cxnLst>
    <dgm:cxn modelId="{F6F9DF5C-1337-4FE8-B2D1-34839C9E1C84}" type="presOf" srcId="{CBADDCC2-29AE-41B1-8B38-A9D3FD0635E2}" destId="{5133A05E-F5E2-40EC-835A-ACD9E1FCF1FC}" srcOrd="0" destOrd="0" presId="urn:microsoft.com/office/officeart/2005/8/layout/hierarchy1"/>
    <dgm:cxn modelId="{0F828C43-1860-4AC5-883A-E762C6A0CBAF}" srcId="{0BE21591-523B-499A-9F92-11BF7CC632F5}" destId="{A0CA8625-E1DA-469A-980F-E73129DAE7A3}" srcOrd="0" destOrd="0" parTransId="{D33CF0A3-8762-47B1-B182-7F33FAFECAB9}" sibTransId="{CDFC44E6-2E28-4AB2-89B5-F2CE8B40A174}"/>
    <dgm:cxn modelId="{CD6ACD6C-24D7-4731-8410-6D3B68ECE584}" type="presOf" srcId="{05FE20CB-85CD-487D-8835-A97015F2EB38}" destId="{5812206A-CC45-4BC8-8410-8884C6F7446E}" srcOrd="0" destOrd="0" presId="urn:microsoft.com/office/officeart/2005/8/layout/hierarchy1"/>
    <dgm:cxn modelId="{4A52537F-99EC-4BDD-8FD7-BF1C9024CB0B}" type="presOf" srcId="{72237094-EB0D-420A-9021-1341B9C0B680}" destId="{C125B844-8364-43A5-B194-F9940F383942}" srcOrd="0" destOrd="0" presId="urn:microsoft.com/office/officeart/2005/8/layout/hierarchy1"/>
    <dgm:cxn modelId="{2084F4B4-C03A-46CA-AA86-CE1211C9FE6D}" srcId="{0BE21591-523B-499A-9F92-11BF7CC632F5}" destId="{05FE20CB-85CD-487D-8835-A97015F2EB38}" srcOrd="1" destOrd="0" parTransId="{905BF628-0593-41DE-A350-2AE044A89584}" sibTransId="{AE35B019-5FE3-42CF-A1F7-D540A70C5F4F}"/>
    <dgm:cxn modelId="{385DCFB5-2C8C-44EA-9BAD-14CFB9B5D645}" srcId="{0BE21591-523B-499A-9F92-11BF7CC632F5}" destId="{CBADDCC2-29AE-41B1-8B38-A9D3FD0635E2}" srcOrd="2" destOrd="0" parTransId="{558E6BAF-80EC-47C1-A8E0-B35ED011FB6A}" sibTransId="{70B5F2F7-703E-4E2B-BFC1-4867AD3572B8}"/>
    <dgm:cxn modelId="{EEA3C4B8-EACD-4367-80DF-5E7574AC0C7E}" srcId="{0BE21591-523B-499A-9F92-11BF7CC632F5}" destId="{72237094-EB0D-420A-9021-1341B9C0B680}" srcOrd="3" destOrd="0" parTransId="{131FAF89-692D-4C68-ADEC-5A2625605060}" sibTransId="{74D20BA9-91FE-467F-A67F-D3AA992ACD6A}"/>
    <dgm:cxn modelId="{70BA72DA-0C77-42D7-9CFF-137FCC7A058E}" type="presOf" srcId="{0BE21591-523B-499A-9F92-11BF7CC632F5}" destId="{E4A1E3AD-4C1A-4AA7-9799-203E766A5E83}" srcOrd="0" destOrd="0" presId="urn:microsoft.com/office/officeart/2005/8/layout/hierarchy1"/>
    <dgm:cxn modelId="{CC6868EF-B818-4677-A3A7-141DDFCE5D35}" type="presOf" srcId="{A0CA8625-E1DA-469A-980F-E73129DAE7A3}" destId="{34F92CB0-16CE-4B9B-B674-CA79BC61B5C8}" srcOrd="0" destOrd="0" presId="urn:microsoft.com/office/officeart/2005/8/layout/hierarchy1"/>
    <dgm:cxn modelId="{1E2D21E9-B5FD-42B9-A1B7-E885DD0C2B8D}" type="presParOf" srcId="{E4A1E3AD-4C1A-4AA7-9799-203E766A5E83}" destId="{5C47CB48-9502-4348-8EB2-26BABE5FE32B}" srcOrd="0" destOrd="0" presId="urn:microsoft.com/office/officeart/2005/8/layout/hierarchy1"/>
    <dgm:cxn modelId="{C686B397-3D31-44A0-8605-E6308F952D00}" type="presParOf" srcId="{5C47CB48-9502-4348-8EB2-26BABE5FE32B}" destId="{8F32D777-5A16-455F-817C-658438CAD98D}" srcOrd="0" destOrd="0" presId="urn:microsoft.com/office/officeart/2005/8/layout/hierarchy1"/>
    <dgm:cxn modelId="{93E21F52-CFFF-42A8-B318-1C897FE84E40}" type="presParOf" srcId="{8F32D777-5A16-455F-817C-658438CAD98D}" destId="{CAE06349-ABA5-4F3E-B21D-CAA720EE1CEF}" srcOrd="0" destOrd="0" presId="urn:microsoft.com/office/officeart/2005/8/layout/hierarchy1"/>
    <dgm:cxn modelId="{D5FCAEF3-D73D-408D-B297-0C99DF6CF97A}" type="presParOf" srcId="{8F32D777-5A16-455F-817C-658438CAD98D}" destId="{34F92CB0-16CE-4B9B-B674-CA79BC61B5C8}" srcOrd="1" destOrd="0" presId="urn:microsoft.com/office/officeart/2005/8/layout/hierarchy1"/>
    <dgm:cxn modelId="{146FF793-F456-4268-AA73-208EDC75FD0F}" type="presParOf" srcId="{5C47CB48-9502-4348-8EB2-26BABE5FE32B}" destId="{7F97F745-4410-41B7-A281-AB18891A45AB}" srcOrd="1" destOrd="0" presId="urn:microsoft.com/office/officeart/2005/8/layout/hierarchy1"/>
    <dgm:cxn modelId="{3C432754-1930-4328-9184-FD9E683A7410}" type="presParOf" srcId="{E4A1E3AD-4C1A-4AA7-9799-203E766A5E83}" destId="{37A5D39D-26FE-4DDF-B0A7-BFB87D219531}" srcOrd="1" destOrd="0" presId="urn:microsoft.com/office/officeart/2005/8/layout/hierarchy1"/>
    <dgm:cxn modelId="{0CF2DB5D-6ED2-4BED-8CD4-F1EF4BB48801}" type="presParOf" srcId="{37A5D39D-26FE-4DDF-B0A7-BFB87D219531}" destId="{CE609DC4-7F38-44F7-9348-37660D2B12B5}" srcOrd="0" destOrd="0" presId="urn:microsoft.com/office/officeart/2005/8/layout/hierarchy1"/>
    <dgm:cxn modelId="{7DF8B7B1-3189-4FB7-98DA-6ADD657416F3}" type="presParOf" srcId="{CE609DC4-7F38-44F7-9348-37660D2B12B5}" destId="{03A8EB06-1A1E-428B-9512-749EA2779ED5}" srcOrd="0" destOrd="0" presId="urn:microsoft.com/office/officeart/2005/8/layout/hierarchy1"/>
    <dgm:cxn modelId="{491E0B15-F238-41E0-A161-2341E61CF90E}" type="presParOf" srcId="{CE609DC4-7F38-44F7-9348-37660D2B12B5}" destId="{5812206A-CC45-4BC8-8410-8884C6F7446E}" srcOrd="1" destOrd="0" presId="urn:microsoft.com/office/officeart/2005/8/layout/hierarchy1"/>
    <dgm:cxn modelId="{7A22FE8F-3652-44F0-9BCC-7D897A272C27}" type="presParOf" srcId="{37A5D39D-26FE-4DDF-B0A7-BFB87D219531}" destId="{CB3FD50E-6E2F-4787-8F38-CF8B255B11BE}" srcOrd="1" destOrd="0" presId="urn:microsoft.com/office/officeart/2005/8/layout/hierarchy1"/>
    <dgm:cxn modelId="{2526F9DA-29BA-48A6-BB1A-5A33079C049D}" type="presParOf" srcId="{E4A1E3AD-4C1A-4AA7-9799-203E766A5E83}" destId="{1DFD6206-49D0-476D-83F4-2204558B1C4F}" srcOrd="2" destOrd="0" presId="urn:microsoft.com/office/officeart/2005/8/layout/hierarchy1"/>
    <dgm:cxn modelId="{7144F023-3025-41E9-88E1-5DF42404F85B}" type="presParOf" srcId="{1DFD6206-49D0-476D-83F4-2204558B1C4F}" destId="{C9ABC494-9A35-401D-8EB2-0243DB9831B9}" srcOrd="0" destOrd="0" presId="urn:microsoft.com/office/officeart/2005/8/layout/hierarchy1"/>
    <dgm:cxn modelId="{3CD5DF4B-DB3A-452A-B60F-D55CB2C48764}" type="presParOf" srcId="{C9ABC494-9A35-401D-8EB2-0243DB9831B9}" destId="{A624ED80-6F32-4D6D-905F-F07AE9DAC757}" srcOrd="0" destOrd="0" presId="urn:microsoft.com/office/officeart/2005/8/layout/hierarchy1"/>
    <dgm:cxn modelId="{20B6F84E-C3EB-4C0F-AA0C-2A00D2216462}" type="presParOf" srcId="{C9ABC494-9A35-401D-8EB2-0243DB9831B9}" destId="{5133A05E-F5E2-40EC-835A-ACD9E1FCF1FC}" srcOrd="1" destOrd="0" presId="urn:microsoft.com/office/officeart/2005/8/layout/hierarchy1"/>
    <dgm:cxn modelId="{3D953B84-1013-4050-B2F5-7A5598680CC8}" type="presParOf" srcId="{1DFD6206-49D0-476D-83F4-2204558B1C4F}" destId="{8CBBD640-73C5-477F-99FD-F796C405E79D}" srcOrd="1" destOrd="0" presId="urn:microsoft.com/office/officeart/2005/8/layout/hierarchy1"/>
    <dgm:cxn modelId="{A84624A4-E449-45EE-8F9C-55EE469DBA6A}" type="presParOf" srcId="{E4A1E3AD-4C1A-4AA7-9799-203E766A5E83}" destId="{938C7D82-F04F-4163-A8F5-B56F1D90711E}" srcOrd="3" destOrd="0" presId="urn:microsoft.com/office/officeart/2005/8/layout/hierarchy1"/>
    <dgm:cxn modelId="{63B70CCB-B6F0-45EB-85D8-70F6EDF61966}" type="presParOf" srcId="{938C7D82-F04F-4163-A8F5-B56F1D90711E}" destId="{691FEEB2-35AF-4F01-B081-E9C1FD3DAB69}" srcOrd="0" destOrd="0" presId="urn:microsoft.com/office/officeart/2005/8/layout/hierarchy1"/>
    <dgm:cxn modelId="{E6A5D141-9E37-47B6-A2EC-26F310D3EBD1}" type="presParOf" srcId="{691FEEB2-35AF-4F01-B081-E9C1FD3DAB69}" destId="{DFA67267-2845-41A8-A4A2-B7C889731EBF}" srcOrd="0" destOrd="0" presId="urn:microsoft.com/office/officeart/2005/8/layout/hierarchy1"/>
    <dgm:cxn modelId="{525CEE2C-9D28-4D54-87E9-8DAC0AFC7765}" type="presParOf" srcId="{691FEEB2-35AF-4F01-B081-E9C1FD3DAB69}" destId="{C125B844-8364-43A5-B194-F9940F383942}" srcOrd="1" destOrd="0" presId="urn:microsoft.com/office/officeart/2005/8/layout/hierarchy1"/>
    <dgm:cxn modelId="{CC9956D6-8B25-47BB-A655-97ED1D956C4E}" type="presParOf" srcId="{938C7D82-F04F-4163-A8F5-B56F1D90711E}" destId="{97D2E8EA-8981-4242-82D9-5E2C66329C1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6343543-FB8A-4522-9E96-DBF150B6CDB6}" type="doc">
      <dgm:prSet loTypeId="urn:microsoft.com/office/officeart/2008/layout/VerticalCurvedList" loCatId="list" qsTypeId="urn:microsoft.com/office/officeart/2005/8/quickstyle/simple1" qsCatId="simple" csTypeId="urn:microsoft.com/office/officeart/2005/8/colors/accent1_3" csCatId="accent1" phldr="1"/>
      <dgm:spPr/>
      <dgm:t>
        <a:bodyPr/>
        <a:lstStyle/>
        <a:p>
          <a:endParaRPr lang="en-US"/>
        </a:p>
      </dgm:t>
    </dgm:pt>
    <dgm:pt modelId="{91659746-0176-4A1A-BDD3-88F20AD33CE5}">
      <dgm:prSet phldrT="[Text]" phldr="0"/>
      <dgm:spPr/>
      <dgm:t>
        <a:bodyPr/>
        <a:lstStyle/>
        <a:p>
          <a:r>
            <a:rPr lang="en-US" dirty="0"/>
            <a:t>Environment</a:t>
          </a:r>
        </a:p>
      </dgm:t>
    </dgm:pt>
    <dgm:pt modelId="{EA57438F-C02C-48FD-ACE8-D1F0DBB96292}" type="parTrans" cxnId="{5B0C5D6B-7A74-4CC2-A323-9949E0F537F7}">
      <dgm:prSet/>
      <dgm:spPr/>
      <dgm:t>
        <a:bodyPr/>
        <a:lstStyle/>
        <a:p>
          <a:endParaRPr lang="en-US"/>
        </a:p>
      </dgm:t>
    </dgm:pt>
    <dgm:pt modelId="{DD66777B-47AB-4179-8AFE-E6827C555F8F}" type="sibTrans" cxnId="{5B0C5D6B-7A74-4CC2-A323-9949E0F537F7}">
      <dgm:prSet/>
      <dgm:spPr/>
      <dgm:t>
        <a:bodyPr/>
        <a:lstStyle/>
        <a:p>
          <a:endParaRPr lang="en-US"/>
        </a:p>
      </dgm:t>
    </dgm:pt>
    <dgm:pt modelId="{A2283EE8-13C8-484E-A5BF-D659B46B3379}">
      <dgm:prSet phldrT="[Text]" phldr="0"/>
      <dgm:spPr/>
      <dgm:t>
        <a:bodyPr/>
        <a:lstStyle/>
        <a:p>
          <a:r>
            <a:rPr lang="en-US" dirty="0"/>
            <a:t>Embedding and Vector DB</a:t>
          </a:r>
        </a:p>
      </dgm:t>
    </dgm:pt>
    <dgm:pt modelId="{061C7F5B-5D24-4729-A649-E86C5B6DA706}" type="parTrans" cxnId="{329791C1-AB2B-4CCA-A658-9B36AA2DFB49}">
      <dgm:prSet/>
      <dgm:spPr/>
      <dgm:t>
        <a:bodyPr/>
        <a:lstStyle/>
        <a:p>
          <a:endParaRPr lang="en-US"/>
        </a:p>
      </dgm:t>
    </dgm:pt>
    <dgm:pt modelId="{3511C390-6E4D-41C0-8AE5-396AAC8E8B32}" type="sibTrans" cxnId="{329791C1-AB2B-4CCA-A658-9B36AA2DFB49}">
      <dgm:prSet/>
      <dgm:spPr/>
      <dgm:t>
        <a:bodyPr/>
        <a:lstStyle/>
        <a:p>
          <a:endParaRPr lang="en-US"/>
        </a:p>
      </dgm:t>
    </dgm:pt>
    <dgm:pt modelId="{22DF4192-5F65-4B9E-95D4-E2BFDF981D94}">
      <dgm:prSet phldrT="[Text]" phldr="0"/>
      <dgm:spPr/>
      <dgm:t>
        <a:bodyPr/>
        <a:lstStyle/>
        <a:p>
          <a:r>
            <a:rPr lang="en-US" dirty="0"/>
            <a:t>Set up the Retriever</a:t>
          </a:r>
        </a:p>
      </dgm:t>
    </dgm:pt>
    <dgm:pt modelId="{55B7AE6D-C417-42AB-985D-B58268DF31B5}" type="parTrans" cxnId="{C8F35DE4-E4FE-4004-A58C-7B18FA09575C}">
      <dgm:prSet/>
      <dgm:spPr/>
      <dgm:t>
        <a:bodyPr/>
        <a:lstStyle/>
        <a:p>
          <a:endParaRPr lang="en-US"/>
        </a:p>
      </dgm:t>
    </dgm:pt>
    <dgm:pt modelId="{40E1CF06-CD90-4738-AE62-9E14B0E265C5}" type="sibTrans" cxnId="{C8F35DE4-E4FE-4004-A58C-7B18FA09575C}">
      <dgm:prSet/>
      <dgm:spPr/>
      <dgm:t>
        <a:bodyPr/>
        <a:lstStyle/>
        <a:p>
          <a:endParaRPr lang="en-US"/>
        </a:p>
      </dgm:t>
    </dgm:pt>
    <dgm:pt modelId="{F873E3CD-DB08-4191-9D52-1BD0A1DDAB1F}">
      <dgm:prSet phldrT="[Text]" phldr="0"/>
      <dgm:spPr/>
      <dgm:t>
        <a:bodyPr/>
        <a:lstStyle/>
        <a:p>
          <a:r>
            <a:rPr lang="en-US" b="0" dirty="0"/>
            <a:t>Build the RAG pipeline</a:t>
          </a:r>
          <a:endParaRPr lang="en-US" dirty="0"/>
        </a:p>
      </dgm:t>
    </dgm:pt>
    <dgm:pt modelId="{1FC1A1FB-132C-4EE7-BF1A-63DB6E2F007A}" type="parTrans" cxnId="{E6C09A39-5462-492B-BC40-4E3C46CDF9CF}">
      <dgm:prSet/>
      <dgm:spPr/>
      <dgm:t>
        <a:bodyPr/>
        <a:lstStyle/>
        <a:p>
          <a:endParaRPr lang="en-US"/>
        </a:p>
      </dgm:t>
    </dgm:pt>
    <dgm:pt modelId="{D8350267-C130-45ED-AA2E-E64D1FE6C845}" type="sibTrans" cxnId="{E6C09A39-5462-492B-BC40-4E3C46CDF9CF}">
      <dgm:prSet/>
      <dgm:spPr/>
      <dgm:t>
        <a:bodyPr/>
        <a:lstStyle/>
        <a:p>
          <a:endParaRPr lang="en-US"/>
        </a:p>
      </dgm:t>
    </dgm:pt>
    <dgm:pt modelId="{0FE9FC84-B10D-49C5-92E9-AC899F9B7A2C}">
      <dgm:prSet phldrT="[Text]" phldr="0"/>
      <dgm:spPr/>
      <dgm:t>
        <a:bodyPr/>
        <a:lstStyle/>
        <a:p>
          <a:r>
            <a:rPr lang="en-US" dirty="0"/>
            <a:t>Preprocessing the document</a:t>
          </a:r>
        </a:p>
      </dgm:t>
    </dgm:pt>
    <dgm:pt modelId="{8F504437-6254-4136-AB08-9C2106FD59FA}" type="parTrans" cxnId="{DCF45FCF-6129-430F-A1EE-3346C5278A8C}">
      <dgm:prSet/>
      <dgm:spPr/>
      <dgm:t>
        <a:bodyPr/>
        <a:lstStyle/>
        <a:p>
          <a:endParaRPr lang="en-US"/>
        </a:p>
      </dgm:t>
    </dgm:pt>
    <dgm:pt modelId="{A48DCD5B-ECDA-43C0-AC87-1840FE2DBF1C}" type="sibTrans" cxnId="{DCF45FCF-6129-430F-A1EE-3346C5278A8C}">
      <dgm:prSet/>
      <dgm:spPr/>
      <dgm:t>
        <a:bodyPr/>
        <a:lstStyle/>
        <a:p>
          <a:endParaRPr lang="en-US"/>
        </a:p>
      </dgm:t>
    </dgm:pt>
    <dgm:pt modelId="{06ADFFE5-803E-43A5-A300-909A8150E037}">
      <dgm:prSet phldrT="[Text]" phldr="0"/>
      <dgm:spPr/>
      <dgm:t>
        <a:bodyPr/>
        <a:lstStyle/>
        <a:p>
          <a:r>
            <a:rPr lang="en-US" dirty="0"/>
            <a:t>Prepare the Knowledge Base </a:t>
          </a:r>
        </a:p>
      </dgm:t>
    </dgm:pt>
    <dgm:pt modelId="{D2E18448-056F-4B0D-928D-210CE6594DA1}" type="parTrans" cxnId="{518EC4E7-1D7D-4FD8-B6F2-FB81853732C3}">
      <dgm:prSet/>
      <dgm:spPr/>
      <dgm:t>
        <a:bodyPr/>
        <a:lstStyle/>
        <a:p>
          <a:endParaRPr lang="en-US"/>
        </a:p>
      </dgm:t>
    </dgm:pt>
    <dgm:pt modelId="{1E291D0B-59CF-4D84-917F-D86075EA7045}" type="sibTrans" cxnId="{518EC4E7-1D7D-4FD8-B6F2-FB81853732C3}">
      <dgm:prSet/>
      <dgm:spPr/>
      <dgm:t>
        <a:bodyPr/>
        <a:lstStyle/>
        <a:p>
          <a:endParaRPr lang="en-US"/>
        </a:p>
      </dgm:t>
    </dgm:pt>
    <dgm:pt modelId="{E7DFFDC4-37DB-46FA-BA02-D0EB27D8CD74}">
      <dgm:prSet phldrT="[Text]" phldr="0"/>
      <dgm:spPr/>
      <dgm:t>
        <a:bodyPr/>
        <a:lstStyle/>
        <a:p>
          <a:r>
            <a:rPr lang="en-US" dirty="0"/>
            <a:t>Model and Tokenizer</a:t>
          </a:r>
        </a:p>
      </dgm:t>
    </dgm:pt>
    <dgm:pt modelId="{514BB410-ABD6-489D-8DC0-9DB54C1575D7}" type="parTrans" cxnId="{DB59C537-0C31-491C-B0BF-2EEA1823504A}">
      <dgm:prSet/>
      <dgm:spPr/>
      <dgm:t>
        <a:bodyPr/>
        <a:lstStyle/>
        <a:p>
          <a:endParaRPr lang="en-US"/>
        </a:p>
      </dgm:t>
    </dgm:pt>
    <dgm:pt modelId="{6653AE59-C2E4-46A4-82BD-D26BF2E5EA67}" type="sibTrans" cxnId="{DB59C537-0C31-491C-B0BF-2EEA1823504A}">
      <dgm:prSet/>
      <dgm:spPr/>
      <dgm:t>
        <a:bodyPr/>
        <a:lstStyle/>
        <a:p>
          <a:endParaRPr lang="en-US"/>
        </a:p>
      </dgm:t>
    </dgm:pt>
    <dgm:pt modelId="{989182AB-1CAD-4A26-8F48-0478C82062F9}" type="pres">
      <dgm:prSet presAssocID="{A6343543-FB8A-4522-9E96-DBF150B6CDB6}" presName="Name0" presStyleCnt="0">
        <dgm:presLayoutVars>
          <dgm:chMax val="7"/>
          <dgm:chPref val="7"/>
          <dgm:dir/>
        </dgm:presLayoutVars>
      </dgm:prSet>
      <dgm:spPr/>
    </dgm:pt>
    <dgm:pt modelId="{AE16BE68-B1A5-4DEF-B6C9-146447CF076F}" type="pres">
      <dgm:prSet presAssocID="{A6343543-FB8A-4522-9E96-DBF150B6CDB6}" presName="Name1" presStyleCnt="0"/>
      <dgm:spPr/>
    </dgm:pt>
    <dgm:pt modelId="{EA5711F2-59B1-4312-AEE2-0DC9146875D4}" type="pres">
      <dgm:prSet presAssocID="{A6343543-FB8A-4522-9E96-DBF150B6CDB6}" presName="cycle" presStyleCnt="0"/>
      <dgm:spPr/>
    </dgm:pt>
    <dgm:pt modelId="{70B96F17-FEBF-4C66-BD44-33EA048D39EE}" type="pres">
      <dgm:prSet presAssocID="{A6343543-FB8A-4522-9E96-DBF150B6CDB6}" presName="srcNode" presStyleLbl="node1" presStyleIdx="0" presStyleCnt="7"/>
      <dgm:spPr/>
    </dgm:pt>
    <dgm:pt modelId="{BA92C969-B6C6-45D0-9D99-D592CBBF6AE5}" type="pres">
      <dgm:prSet presAssocID="{A6343543-FB8A-4522-9E96-DBF150B6CDB6}" presName="conn" presStyleLbl="parChTrans1D2" presStyleIdx="0" presStyleCnt="1"/>
      <dgm:spPr/>
    </dgm:pt>
    <dgm:pt modelId="{BED34F30-05C9-43E6-8C76-CF09BDB60559}" type="pres">
      <dgm:prSet presAssocID="{A6343543-FB8A-4522-9E96-DBF150B6CDB6}" presName="extraNode" presStyleLbl="node1" presStyleIdx="0" presStyleCnt="7"/>
      <dgm:spPr/>
    </dgm:pt>
    <dgm:pt modelId="{FD2A9AC4-9380-4BD1-A46B-6E0BE0B39DEE}" type="pres">
      <dgm:prSet presAssocID="{A6343543-FB8A-4522-9E96-DBF150B6CDB6}" presName="dstNode" presStyleLbl="node1" presStyleIdx="0" presStyleCnt="7"/>
      <dgm:spPr/>
    </dgm:pt>
    <dgm:pt modelId="{809BFA76-3F77-4034-8D10-1252C814348D}" type="pres">
      <dgm:prSet presAssocID="{91659746-0176-4A1A-BDD3-88F20AD33CE5}" presName="text_1" presStyleLbl="node1" presStyleIdx="0" presStyleCnt="7">
        <dgm:presLayoutVars>
          <dgm:bulletEnabled val="1"/>
        </dgm:presLayoutVars>
      </dgm:prSet>
      <dgm:spPr/>
    </dgm:pt>
    <dgm:pt modelId="{ABF2483F-60A5-4E87-A987-A8B590E38BA1}" type="pres">
      <dgm:prSet presAssocID="{91659746-0176-4A1A-BDD3-88F20AD33CE5}" presName="accent_1" presStyleCnt="0"/>
      <dgm:spPr/>
    </dgm:pt>
    <dgm:pt modelId="{26DAE66F-08F9-4F16-BCE3-F9AEE420F569}" type="pres">
      <dgm:prSet presAssocID="{91659746-0176-4A1A-BDD3-88F20AD33CE5}" presName="accentRepeatNode" presStyleLbl="solidFgAcc1" presStyleIdx="0" presStyleCnt="7"/>
      <dgm:spPr/>
    </dgm:pt>
    <dgm:pt modelId="{30D15EA8-D0C6-41FA-8F32-79307F0EDF7C}" type="pres">
      <dgm:prSet presAssocID="{E7DFFDC4-37DB-46FA-BA02-D0EB27D8CD74}" presName="text_2" presStyleLbl="node1" presStyleIdx="1" presStyleCnt="7">
        <dgm:presLayoutVars>
          <dgm:bulletEnabled val="1"/>
        </dgm:presLayoutVars>
      </dgm:prSet>
      <dgm:spPr/>
    </dgm:pt>
    <dgm:pt modelId="{C4A7D5CE-FB43-4E7D-8C4C-64C4AC820631}" type="pres">
      <dgm:prSet presAssocID="{E7DFFDC4-37DB-46FA-BA02-D0EB27D8CD74}" presName="accent_2" presStyleCnt="0"/>
      <dgm:spPr/>
    </dgm:pt>
    <dgm:pt modelId="{2D44B28D-BCC4-4B66-8F9A-B5AFC1E6136E}" type="pres">
      <dgm:prSet presAssocID="{E7DFFDC4-37DB-46FA-BA02-D0EB27D8CD74}" presName="accentRepeatNode" presStyleLbl="solidFgAcc1" presStyleIdx="1" presStyleCnt="7"/>
      <dgm:spPr/>
    </dgm:pt>
    <dgm:pt modelId="{EB6D57BE-9D1A-470D-8915-D82D451DE312}" type="pres">
      <dgm:prSet presAssocID="{06ADFFE5-803E-43A5-A300-909A8150E037}" presName="text_3" presStyleLbl="node1" presStyleIdx="2" presStyleCnt="7">
        <dgm:presLayoutVars>
          <dgm:bulletEnabled val="1"/>
        </dgm:presLayoutVars>
      </dgm:prSet>
      <dgm:spPr/>
    </dgm:pt>
    <dgm:pt modelId="{3E4E0394-5C22-472D-9E31-387BC66B72AF}" type="pres">
      <dgm:prSet presAssocID="{06ADFFE5-803E-43A5-A300-909A8150E037}" presName="accent_3" presStyleCnt="0"/>
      <dgm:spPr/>
    </dgm:pt>
    <dgm:pt modelId="{D9AB972A-5DDE-40AA-9F17-2722ADF3E028}" type="pres">
      <dgm:prSet presAssocID="{06ADFFE5-803E-43A5-A300-909A8150E037}" presName="accentRepeatNode" presStyleLbl="solidFgAcc1" presStyleIdx="2" presStyleCnt="7"/>
      <dgm:spPr/>
    </dgm:pt>
    <dgm:pt modelId="{DEF49095-29DF-48A0-8EA6-E1CA0D15CB4B}" type="pres">
      <dgm:prSet presAssocID="{0FE9FC84-B10D-49C5-92E9-AC899F9B7A2C}" presName="text_4" presStyleLbl="node1" presStyleIdx="3" presStyleCnt="7">
        <dgm:presLayoutVars>
          <dgm:bulletEnabled val="1"/>
        </dgm:presLayoutVars>
      </dgm:prSet>
      <dgm:spPr/>
    </dgm:pt>
    <dgm:pt modelId="{A4153ED0-EA14-4403-A0A9-88BFA061FD34}" type="pres">
      <dgm:prSet presAssocID="{0FE9FC84-B10D-49C5-92E9-AC899F9B7A2C}" presName="accent_4" presStyleCnt="0"/>
      <dgm:spPr/>
    </dgm:pt>
    <dgm:pt modelId="{BCDD21E5-EB05-477F-B8D0-C650D1542CD9}" type="pres">
      <dgm:prSet presAssocID="{0FE9FC84-B10D-49C5-92E9-AC899F9B7A2C}" presName="accentRepeatNode" presStyleLbl="solidFgAcc1" presStyleIdx="3" presStyleCnt="7"/>
      <dgm:spPr/>
    </dgm:pt>
    <dgm:pt modelId="{EB0EE637-0E30-44AD-9992-07609057BCF2}" type="pres">
      <dgm:prSet presAssocID="{A2283EE8-13C8-484E-A5BF-D659B46B3379}" presName="text_5" presStyleLbl="node1" presStyleIdx="4" presStyleCnt="7">
        <dgm:presLayoutVars>
          <dgm:bulletEnabled val="1"/>
        </dgm:presLayoutVars>
      </dgm:prSet>
      <dgm:spPr/>
    </dgm:pt>
    <dgm:pt modelId="{7A85D8E8-4507-492F-B4AC-BAFBD54F52C4}" type="pres">
      <dgm:prSet presAssocID="{A2283EE8-13C8-484E-A5BF-D659B46B3379}" presName="accent_5" presStyleCnt="0"/>
      <dgm:spPr/>
    </dgm:pt>
    <dgm:pt modelId="{17BE9418-8D63-496A-8A7E-2998300747DA}" type="pres">
      <dgm:prSet presAssocID="{A2283EE8-13C8-484E-A5BF-D659B46B3379}" presName="accentRepeatNode" presStyleLbl="solidFgAcc1" presStyleIdx="4" presStyleCnt="7"/>
      <dgm:spPr/>
    </dgm:pt>
    <dgm:pt modelId="{ED3F91A9-1F6C-4D3A-A58B-C33E2B95F9A3}" type="pres">
      <dgm:prSet presAssocID="{22DF4192-5F65-4B9E-95D4-E2BFDF981D94}" presName="text_6" presStyleLbl="node1" presStyleIdx="5" presStyleCnt="7">
        <dgm:presLayoutVars>
          <dgm:bulletEnabled val="1"/>
        </dgm:presLayoutVars>
      </dgm:prSet>
      <dgm:spPr/>
    </dgm:pt>
    <dgm:pt modelId="{1354150C-A38D-4282-90AD-4BC35408D4C5}" type="pres">
      <dgm:prSet presAssocID="{22DF4192-5F65-4B9E-95D4-E2BFDF981D94}" presName="accent_6" presStyleCnt="0"/>
      <dgm:spPr/>
    </dgm:pt>
    <dgm:pt modelId="{958DA905-88CD-4040-AC22-C6188F1515AF}" type="pres">
      <dgm:prSet presAssocID="{22DF4192-5F65-4B9E-95D4-E2BFDF981D94}" presName="accentRepeatNode" presStyleLbl="solidFgAcc1" presStyleIdx="5" presStyleCnt="7"/>
      <dgm:spPr/>
    </dgm:pt>
    <dgm:pt modelId="{DF8F4CDE-FC09-4B48-819C-1EDACAE92B23}" type="pres">
      <dgm:prSet presAssocID="{F873E3CD-DB08-4191-9D52-1BD0A1DDAB1F}" presName="text_7" presStyleLbl="node1" presStyleIdx="6" presStyleCnt="7">
        <dgm:presLayoutVars>
          <dgm:bulletEnabled val="1"/>
        </dgm:presLayoutVars>
      </dgm:prSet>
      <dgm:spPr/>
    </dgm:pt>
    <dgm:pt modelId="{577FABC2-BC68-425B-A82D-3B9649B56F79}" type="pres">
      <dgm:prSet presAssocID="{F873E3CD-DB08-4191-9D52-1BD0A1DDAB1F}" presName="accent_7" presStyleCnt="0"/>
      <dgm:spPr/>
    </dgm:pt>
    <dgm:pt modelId="{907CA4DC-F200-4F37-A35D-31318CFFED79}" type="pres">
      <dgm:prSet presAssocID="{F873E3CD-DB08-4191-9D52-1BD0A1DDAB1F}" presName="accentRepeatNode" presStyleLbl="solidFgAcc1" presStyleIdx="6" presStyleCnt="7"/>
      <dgm:spPr/>
    </dgm:pt>
  </dgm:ptLst>
  <dgm:cxnLst>
    <dgm:cxn modelId="{3DFD3327-276F-411C-A3CF-822E4C1DA9C9}" type="presOf" srcId="{06ADFFE5-803E-43A5-A300-909A8150E037}" destId="{EB6D57BE-9D1A-470D-8915-D82D451DE312}" srcOrd="0" destOrd="0" presId="urn:microsoft.com/office/officeart/2008/layout/VerticalCurvedList"/>
    <dgm:cxn modelId="{2C197429-71C0-43DF-8F7B-45C5C6AE6372}" type="presOf" srcId="{A6343543-FB8A-4522-9E96-DBF150B6CDB6}" destId="{989182AB-1CAD-4A26-8F48-0478C82062F9}" srcOrd="0" destOrd="0" presId="urn:microsoft.com/office/officeart/2008/layout/VerticalCurvedList"/>
    <dgm:cxn modelId="{AA34A52D-7A4F-4441-912E-A4194EBC3D7B}" type="presOf" srcId="{0FE9FC84-B10D-49C5-92E9-AC899F9B7A2C}" destId="{DEF49095-29DF-48A0-8EA6-E1CA0D15CB4B}" srcOrd="0" destOrd="0" presId="urn:microsoft.com/office/officeart/2008/layout/VerticalCurvedList"/>
    <dgm:cxn modelId="{DB59C537-0C31-491C-B0BF-2EEA1823504A}" srcId="{A6343543-FB8A-4522-9E96-DBF150B6CDB6}" destId="{E7DFFDC4-37DB-46FA-BA02-D0EB27D8CD74}" srcOrd="1" destOrd="0" parTransId="{514BB410-ABD6-489D-8DC0-9DB54C1575D7}" sibTransId="{6653AE59-C2E4-46A4-82BD-D26BF2E5EA67}"/>
    <dgm:cxn modelId="{E6C09A39-5462-492B-BC40-4E3C46CDF9CF}" srcId="{A6343543-FB8A-4522-9E96-DBF150B6CDB6}" destId="{F873E3CD-DB08-4191-9D52-1BD0A1DDAB1F}" srcOrd="6" destOrd="0" parTransId="{1FC1A1FB-132C-4EE7-BF1A-63DB6E2F007A}" sibTransId="{D8350267-C130-45ED-AA2E-E64D1FE6C845}"/>
    <dgm:cxn modelId="{5B0C5D6B-7A74-4CC2-A323-9949E0F537F7}" srcId="{A6343543-FB8A-4522-9E96-DBF150B6CDB6}" destId="{91659746-0176-4A1A-BDD3-88F20AD33CE5}" srcOrd="0" destOrd="0" parTransId="{EA57438F-C02C-48FD-ACE8-D1F0DBB96292}" sibTransId="{DD66777B-47AB-4179-8AFE-E6827C555F8F}"/>
    <dgm:cxn modelId="{5AA60B82-4AD9-458F-9180-37083796DB1A}" type="presOf" srcId="{A2283EE8-13C8-484E-A5BF-D659B46B3379}" destId="{EB0EE637-0E30-44AD-9992-07609057BCF2}" srcOrd="0" destOrd="0" presId="urn:microsoft.com/office/officeart/2008/layout/VerticalCurvedList"/>
    <dgm:cxn modelId="{A2037288-2B0F-4F54-A2A9-493D395FE5F0}" type="presOf" srcId="{22DF4192-5F65-4B9E-95D4-E2BFDF981D94}" destId="{ED3F91A9-1F6C-4D3A-A58B-C33E2B95F9A3}" srcOrd="0" destOrd="0" presId="urn:microsoft.com/office/officeart/2008/layout/VerticalCurvedList"/>
    <dgm:cxn modelId="{69C33A9E-9E88-49C3-910E-B6998D99BC16}" type="presOf" srcId="{DD66777B-47AB-4179-8AFE-E6827C555F8F}" destId="{BA92C969-B6C6-45D0-9D99-D592CBBF6AE5}" srcOrd="0" destOrd="0" presId="urn:microsoft.com/office/officeart/2008/layout/VerticalCurvedList"/>
    <dgm:cxn modelId="{6899C39F-4522-4B9D-A318-023A122078AC}" type="presOf" srcId="{E7DFFDC4-37DB-46FA-BA02-D0EB27D8CD74}" destId="{30D15EA8-D0C6-41FA-8F32-79307F0EDF7C}" srcOrd="0" destOrd="0" presId="urn:microsoft.com/office/officeart/2008/layout/VerticalCurvedList"/>
    <dgm:cxn modelId="{329791C1-AB2B-4CCA-A658-9B36AA2DFB49}" srcId="{A6343543-FB8A-4522-9E96-DBF150B6CDB6}" destId="{A2283EE8-13C8-484E-A5BF-D659B46B3379}" srcOrd="4" destOrd="0" parTransId="{061C7F5B-5D24-4729-A649-E86C5B6DA706}" sibTransId="{3511C390-6E4D-41C0-8AE5-396AAC8E8B32}"/>
    <dgm:cxn modelId="{DCF45FCF-6129-430F-A1EE-3346C5278A8C}" srcId="{A6343543-FB8A-4522-9E96-DBF150B6CDB6}" destId="{0FE9FC84-B10D-49C5-92E9-AC899F9B7A2C}" srcOrd="3" destOrd="0" parTransId="{8F504437-6254-4136-AB08-9C2106FD59FA}" sibTransId="{A48DCD5B-ECDA-43C0-AC87-1840FE2DBF1C}"/>
    <dgm:cxn modelId="{70D8FFE2-8F1C-4054-878C-9BB8666142E5}" type="presOf" srcId="{91659746-0176-4A1A-BDD3-88F20AD33CE5}" destId="{809BFA76-3F77-4034-8D10-1252C814348D}" srcOrd="0" destOrd="0" presId="urn:microsoft.com/office/officeart/2008/layout/VerticalCurvedList"/>
    <dgm:cxn modelId="{C8F35DE4-E4FE-4004-A58C-7B18FA09575C}" srcId="{A6343543-FB8A-4522-9E96-DBF150B6CDB6}" destId="{22DF4192-5F65-4B9E-95D4-E2BFDF981D94}" srcOrd="5" destOrd="0" parTransId="{55B7AE6D-C417-42AB-985D-B58268DF31B5}" sibTransId="{40E1CF06-CD90-4738-AE62-9E14B0E265C5}"/>
    <dgm:cxn modelId="{518EC4E7-1D7D-4FD8-B6F2-FB81853732C3}" srcId="{A6343543-FB8A-4522-9E96-DBF150B6CDB6}" destId="{06ADFFE5-803E-43A5-A300-909A8150E037}" srcOrd="2" destOrd="0" parTransId="{D2E18448-056F-4B0D-928D-210CE6594DA1}" sibTransId="{1E291D0B-59CF-4D84-917F-D86075EA7045}"/>
    <dgm:cxn modelId="{E7755FEB-2D66-422D-B896-6DCB4E8C4CDB}" type="presOf" srcId="{F873E3CD-DB08-4191-9D52-1BD0A1DDAB1F}" destId="{DF8F4CDE-FC09-4B48-819C-1EDACAE92B23}" srcOrd="0" destOrd="0" presId="urn:microsoft.com/office/officeart/2008/layout/VerticalCurvedList"/>
    <dgm:cxn modelId="{8D3E17DC-2F9B-4B73-BFD9-1D2B2CD05ABA}" type="presParOf" srcId="{989182AB-1CAD-4A26-8F48-0478C82062F9}" destId="{AE16BE68-B1A5-4DEF-B6C9-146447CF076F}" srcOrd="0" destOrd="0" presId="urn:microsoft.com/office/officeart/2008/layout/VerticalCurvedList"/>
    <dgm:cxn modelId="{01686E60-4D5A-4748-BE67-9196CFF39491}" type="presParOf" srcId="{AE16BE68-B1A5-4DEF-B6C9-146447CF076F}" destId="{EA5711F2-59B1-4312-AEE2-0DC9146875D4}" srcOrd="0" destOrd="0" presId="urn:microsoft.com/office/officeart/2008/layout/VerticalCurvedList"/>
    <dgm:cxn modelId="{1E8326AC-A914-4AC0-BD78-384FD453B75E}" type="presParOf" srcId="{EA5711F2-59B1-4312-AEE2-0DC9146875D4}" destId="{70B96F17-FEBF-4C66-BD44-33EA048D39EE}" srcOrd="0" destOrd="0" presId="urn:microsoft.com/office/officeart/2008/layout/VerticalCurvedList"/>
    <dgm:cxn modelId="{0F8C2060-BE3D-4366-8E94-67A68A2BE4A4}" type="presParOf" srcId="{EA5711F2-59B1-4312-AEE2-0DC9146875D4}" destId="{BA92C969-B6C6-45D0-9D99-D592CBBF6AE5}" srcOrd="1" destOrd="0" presId="urn:microsoft.com/office/officeart/2008/layout/VerticalCurvedList"/>
    <dgm:cxn modelId="{1744B4BC-E078-4A1E-8FEC-B638756EF2B0}" type="presParOf" srcId="{EA5711F2-59B1-4312-AEE2-0DC9146875D4}" destId="{BED34F30-05C9-43E6-8C76-CF09BDB60559}" srcOrd="2" destOrd="0" presId="urn:microsoft.com/office/officeart/2008/layout/VerticalCurvedList"/>
    <dgm:cxn modelId="{91BE1522-3FAC-48BD-AC99-2C154DD89170}" type="presParOf" srcId="{EA5711F2-59B1-4312-AEE2-0DC9146875D4}" destId="{FD2A9AC4-9380-4BD1-A46B-6E0BE0B39DEE}" srcOrd="3" destOrd="0" presId="urn:microsoft.com/office/officeart/2008/layout/VerticalCurvedList"/>
    <dgm:cxn modelId="{0ACA5765-4111-4BFA-89A5-6C604010BEA9}" type="presParOf" srcId="{AE16BE68-B1A5-4DEF-B6C9-146447CF076F}" destId="{809BFA76-3F77-4034-8D10-1252C814348D}" srcOrd="1" destOrd="0" presId="urn:microsoft.com/office/officeart/2008/layout/VerticalCurvedList"/>
    <dgm:cxn modelId="{DE6E0813-4530-44FD-8E1E-7E714BEDF25C}" type="presParOf" srcId="{AE16BE68-B1A5-4DEF-B6C9-146447CF076F}" destId="{ABF2483F-60A5-4E87-A987-A8B590E38BA1}" srcOrd="2" destOrd="0" presId="urn:microsoft.com/office/officeart/2008/layout/VerticalCurvedList"/>
    <dgm:cxn modelId="{0FF67157-8DA8-44D1-8599-82640C3911E4}" type="presParOf" srcId="{ABF2483F-60A5-4E87-A987-A8B590E38BA1}" destId="{26DAE66F-08F9-4F16-BCE3-F9AEE420F569}" srcOrd="0" destOrd="0" presId="urn:microsoft.com/office/officeart/2008/layout/VerticalCurvedList"/>
    <dgm:cxn modelId="{E6A23D51-0BB2-467C-9652-7CAAE8E0B644}" type="presParOf" srcId="{AE16BE68-B1A5-4DEF-B6C9-146447CF076F}" destId="{30D15EA8-D0C6-41FA-8F32-79307F0EDF7C}" srcOrd="3" destOrd="0" presId="urn:microsoft.com/office/officeart/2008/layout/VerticalCurvedList"/>
    <dgm:cxn modelId="{9340EF84-9904-4DC0-AA63-B868CD4C2B48}" type="presParOf" srcId="{AE16BE68-B1A5-4DEF-B6C9-146447CF076F}" destId="{C4A7D5CE-FB43-4E7D-8C4C-64C4AC820631}" srcOrd="4" destOrd="0" presId="urn:microsoft.com/office/officeart/2008/layout/VerticalCurvedList"/>
    <dgm:cxn modelId="{DB9334A9-E0B8-4C5C-B1A5-E8F4F42CB7DE}" type="presParOf" srcId="{C4A7D5CE-FB43-4E7D-8C4C-64C4AC820631}" destId="{2D44B28D-BCC4-4B66-8F9A-B5AFC1E6136E}" srcOrd="0" destOrd="0" presId="urn:microsoft.com/office/officeart/2008/layout/VerticalCurvedList"/>
    <dgm:cxn modelId="{769F6626-74F4-4BD4-94A0-FCA68750B6F3}" type="presParOf" srcId="{AE16BE68-B1A5-4DEF-B6C9-146447CF076F}" destId="{EB6D57BE-9D1A-470D-8915-D82D451DE312}" srcOrd="5" destOrd="0" presId="urn:microsoft.com/office/officeart/2008/layout/VerticalCurvedList"/>
    <dgm:cxn modelId="{979EE7EA-4AE7-42F6-98A6-372151F08D47}" type="presParOf" srcId="{AE16BE68-B1A5-4DEF-B6C9-146447CF076F}" destId="{3E4E0394-5C22-472D-9E31-387BC66B72AF}" srcOrd="6" destOrd="0" presId="urn:microsoft.com/office/officeart/2008/layout/VerticalCurvedList"/>
    <dgm:cxn modelId="{4BF0A6D4-D960-4E49-97D1-0DD04333A213}" type="presParOf" srcId="{3E4E0394-5C22-472D-9E31-387BC66B72AF}" destId="{D9AB972A-5DDE-40AA-9F17-2722ADF3E028}" srcOrd="0" destOrd="0" presId="urn:microsoft.com/office/officeart/2008/layout/VerticalCurvedList"/>
    <dgm:cxn modelId="{C0BFEDBA-EA2E-4F11-A0F4-B75D55510F20}" type="presParOf" srcId="{AE16BE68-B1A5-4DEF-B6C9-146447CF076F}" destId="{DEF49095-29DF-48A0-8EA6-E1CA0D15CB4B}" srcOrd="7" destOrd="0" presId="urn:microsoft.com/office/officeart/2008/layout/VerticalCurvedList"/>
    <dgm:cxn modelId="{F0FF8E4A-E49F-46A3-AC39-F705911560CA}" type="presParOf" srcId="{AE16BE68-B1A5-4DEF-B6C9-146447CF076F}" destId="{A4153ED0-EA14-4403-A0A9-88BFA061FD34}" srcOrd="8" destOrd="0" presId="urn:microsoft.com/office/officeart/2008/layout/VerticalCurvedList"/>
    <dgm:cxn modelId="{FA9274CC-1A22-4B4D-9F1C-EDF6F8FBE3CC}" type="presParOf" srcId="{A4153ED0-EA14-4403-A0A9-88BFA061FD34}" destId="{BCDD21E5-EB05-477F-B8D0-C650D1542CD9}" srcOrd="0" destOrd="0" presId="urn:microsoft.com/office/officeart/2008/layout/VerticalCurvedList"/>
    <dgm:cxn modelId="{CC4881A7-D38E-4362-BD22-59A0FD6C5784}" type="presParOf" srcId="{AE16BE68-B1A5-4DEF-B6C9-146447CF076F}" destId="{EB0EE637-0E30-44AD-9992-07609057BCF2}" srcOrd="9" destOrd="0" presId="urn:microsoft.com/office/officeart/2008/layout/VerticalCurvedList"/>
    <dgm:cxn modelId="{C362578C-07ED-482C-8121-B4E0FA04092A}" type="presParOf" srcId="{AE16BE68-B1A5-4DEF-B6C9-146447CF076F}" destId="{7A85D8E8-4507-492F-B4AC-BAFBD54F52C4}" srcOrd="10" destOrd="0" presId="urn:microsoft.com/office/officeart/2008/layout/VerticalCurvedList"/>
    <dgm:cxn modelId="{6B4BE56B-D0DE-4137-80B9-4E2CDDB4767D}" type="presParOf" srcId="{7A85D8E8-4507-492F-B4AC-BAFBD54F52C4}" destId="{17BE9418-8D63-496A-8A7E-2998300747DA}" srcOrd="0" destOrd="0" presId="urn:microsoft.com/office/officeart/2008/layout/VerticalCurvedList"/>
    <dgm:cxn modelId="{DBE8604A-B583-4F96-9460-2ED77CFB41EC}" type="presParOf" srcId="{AE16BE68-B1A5-4DEF-B6C9-146447CF076F}" destId="{ED3F91A9-1F6C-4D3A-A58B-C33E2B95F9A3}" srcOrd="11" destOrd="0" presId="urn:microsoft.com/office/officeart/2008/layout/VerticalCurvedList"/>
    <dgm:cxn modelId="{7B612871-21E1-4FB8-8C11-3439D5EA7CE6}" type="presParOf" srcId="{AE16BE68-B1A5-4DEF-B6C9-146447CF076F}" destId="{1354150C-A38D-4282-90AD-4BC35408D4C5}" srcOrd="12" destOrd="0" presId="urn:microsoft.com/office/officeart/2008/layout/VerticalCurvedList"/>
    <dgm:cxn modelId="{9F7246DC-FD37-4CFE-B0DC-D19B6117938B}" type="presParOf" srcId="{1354150C-A38D-4282-90AD-4BC35408D4C5}" destId="{958DA905-88CD-4040-AC22-C6188F1515AF}" srcOrd="0" destOrd="0" presId="urn:microsoft.com/office/officeart/2008/layout/VerticalCurvedList"/>
    <dgm:cxn modelId="{EB08F493-E973-4BAB-9E4E-F4AF9CCEAB97}" type="presParOf" srcId="{AE16BE68-B1A5-4DEF-B6C9-146447CF076F}" destId="{DF8F4CDE-FC09-4B48-819C-1EDACAE92B23}" srcOrd="13" destOrd="0" presId="urn:microsoft.com/office/officeart/2008/layout/VerticalCurvedList"/>
    <dgm:cxn modelId="{85BBECF2-4560-4582-83A0-2E16CDF305A3}" type="presParOf" srcId="{AE16BE68-B1A5-4DEF-B6C9-146447CF076F}" destId="{577FABC2-BC68-425B-A82D-3B9649B56F79}" srcOrd="14" destOrd="0" presId="urn:microsoft.com/office/officeart/2008/layout/VerticalCurvedList"/>
    <dgm:cxn modelId="{F5948B89-12E3-43E2-B75F-8EAD7322BFB9}" type="presParOf" srcId="{577FABC2-BC68-425B-A82D-3B9649B56F79}" destId="{907CA4DC-F200-4F37-A35D-31318CFFED7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4703A4B-6D39-4442-8898-5628F2DA3267}" type="doc">
      <dgm:prSet loTypeId="urn:microsoft.com/office/officeart/2005/8/layout/hProcess7" loCatId="list" qsTypeId="urn:microsoft.com/office/officeart/2005/8/quickstyle/simple1" qsCatId="simple" csTypeId="urn:microsoft.com/office/officeart/2005/8/colors/accent0_2" csCatId="mainScheme" phldr="1"/>
      <dgm:spPr/>
      <dgm:t>
        <a:bodyPr/>
        <a:lstStyle/>
        <a:p>
          <a:endParaRPr lang="en-US"/>
        </a:p>
      </dgm:t>
    </dgm:pt>
    <dgm:pt modelId="{D7D97E8B-4D01-42A1-81A3-225DD1517663}">
      <dgm:prSet phldrT="[Text]" phldr="0" custT="1"/>
      <dgm:spPr/>
      <dgm:t>
        <a:bodyPr/>
        <a:lstStyle/>
        <a:p>
          <a:r>
            <a:rPr lang="en-US" sz="3600" dirty="0"/>
            <a:t>Embedding</a:t>
          </a:r>
        </a:p>
      </dgm:t>
    </dgm:pt>
    <dgm:pt modelId="{9D5ECCC0-36ED-4E13-AAE4-2F4C9B16FA85}" type="parTrans" cxnId="{EA905D0C-CD41-4862-92D4-D8535878AEEC}">
      <dgm:prSet/>
      <dgm:spPr/>
      <dgm:t>
        <a:bodyPr/>
        <a:lstStyle/>
        <a:p>
          <a:endParaRPr lang="en-US"/>
        </a:p>
      </dgm:t>
    </dgm:pt>
    <dgm:pt modelId="{F877CE75-4CFD-4338-AEA6-25DFD9E6EC0D}" type="sibTrans" cxnId="{EA905D0C-CD41-4862-92D4-D8535878AEEC}">
      <dgm:prSet/>
      <dgm:spPr/>
      <dgm:t>
        <a:bodyPr/>
        <a:lstStyle/>
        <a:p>
          <a:endParaRPr lang="en-US"/>
        </a:p>
      </dgm:t>
    </dgm:pt>
    <dgm:pt modelId="{162572F0-76CF-470B-8081-BC922690B4E3}">
      <dgm:prSet phldrT="[Text]" custT="1"/>
      <dgm:spPr/>
      <dgm:t>
        <a:bodyPr/>
        <a:lstStyle/>
        <a:p>
          <a:pPr>
            <a:buNone/>
          </a:pPr>
          <a:r>
            <a:rPr lang="en-US" sz="1800" b="1" dirty="0">
              <a:latin typeface="Times New Roman" panose="02020603050405020304" pitchFamily="18" charset="0"/>
              <a:cs typeface="Times New Roman" panose="02020603050405020304" pitchFamily="18" charset="0"/>
            </a:rPr>
            <a:t>Embedding Model </a:t>
          </a:r>
          <a:r>
            <a:rPr 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hlinkClick xmlns:r="http://schemas.openxmlformats.org/officeDocument/2006/relationships" r:id="rId1"/>
            </a:rPr>
            <a:t>all-MiniLM-L6-v2</a:t>
          </a:r>
          <a:endParaRPr lang="en-US" sz="1800" dirty="0">
            <a:latin typeface="Times New Roman" panose="02020603050405020304" pitchFamily="18" charset="0"/>
            <a:cs typeface="Times New Roman" panose="02020603050405020304" pitchFamily="18" charset="0"/>
          </a:endParaRPr>
        </a:p>
      </dgm:t>
    </dgm:pt>
    <dgm:pt modelId="{48650953-A619-403C-9D57-56805A4FB963}" type="parTrans" cxnId="{114566C8-C521-4D89-AFA0-9FBF407B9676}">
      <dgm:prSet/>
      <dgm:spPr/>
      <dgm:t>
        <a:bodyPr/>
        <a:lstStyle/>
        <a:p>
          <a:endParaRPr lang="en-US"/>
        </a:p>
      </dgm:t>
    </dgm:pt>
    <dgm:pt modelId="{ED35CB3A-0006-4841-9CF0-7AE9BAEB766A}" type="sibTrans" cxnId="{114566C8-C521-4D89-AFA0-9FBF407B9676}">
      <dgm:prSet/>
      <dgm:spPr/>
      <dgm:t>
        <a:bodyPr/>
        <a:lstStyle/>
        <a:p>
          <a:endParaRPr lang="en-US"/>
        </a:p>
      </dgm:t>
    </dgm:pt>
    <dgm:pt modelId="{BBCC9D23-7C58-4D18-906B-B37DF998AD05}">
      <dgm:prSet phldrT="[Text]" phldr="0"/>
      <dgm:spPr/>
      <dgm:t>
        <a:bodyPr/>
        <a:lstStyle/>
        <a:p>
          <a:r>
            <a:rPr lang="en-US" dirty="0"/>
            <a:t>Vector database</a:t>
          </a:r>
        </a:p>
      </dgm:t>
    </dgm:pt>
    <dgm:pt modelId="{255F0A53-76E9-4F04-A6F6-EC6BCE05B470}" type="parTrans" cxnId="{E3883C4A-BF7C-47E1-BE02-76E3B779C318}">
      <dgm:prSet/>
      <dgm:spPr/>
      <dgm:t>
        <a:bodyPr/>
        <a:lstStyle/>
        <a:p>
          <a:endParaRPr lang="en-US"/>
        </a:p>
      </dgm:t>
    </dgm:pt>
    <dgm:pt modelId="{94591DD9-0D2F-419A-8D1D-72827CE22A01}" type="sibTrans" cxnId="{E3883C4A-BF7C-47E1-BE02-76E3B779C318}">
      <dgm:prSet/>
      <dgm:spPr/>
      <dgm:t>
        <a:bodyPr/>
        <a:lstStyle/>
        <a:p>
          <a:endParaRPr lang="en-US"/>
        </a:p>
      </dgm:t>
    </dgm:pt>
    <dgm:pt modelId="{E07FE14D-DEF7-453B-86A1-C2F559CD283E}">
      <dgm:prSet phldrT="[Text]" custT="1"/>
      <dgm:spPr/>
      <dgm:t>
        <a:bodyPr/>
        <a:lstStyle/>
        <a:p>
          <a:pPr>
            <a:buNone/>
          </a:pPr>
          <a:r>
            <a:rPr lang="en-US" sz="1800" dirty="0">
              <a:latin typeface="Times New Roman" panose="02020603050405020304" pitchFamily="18" charset="0"/>
              <a:cs typeface="Times New Roman" panose="02020603050405020304" pitchFamily="18" charset="0"/>
              <a:hlinkClick xmlns:r="http://schemas.openxmlformats.org/officeDocument/2006/relationships" r:id="rId2"/>
            </a:rPr>
            <a:t>FAISS</a:t>
          </a:r>
          <a:r>
            <a:rPr lang="en-US" sz="1800" dirty="0">
              <a:latin typeface="Times New Roman" panose="02020603050405020304" pitchFamily="18" charset="0"/>
              <a:cs typeface="Times New Roman" panose="02020603050405020304" pitchFamily="18" charset="0"/>
            </a:rPr>
            <a:t> (Facebook AI Similarity Search)</a:t>
          </a:r>
        </a:p>
        <a:p>
          <a:pPr>
            <a:buNone/>
          </a:pPr>
          <a:r>
            <a:rPr lang="en-US" sz="1800" b="0" dirty="0">
              <a:latin typeface="Times New Roman" panose="02020603050405020304" pitchFamily="18" charset="0"/>
              <a:cs typeface="Times New Roman" panose="02020603050405020304" pitchFamily="18" charset="0"/>
            </a:rPr>
            <a:t>Creates an index using L2 distance (Euclidean)</a:t>
          </a:r>
        </a:p>
        <a:p>
          <a:pPr>
            <a:buNone/>
          </a:pPr>
          <a:r>
            <a:rPr lang="en-US" sz="1800" dirty="0">
              <a:latin typeface="Times New Roman" panose="02020603050405020304" pitchFamily="18" charset="0"/>
              <a:cs typeface="Times New Roman" panose="02020603050405020304" pitchFamily="18" charset="0"/>
            </a:rPr>
            <a:t>Inserts all chunk vectors into the index</a:t>
          </a:r>
        </a:p>
        <a:p>
          <a:pPr>
            <a:buNone/>
          </a:pPr>
          <a:endParaRPr lang="en-US" sz="1800" dirty="0">
            <a:latin typeface="Times New Roman" panose="02020603050405020304" pitchFamily="18" charset="0"/>
            <a:cs typeface="Times New Roman" panose="02020603050405020304" pitchFamily="18" charset="0"/>
          </a:endParaRPr>
        </a:p>
        <a:p>
          <a:pPr>
            <a:buNone/>
          </a:pPr>
          <a:endParaRPr lang="en-US" sz="1800" dirty="0">
            <a:latin typeface="Times New Roman" panose="02020603050405020304" pitchFamily="18" charset="0"/>
            <a:cs typeface="Times New Roman" panose="02020603050405020304" pitchFamily="18" charset="0"/>
          </a:endParaRPr>
        </a:p>
        <a:p>
          <a:pPr>
            <a:buNone/>
          </a:pPr>
          <a:endParaRPr lang="en-US" sz="1800" dirty="0">
            <a:latin typeface="Times New Roman" panose="02020603050405020304" pitchFamily="18" charset="0"/>
            <a:cs typeface="Times New Roman" panose="02020603050405020304" pitchFamily="18" charset="0"/>
          </a:endParaRPr>
        </a:p>
        <a:p>
          <a:pPr>
            <a:buNone/>
          </a:pPr>
          <a:r>
            <a:rPr lang="en-US" sz="1800" dirty="0">
              <a:latin typeface="Times New Roman" panose="02020603050405020304" pitchFamily="18" charset="0"/>
              <a:cs typeface="Times New Roman" panose="02020603050405020304" pitchFamily="18" charset="0"/>
            </a:rPr>
            <a:t>-&gt; Store the vectors</a:t>
          </a:r>
        </a:p>
      </dgm:t>
    </dgm:pt>
    <dgm:pt modelId="{81209A9E-E08C-4333-97D5-2097EDDE9F63}" type="parTrans" cxnId="{41060764-B606-470C-A5DC-76E68F885EAD}">
      <dgm:prSet/>
      <dgm:spPr/>
      <dgm:t>
        <a:bodyPr/>
        <a:lstStyle/>
        <a:p>
          <a:endParaRPr lang="en-US"/>
        </a:p>
      </dgm:t>
    </dgm:pt>
    <dgm:pt modelId="{2D1F626E-0F21-46ED-ABB0-A14365FEA715}" type="sibTrans" cxnId="{41060764-B606-470C-A5DC-76E68F885EAD}">
      <dgm:prSet/>
      <dgm:spPr/>
      <dgm:t>
        <a:bodyPr/>
        <a:lstStyle/>
        <a:p>
          <a:endParaRPr lang="en-US"/>
        </a:p>
      </dgm:t>
    </dgm:pt>
    <dgm:pt modelId="{BECFA888-B875-4E81-B1AF-CBA9766584E1}">
      <dgm:prSet custT="1"/>
      <dgm:spPr/>
      <dgm:t>
        <a:bodyPr/>
        <a:lstStyle/>
        <a:p>
          <a:pPr>
            <a:buNone/>
          </a:pPr>
          <a:r>
            <a:rPr lang="en-US" sz="1800" dirty="0">
              <a:latin typeface="Times New Roman" panose="02020603050405020304" pitchFamily="18" charset="0"/>
              <a:cs typeface="Times New Roman" panose="02020603050405020304" pitchFamily="18" charset="0"/>
            </a:rPr>
            <a:t>This is a </a:t>
          </a:r>
          <a:r>
            <a:rPr lang="en-US" sz="1800" u="sng" dirty="0">
              <a:latin typeface="Times New Roman" panose="02020603050405020304" pitchFamily="18" charset="0"/>
              <a:cs typeface="Times New Roman" panose="02020603050405020304" pitchFamily="18" charset="0"/>
              <a:hlinkClick xmlns:r="http://schemas.openxmlformats.org/officeDocument/2006/relationships" r:id="rId3"/>
            </a:rPr>
            <a:t>sentence-transformers</a:t>
          </a:r>
          <a:r>
            <a:rPr lang="en-US" sz="1800" dirty="0">
              <a:latin typeface="Times New Roman" panose="02020603050405020304" pitchFamily="18" charset="0"/>
              <a:cs typeface="Times New Roman" panose="02020603050405020304" pitchFamily="18" charset="0"/>
            </a:rPr>
            <a:t> model: It maps sentences &amp; paragraphs to a 384 dimensional dense vector space and can be used for tasks like clustering or semantic search.</a:t>
          </a:r>
        </a:p>
        <a:p>
          <a:pPr>
            <a:buNone/>
          </a:pP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-&gt; Runs all chunks through the model</a:t>
          </a:r>
        </a:p>
      </dgm:t>
    </dgm:pt>
    <dgm:pt modelId="{904D145E-A7EA-4232-94F4-CEB46D01BA1D}" type="parTrans" cxnId="{BC2A8056-15F7-4022-B82B-2D150A7DD191}">
      <dgm:prSet/>
      <dgm:spPr/>
      <dgm:t>
        <a:bodyPr/>
        <a:lstStyle/>
        <a:p>
          <a:endParaRPr lang="en-US"/>
        </a:p>
      </dgm:t>
    </dgm:pt>
    <dgm:pt modelId="{27B68A84-9804-45DC-AF8A-3049922CA38F}" type="sibTrans" cxnId="{BC2A8056-15F7-4022-B82B-2D150A7DD191}">
      <dgm:prSet/>
      <dgm:spPr/>
      <dgm:t>
        <a:bodyPr/>
        <a:lstStyle/>
        <a:p>
          <a:endParaRPr lang="en-US"/>
        </a:p>
      </dgm:t>
    </dgm:pt>
    <dgm:pt modelId="{1FEB49A7-F91B-4E06-B49A-276CA0D98BD6}">
      <dgm:prSet custT="1"/>
      <dgm:spPr/>
      <dgm:t>
        <a:bodyPr/>
        <a:lstStyle/>
        <a:p>
          <a:pPr>
            <a:buNone/>
          </a:pPr>
          <a:r>
            <a:rPr lang="en-US" sz="1800" dirty="0">
              <a:latin typeface="Times New Roman" panose="02020603050405020304" pitchFamily="18" charset="0"/>
              <a:cs typeface="Times New Roman" panose="02020603050405020304" pitchFamily="18" charset="0"/>
            </a:rPr>
            <a:t>-&gt; Outputs a 2D NumPy array of shape</a:t>
          </a:r>
        </a:p>
        <a:p>
          <a:pPr>
            <a:buNone/>
          </a:pP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num_chunks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embedding_dim</a:t>
          </a:r>
          <a:r>
            <a:rPr lang="en-US" sz="1800" dirty="0">
              <a:latin typeface="Times New Roman" panose="02020603050405020304" pitchFamily="18" charset="0"/>
              <a:cs typeface="Times New Roman" panose="02020603050405020304" pitchFamily="18" charset="0"/>
            </a:rPr>
            <a:t>)</a:t>
          </a:r>
        </a:p>
        <a:p>
          <a:pPr>
            <a:buNone/>
          </a:pPr>
          <a:endParaRPr lang="en-US" sz="1800" dirty="0">
            <a:latin typeface="Times New Roman" panose="02020603050405020304" pitchFamily="18" charset="0"/>
            <a:cs typeface="Times New Roman" panose="02020603050405020304" pitchFamily="18" charset="0"/>
          </a:endParaRPr>
        </a:p>
        <a:p>
          <a:pPr>
            <a:buNone/>
          </a:pPr>
          <a:r>
            <a:rPr lang="en-US" sz="1800" dirty="0">
              <a:latin typeface="Times New Roman" panose="02020603050405020304" pitchFamily="18" charset="0"/>
              <a:cs typeface="Times New Roman" panose="02020603050405020304" pitchFamily="18" charset="0"/>
            </a:rPr>
            <a:t> </a:t>
          </a:r>
        </a:p>
        <a:p>
          <a:pPr>
            <a:buNone/>
          </a:pPr>
          <a:endParaRPr lang="en-US" sz="1800" dirty="0">
            <a:latin typeface="Times New Roman" panose="02020603050405020304" pitchFamily="18" charset="0"/>
            <a:cs typeface="Times New Roman" panose="02020603050405020304" pitchFamily="18" charset="0"/>
          </a:endParaRPr>
        </a:p>
      </dgm:t>
    </dgm:pt>
    <dgm:pt modelId="{D0A9F523-22C1-4BFE-BC3A-45503EE83E7F}" type="parTrans" cxnId="{4F1082E4-4BF5-40A3-8899-7B4B133D3F5C}">
      <dgm:prSet/>
      <dgm:spPr/>
      <dgm:t>
        <a:bodyPr/>
        <a:lstStyle/>
        <a:p>
          <a:endParaRPr lang="en-US"/>
        </a:p>
      </dgm:t>
    </dgm:pt>
    <dgm:pt modelId="{B4D7E42E-F4AC-4179-860B-E57A0C5FAD62}" type="sibTrans" cxnId="{4F1082E4-4BF5-40A3-8899-7B4B133D3F5C}">
      <dgm:prSet/>
      <dgm:spPr/>
      <dgm:t>
        <a:bodyPr/>
        <a:lstStyle/>
        <a:p>
          <a:endParaRPr lang="en-US"/>
        </a:p>
      </dgm:t>
    </dgm:pt>
    <dgm:pt modelId="{B1270EEE-5EAC-44AB-B4E0-99B3635D3F86}">
      <dgm:prSet custT="1"/>
      <dgm:spPr/>
      <dgm:t>
        <a:bodyPr/>
        <a:lstStyle/>
        <a:p>
          <a:pPr>
            <a:buNone/>
          </a:pPr>
          <a:endParaRPr lang="en-US" sz="1800" dirty="0">
            <a:latin typeface="Times New Roman" panose="02020603050405020304" pitchFamily="18" charset="0"/>
            <a:cs typeface="Times New Roman" panose="02020603050405020304" pitchFamily="18" charset="0"/>
          </a:endParaRPr>
        </a:p>
        <a:p>
          <a:pPr>
            <a:buNone/>
          </a:pPr>
          <a:endParaRPr lang="en-US" sz="1800" dirty="0">
            <a:latin typeface="Times New Roman" panose="02020603050405020304" pitchFamily="18" charset="0"/>
            <a:cs typeface="Times New Roman" panose="02020603050405020304" pitchFamily="18" charset="0"/>
          </a:endParaRPr>
        </a:p>
        <a:p>
          <a:pPr>
            <a:buNone/>
          </a:pPr>
          <a:endParaRPr lang="en-US" sz="1800" dirty="0">
            <a:latin typeface="Times New Roman" panose="02020603050405020304" pitchFamily="18" charset="0"/>
            <a:cs typeface="Times New Roman" panose="02020603050405020304" pitchFamily="18" charset="0"/>
          </a:endParaRPr>
        </a:p>
      </dgm:t>
    </dgm:pt>
    <dgm:pt modelId="{4A729DDB-6285-4954-862D-15A653E71289}" type="parTrans" cxnId="{B8E7D405-9CA4-47EE-9A84-72E9299C21F9}">
      <dgm:prSet/>
      <dgm:spPr/>
      <dgm:t>
        <a:bodyPr/>
        <a:lstStyle/>
        <a:p>
          <a:endParaRPr lang="en-US"/>
        </a:p>
      </dgm:t>
    </dgm:pt>
    <dgm:pt modelId="{C906AD3E-DCC5-4A8C-B7FF-21B432E58E14}" type="sibTrans" cxnId="{B8E7D405-9CA4-47EE-9A84-72E9299C21F9}">
      <dgm:prSet/>
      <dgm:spPr/>
      <dgm:t>
        <a:bodyPr/>
        <a:lstStyle/>
        <a:p>
          <a:endParaRPr lang="en-US"/>
        </a:p>
      </dgm:t>
    </dgm:pt>
    <dgm:pt modelId="{51785F10-3EEC-42F2-8FC8-8943B99E7359}">
      <dgm:prSet phldrT="[Text]" custT="1"/>
      <dgm:spPr/>
      <dgm:t>
        <a:bodyPr/>
        <a:lstStyle/>
        <a:p>
          <a:pPr>
            <a:buNone/>
          </a:pPr>
          <a:r>
            <a:rPr lang="en-US" sz="1800" dirty="0">
              <a:latin typeface="Times New Roman" panose="02020603050405020304" pitchFamily="18" charset="0"/>
              <a:cs typeface="Times New Roman" panose="02020603050405020304" pitchFamily="18" charset="0"/>
            </a:rPr>
            <a:t>-&gt; Search in milliseconds: </a:t>
          </a:r>
          <a:r>
            <a:rPr lang="en-US" sz="1800" i="1" dirty="0">
              <a:latin typeface="Times New Roman" panose="02020603050405020304" pitchFamily="18" charset="0"/>
              <a:cs typeface="Times New Roman" panose="02020603050405020304" pitchFamily="18" charset="0"/>
            </a:rPr>
            <a:t>“Which chunks are closest to the user’s question?”</a:t>
          </a:r>
        </a:p>
      </dgm:t>
    </dgm:pt>
    <dgm:pt modelId="{DA993516-59E4-4D76-AA77-09D0BED289D2}" type="parTrans" cxnId="{B5B0D480-3E82-4C55-A079-894D31C47CC6}">
      <dgm:prSet/>
      <dgm:spPr/>
      <dgm:t>
        <a:bodyPr/>
        <a:lstStyle/>
        <a:p>
          <a:endParaRPr lang="en-US"/>
        </a:p>
      </dgm:t>
    </dgm:pt>
    <dgm:pt modelId="{58DCF4DB-756D-4234-A938-0CB4F5FA6D5D}" type="sibTrans" cxnId="{B5B0D480-3E82-4C55-A079-894D31C47CC6}">
      <dgm:prSet/>
      <dgm:spPr/>
      <dgm:t>
        <a:bodyPr/>
        <a:lstStyle/>
        <a:p>
          <a:endParaRPr lang="en-US"/>
        </a:p>
      </dgm:t>
    </dgm:pt>
    <dgm:pt modelId="{B6D64F45-15FF-422B-95B0-1A43D5C18BFF}">
      <dgm:prSet phldrT="[Text]" custT="1"/>
      <dgm:spPr/>
      <dgm:t>
        <a:bodyPr/>
        <a:lstStyle/>
        <a:p>
          <a:pPr>
            <a:buNone/>
          </a:pPr>
          <a:endParaRPr lang="en-US" sz="1800" dirty="0">
            <a:latin typeface="Times New Roman" panose="02020603050405020304" pitchFamily="18" charset="0"/>
            <a:cs typeface="Times New Roman" panose="02020603050405020304" pitchFamily="18" charset="0"/>
          </a:endParaRPr>
        </a:p>
        <a:p>
          <a:pPr>
            <a:buNone/>
          </a:pPr>
          <a:endParaRPr lang="en-US" sz="1800" dirty="0">
            <a:latin typeface="Times New Roman" panose="02020603050405020304" pitchFamily="18" charset="0"/>
            <a:cs typeface="Times New Roman" panose="02020603050405020304" pitchFamily="18" charset="0"/>
          </a:endParaRPr>
        </a:p>
      </dgm:t>
    </dgm:pt>
    <dgm:pt modelId="{8CF77D50-7536-4432-858F-873B0AC1C595}" type="parTrans" cxnId="{298375EE-F522-4AC2-9FF0-7FCAE44018D9}">
      <dgm:prSet/>
      <dgm:spPr/>
      <dgm:t>
        <a:bodyPr/>
        <a:lstStyle/>
        <a:p>
          <a:endParaRPr lang="en-US"/>
        </a:p>
      </dgm:t>
    </dgm:pt>
    <dgm:pt modelId="{3EA35886-3578-47A6-9F3A-F3A7A7AA685E}" type="sibTrans" cxnId="{298375EE-F522-4AC2-9FF0-7FCAE44018D9}">
      <dgm:prSet/>
      <dgm:spPr/>
      <dgm:t>
        <a:bodyPr/>
        <a:lstStyle/>
        <a:p>
          <a:endParaRPr lang="en-US"/>
        </a:p>
      </dgm:t>
    </dgm:pt>
    <dgm:pt modelId="{8AA9841C-2FE8-40B6-BD66-52FBF8FACC4D}" type="pres">
      <dgm:prSet presAssocID="{84703A4B-6D39-4442-8898-5628F2DA3267}" presName="Name0" presStyleCnt="0">
        <dgm:presLayoutVars>
          <dgm:dir/>
          <dgm:animLvl val="lvl"/>
          <dgm:resizeHandles val="exact"/>
        </dgm:presLayoutVars>
      </dgm:prSet>
      <dgm:spPr/>
    </dgm:pt>
    <dgm:pt modelId="{60556E4D-EABE-4C4B-AC8C-2F74BC11D288}" type="pres">
      <dgm:prSet presAssocID="{D7D97E8B-4D01-42A1-81A3-225DD1517663}" presName="compositeNode" presStyleCnt="0">
        <dgm:presLayoutVars>
          <dgm:bulletEnabled val="1"/>
        </dgm:presLayoutVars>
      </dgm:prSet>
      <dgm:spPr/>
    </dgm:pt>
    <dgm:pt modelId="{D69112E1-E52B-4F95-9955-EFCC48468E56}" type="pres">
      <dgm:prSet presAssocID="{D7D97E8B-4D01-42A1-81A3-225DD1517663}" presName="bgRect" presStyleLbl="node1" presStyleIdx="0" presStyleCnt="2"/>
      <dgm:spPr/>
    </dgm:pt>
    <dgm:pt modelId="{4B838422-C03F-4BA4-86FD-DD8846CA4473}" type="pres">
      <dgm:prSet presAssocID="{D7D97E8B-4D01-42A1-81A3-225DD1517663}" presName="parentNode" presStyleLbl="node1" presStyleIdx="0" presStyleCnt="2">
        <dgm:presLayoutVars>
          <dgm:chMax val="0"/>
          <dgm:bulletEnabled val="1"/>
        </dgm:presLayoutVars>
      </dgm:prSet>
      <dgm:spPr/>
    </dgm:pt>
    <dgm:pt modelId="{F71DA5B1-9FE0-42CD-975D-2C25F52D61DC}" type="pres">
      <dgm:prSet presAssocID="{D7D97E8B-4D01-42A1-81A3-225DD1517663}" presName="childNode" presStyleLbl="node1" presStyleIdx="0" presStyleCnt="2">
        <dgm:presLayoutVars>
          <dgm:bulletEnabled val="1"/>
        </dgm:presLayoutVars>
      </dgm:prSet>
      <dgm:spPr/>
    </dgm:pt>
    <dgm:pt modelId="{D37EEB55-E249-4355-BF63-037531FDD0D1}" type="pres">
      <dgm:prSet presAssocID="{F877CE75-4CFD-4338-AEA6-25DFD9E6EC0D}" presName="hSp" presStyleCnt="0"/>
      <dgm:spPr/>
    </dgm:pt>
    <dgm:pt modelId="{E80FAB4A-B446-409B-9792-D39A7EA1CF7C}" type="pres">
      <dgm:prSet presAssocID="{F877CE75-4CFD-4338-AEA6-25DFD9E6EC0D}" presName="vProcSp" presStyleCnt="0"/>
      <dgm:spPr/>
    </dgm:pt>
    <dgm:pt modelId="{0BF3D499-DAEB-467A-9337-173774DA0718}" type="pres">
      <dgm:prSet presAssocID="{F877CE75-4CFD-4338-AEA6-25DFD9E6EC0D}" presName="vSp1" presStyleCnt="0"/>
      <dgm:spPr/>
    </dgm:pt>
    <dgm:pt modelId="{12550EE7-2D20-4D40-8CE4-C6D034469DCB}" type="pres">
      <dgm:prSet presAssocID="{F877CE75-4CFD-4338-AEA6-25DFD9E6EC0D}" presName="simulatedConn" presStyleLbl="solidFgAcc1" presStyleIdx="0" presStyleCnt="1"/>
      <dgm:spPr/>
    </dgm:pt>
    <dgm:pt modelId="{1F88F416-F0F9-43E4-93E3-98B58935E4EA}" type="pres">
      <dgm:prSet presAssocID="{F877CE75-4CFD-4338-AEA6-25DFD9E6EC0D}" presName="vSp2" presStyleCnt="0"/>
      <dgm:spPr/>
    </dgm:pt>
    <dgm:pt modelId="{A724B092-B7A2-4F2F-9082-0C3F04C00579}" type="pres">
      <dgm:prSet presAssocID="{F877CE75-4CFD-4338-AEA6-25DFD9E6EC0D}" presName="sibTrans" presStyleCnt="0"/>
      <dgm:spPr/>
    </dgm:pt>
    <dgm:pt modelId="{AAC043AA-98F1-42DD-9876-B0AF70768960}" type="pres">
      <dgm:prSet presAssocID="{BBCC9D23-7C58-4D18-906B-B37DF998AD05}" presName="compositeNode" presStyleCnt="0">
        <dgm:presLayoutVars>
          <dgm:bulletEnabled val="1"/>
        </dgm:presLayoutVars>
      </dgm:prSet>
      <dgm:spPr/>
    </dgm:pt>
    <dgm:pt modelId="{EA2DBA5A-3236-4638-A796-A6EF065BEED5}" type="pres">
      <dgm:prSet presAssocID="{BBCC9D23-7C58-4D18-906B-B37DF998AD05}" presName="bgRect" presStyleLbl="node1" presStyleIdx="1" presStyleCnt="2"/>
      <dgm:spPr/>
    </dgm:pt>
    <dgm:pt modelId="{C70F4C8E-2E7E-4AD8-9CBD-21B2FC7CB0A1}" type="pres">
      <dgm:prSet presAssocID="{BBCC9D23-7C58-4D18-906B-B37DF998AD05}" presName="parentNode" presStyleLbl="node1" presStyleIdx="1" presStyleCnt="2">
        <dgm:presLayoutVars>
          <dgm:chMax val="0"/>
          <dgm:bulletEnabled val="1"/>
        </dgm:presLayoutVars>
      </dgm:prSet>
      <dgm:spPr/>
    </dgm:pt>
    <dgm:pt modelId="{BFFAE6BB-F7BC-4B73-8C73-CA52BD95F88C}" type="pres">
      <dgm:prSet presAssocID="{BBCC9D23-7C58-4D18-906B-B37DF998AD05}" presName="childNode" presStyleLbl="node1" presStyleIdx="1" presStyleCnt="2">
        <dgm:presLayoutVars>
          <dgm:bulletEnabled val="1"/>
        </dgm:presLayoutVars>
      </dgm:prSet>
      <dgm:spPr/>
    </dgm:pt>
  </dgm:ptLst>
  <dgm:cxnLst>
    <dgm:cxn modelId="{B8E7D405-9CA4-47EE-9A84-72E9299C21F9}" srcId="{D7D97E8B-4D01-42A1-81A3-225DD1517663}" destId="{B1270EEE-5EAC-44AB-B4E0-99B3635D3F86}" srcOrd="3" destOrd="0" parTransId="{4A729DDB-6285-4954-862D-15A653E71289}" sibTransId="{C906AD3E-DCC5-4A8C-B7FF-21B432E58E14}"/>
    <dgm:cxn modelId="{EA905D0C-CD41-4862-92D4-D8535878AEEC}" srcId="{84703A4B-6D39-4442-8898-5628F2DA3267}" destId="{D7D97E8B-4D01-42A1-81A3-225DD1517663}" srcOrd="0" destOrd="0" parTransId="{9D5ECCC0-36ED-4E13-AAE4-2F4C9B16FA85}" sibTransId="{F877CE75-4CFD-4338-AEA6-25DFD9E6EC0D}"/>
    <dgm:cxn modelId="{83972C35-27E7-4FE8-8B76-CD14A6E96315}" type="presOf" srcId="{BBCC9D23-7C58-4D18-906B-B37DF998AD05}" destId="{C70F4C8E-2E7E-4AD8-9CBD-21B2FC7CB0A1}" srcOrd="1" destOrd="0" presId="urn:microsoft.com/office/officeart/2005/8/layout/hProcess7"/>
    <dgm:cxn modelId="{9AE50142-241A-4309-9305-7D39A17415D2}" type="presOf" srcId="{B6D64F45-15FF-422B-95B0-1A43D5C18BFF}" destId="{BFFAE6BB-F7BC-4B73-8C73-CA52BD95F88C}" srcOrd="0" destOrd="2" presId="urn:microsoft.com/office/officeart/2005/8/layout/hProcess7"/>
    <dgm:cxn modelId="{41060764-B606-470C-A5DC-76E68F885EAD}" srcId="{BBCC9D23-7C58-4D18-906B-B37DF998AD05}" destId="{E07FE14D-DEF7-453B-86A1-C2F559CD283E}" srcOrd="0" destOrd="0" parTransId="{81209A9E-E08C-4333-97D5-2097EDDE9F63}" sibTransId="{2D1F626E-0F21-46ED-ABB0-A14365FEA715}"/>
    <dgm:cxn modelId="{E3883C4A-BF7C-47E1-BE02-76E3B779C318}" srcId="{84703A4B-6D39-4442-8898-5628F2DA3267}" destId="{BBCC9D23-7C58-4D18-906B-B37DF998AD05}" srcOrd="1" destOrd="0" parTransId="{255F0A53-76E9-4F04-A6F6-EC6BCE05B470}" sibTransId="{94591DD9-0D2F-419A-8D1D-72827CE22A01}"/>
    <dgm:cxn modelId="{79FD9C4D-AC2A-4A1D-83B7-152A70F3FB2B}" type="presOf" srcId="{B1270EEE-5EAC-44AB-B4E0-99B3635D3F86}" destId="{F71DA5B1-9FE0-42CD-975D-2C25F52D61DC}" srcOrd="0" destOrd="3" presId="urn:microsoft.com/office/officeart/2005/8/layout/hProcess7"/>
    <dgm:cxn modelId="{BC2A8056-15F7-4022-B82B-2D150A7DD191}" srcId="{D7D97E8B-4D01-42A1-81A3-225DD1517663}" destId="{BECFA888-B875-4E81-B1AF-CBA9766584E1}" srcOrd="1" destOrd="0" parTransId="{904D145E-A7EA-4232-94F4-CEB46D01BA1D}" sibTransId="{27B68A84-9804-45DC-AF8A-3049922CA38F}"/>
    <dgm:cxn modelId="{C7663F7C-E2F6-4BBD-B73F-9DC802946CE7}" type="presOf" srcId="{162572F0-76CF-470B-8081-BC922690B4E3}" destId="{F71DA5B1-9FE0-42CD-975D-2C25F52D61DC}" srcOrd="0" destOrd="0" presId="urn:microsoft.com/office/officeart/2005/8/layout/hProcess7"/>
    <dgm:cxn modelId="{B5B0D480-3E82-4C55-A079-894D31C47CC6}" srcId="{BBCC9D23-7C58-4D18-906B-B37DF998AD05}" destId="{51785F10-3EEC-42F2-8FC8-8943B99E7359}" srcOrd="1" destOrd="0" parTransId="{DA993516-59E4-4D76-AA77-09D0BED289D2}" sibTransId="{58DCF4DB-756D-4234-A938-0CB4F5FA6D5D}"/>
    <dgm:cxn modelId="{1EEA3C86-567E-4095-98D0-1122E05D4D0D}" type="presOf" srcId="{D7D97E8B-4D01-42A1-81A3-225DD1517663}" destId="{D69112E1-E52B-4F95-9955-EFCC48468E56}" srcOrd="0" destOrd="0" presId="urn:microsoft.com/office/officeart/2005/8/layout/hProcess7"/>
    <dgm:cxn modelId="{C36B31A4-C1BA-4082-BE71-EEE7B5A6F7B7}" type="presOf" srcId="{D7D97E8B-4D01-42A1-81A3-225DD1517663}" destId="{4B838422-C03F-4BA4-86FD-DD8846CA4473}" srcOrd="1" destOrd="0" presId="urn:microsoft.com/office/officeart/2005/8/layout/hProcess7"/>
    <dgm:cxn modelId="{0F325EC1-3DDE-471A-905F-18AA2382F09D}" type="presOf" srcId="{51785F10-3EEC-42F2-8FC8-8943B99E7359}" destId="{BFFAE6BB-F7BC-4B73-8C73-CA52BD95F88C}" srcOrd="0" destOrd="1" presId="urn:microsoft.com/office/officeart/2005/8/layout/hProcess7"/>
    <dgm:cxn modelId="{114566C8-C521-4D89-AFA0-9FBF407B9676}" srcId="{D7D97E8B-4D01-42A1-81A3-225DD1517663}" destId="{162572F0-76CF-470B-8081-BC922690B4E3}" srcOrd="0" destOrd="0" parTransId="{48650953-A619-403C-9D57-56805A4FB963}" sibTransId="{ED35CB3A-0006-4841-9CF0-7AE9BAEB766A}"/>
    <dgm:cxn modelId="{263592CC-E8B4-4070-A2E6-D38A439A9666}" type="presOf" srcId="{BBCC9D23-7C58-4D18-906B-B37DF998AD05}" destId="{EA2DBA5A-3236-4638-A796-A6EF065BEED5}" srcOrd="0" destOrd="0" presId="urn:microsoft.com/office/officeart/2005/8/layout/hProcess7"/>
    <dgm:cxn modelId="{6B440DD9-129E-4A4F-A109-66107E00A7F8}" type="presOf" srcId="{BECFA888-B875-4E81-B1AF-CBA9766584E1}" destId="{F71DA5B1-9FE0-42CD-975D-2C25F52D61DC}" srcOrd="0" destOrd="1" presId="urn:microsoft.com/office/officeart/2005/8/layout/hProcess7"/>
    <dgm:cxn modelId="{4F1082E4-4BF5-40A3-8899-7B4B133D3F5C}" srcId="{D7D97E8B-4D01-42A1-81A3-225DD1517663}" destId="{1FEB49A7-F91B-4E06-B49A-276CA0D98BD6}" srcOrd="2" destOrd="0" parTransId="{D0A9F523-22C1-4BFE-BC3A-45503EE83E7F}" sibTransId="{B4D7E42E-F4AC-4179-860B-E57A0C5FAD62}"/>
    <dgm:cxn modelId="{31ABC0E8-0802-425B-AD30-3CD73E8D0A6D}" type="presOf" srcId="{1FEB49A7-F91B-4E06-B49A-276CA0D98BD6}" destId="{F71DA5B1-9FE0-42CD-975D-2C25F52D61DC}" srcOrd="0" destOrd="2" presId="urn:microsoft.com/office/officeart/2005/8/layout/hProcess7"/>
    <dgm:cxn modelId="{298375EE-F522-4AC2-9FF0-7FCAE44018D9}" srcId="{BBCC9D23-7C58-4D18-906B-B37DF998AD05}" destId="{B6D64F45-15FF-422B-95B0-1A43D5C18BFF}" srcOrd="2" destOrd="0" parTransId="{8CF77D50-7536-4432-858F-873B0AC1C595}" sibTransId="{3EA35886-3578-47A6-9F3A-F3A7A7AA685E}"/>
    <dgm:cxn modelId="{0747FBF3-3875-4C14-B6F2-E184FE7BB2B4}" type="presOf" srcId="{E07FE14D-DEF7-453B-86A1-C2F559CD283E}" destId="{BFFAE6BB-F7BC-4B73-8C73-CA52BD95F88C}" srcOrd="0" destOrd="0" presId="urn:microsoft.com/office/officeart/2005/8/layout/hProcess7"/>
    <dgm:cxn modelId="{49F3A8F5-8EA2-4D3A-974D-3E78BB0A7C5F}" type="presOf" srcId="{84703A4B-6D39-4442-8898-5628F2DA3267}" destId="{8AA9841C-2FE8-40B6-BD66-52FBF8FACC4D}" srcOrd="0" destOrd="0" presId="urn:microsoft.com/office/officeart/2005/8/layout/hProcess7"/>
    <dgm:cxn modelId="{62AEF458-2EF9-4D08-B43A-A50BFF0B27B4}" type="presParOf" srcId="{8AA9841C-2FE8-40B6-BD66-52FBF8FACC4D}" destId="{60556E4D-EABE-4C4B-AC8C-2F74BC11D288}" srcOrd="0" destOrd="0" presId="urn:microsoft.com/office/officeart/2005/8/layout/hProcess7"/>
    <dgm:cxn modelId="{C0794631-C6D0-47FB-A3A8-8B61D7945692}" type="presParOf" srcId="{60556E4D-EABE-4C4B-AC8C-2F74BC11D288}" destId="{D69112E1-E52B-4F95-9955-EFCC48468E56}" srcOrd="0" destOrd="0" presId="urn:microsoft.com/office/officeart/2005/8/layout/hProcess7"/>
    <dgm:cxn modelId="{28292EE5-E135-46BD-AAC6-20843ADCE572}" type="presParOf" srcId="{60556E4D-EABE-4C4B-AC8C-2F74BC11D288}" destId="{4B838422-C03F-4BA4-86FD-DD8846CA4473}" srcOrd="1" destOrd="0" presId="urn:microsoft.com/office/officeart/2005/8/layout/hProcess7"/>
    <dgm:cxn modelId="{02AF042C-BC7E-46C7-B4FF-E82AEED27BEF}" type="presParOf" srcId="{60556E4D-EABE-4C4B-AC8C-2F74BC11D288}" destId="{F71DA5B1-9FE0-42CD-975D-2C25F52D61DC}" srcOrd="2" destOrd="0" presId="urn:microsoft.com/office/officeart/2005/8/layout/hProcess7"/>
    <dgm:cxn modelId="{EB49B5F1-24F2-4AAD-A0D4-3DA56A4B52D8}" type="presParOf" srcId="{8AA9841C-2FE8-40B6-BD66-52FBF8FACC4D}" destId="{D37EEB55-E249-4355-BF63-037531FDD0D1}" srcOrd="1" destOrd="0" presId="urn:microsoft.com/office/officeart/2005/8/layout/hProcess7"/>
    <dgm:cxn modelId="{68F62BB2-A591-4755-A861-0BD4011B8897}" type="presParOf" srcId="{8AA9841C-2FE8-40B6-BD66-52FBF8FACC4D}" destId="{E80FAB4A-B446-409B-9792-D39A7EA1CF7C}" srcOrd="2" destOrd="0" presId="urn:microsoft.com/office/officeart/2005/8/layout/hProcess7"/>
    <dgm:cxn modelId="{2E12B948-BE34-43EF-9F2D-4BACE99FE460}" type="presParOf" srcId="{E80FAB4A-B446-409B-9792-D39A7EA1CF7C}" destId="{0BF3D499-DAEB-467A-9337-173774DA0718}" srcOrd="0" destOrd="0" presId="urn:microsoft.com/office/officeart/2005/8/layout/hProcess7"/>
    <dgm:cxn modelId="{22315D2E-552C-4BE9-B7CA-6EDFB867700D}" type="presParOf" srcId="{E80FAB4A-B446-409B-9792-D39A7EA1CF7C}" destId="{12550EE7-2D20-4D40-8CE4-C6D034469DCB}" srcOrd="1" destOrd="0" presId="urn:microsoft.com/office/officeart/2005/8/layout/hProcess7"/>
    <dgm:cxn modelId="{C7A6FB09-36F4-41A9-8926-D334F30D547C}" type="presParOf" srcId="{E80FAB4A-B446-409B-9792-D39A7EA1CF7C}" destId="{1F88F416-F0F9-43E4-93E3-98B58935E4EA}" srcOrd="2" destOrd="0" presId="urn:microsoft.com/office/officeart/2005/8/layout/hProcess7"/>
    <dgm:cxn modelId="{37491B8B-A254-4CE3-8D8D-04E6A0085CFF}" type="presParOf" srcId="{8AA9841C-2FE8-40B6-BD66-52FBF8FACC4D}" destId="{A724B092-B7A2-4F2F-9082-0C3F04C00579}" srcOrd="3" destOrd="0" presId="urn:microsoft.com/office/officeart/2005/8/layout/hProcess7"/>
    <dgm:cxn modelId="{0BD53838-C758-44A7-8B0F-CA9126766FA6}" type="presParOf" srcId="{8AA9841C-2FE8-40B6-BD66-52FBF8FACC4D}" destId="{AAC043AA-98F1-42DD-9876-B0AF70768960}" srcOrd="4" destOrd="0" presId="urn:microsoft.com/office/officeart/2005/8/layout/hProcess7"/>
    <dgm:cxn modelId="{A4A93317-9D4B-4FC3-960C-53F7F0C11987}" type="presParOf" srcId="{AAC043AA-98F1-42DD-9876-B0AF70768960}" destId="{EA2DBA5A-3236-4638-A796-A6EF065BEED5}" srcOrd="0" destOrd="0" presId="urn:microsoft.com/office/officeart/2005/8/layout/hProcess7"/>
    <dgm:cxn modelId="{6C74A995-B2A1-4979-A1B4-F5E71D5C838E}" type="presParOf" srcId="{AAC043AA-98F1-42DD-9876-B0AF70768960}" destId="{C70F4C8E-2E7E-4AD8-9CBD-21B2FC7CB0A1}" srcOrd="1" destOrd="0" presId="urn:microsoft.com/office/officeart/2005/8/layout/hProcess7"/>
    <dgm:cxn modelId="{95C16517-7C16-4CE6-ACDA-2F1EFAE950B6}" type="presParOf" srcId="{AAC043AA-98F1-42DD-9876-B0AF70768960}" destId="{BFFAE6BB-F7BC-4B73-8C73-CA52BD95F88C}"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DA452B-6FFB-468D-835E-DA3D860EDFB9}">
      <dsp:nvSpPr>
        <dsp:cNvPr id="0" name=""/>
        <dsp:cNvSpPr/>
      </dsp:nvSpPr>
      <dsp:spPr>
        <a:xfrm>
          <a:off x="-7016211" y="-1073536"/>
          <a:ext cx="8357167" cy="8357167"/>
        </a:xfrm>
        <a:prstGeom prst="blockArc">
          <a:avLst>
            <a:gd name="adj1" fmla="val 18900000"/>
            <a:gd name="adj2" fmla="val 2700000"/>
            <a:gd name="adj3" fmla="val 258"/>
          </a:avLst>
        </a:prstGeom>
        <a:noFill/>
        <a:ln w="19050" cap="flat" cmpd="sng" algn="ctr">
          <a:solidFill>
            <a:schemeClr val="accent2">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54B335-533D-4B1D-9FD4-4AA63DDA2D6E}">
      <dsp:nvSpPr>
        <dsp:cNvPr id="0" name=""/>
        <dsp:cNvSpPr/>
      </dsp:nvSpPr>
      <dsp:spPr>
        <a:xfrm>
          <a:off x="435638" y="282310"/>
          <a:ext cx="8481786" cy="564373"/>
        </a:xfrm>
        <a:prstGeom prst="rect">
          <a:avLst/>
        </a:prstGeom>
        <a:solidFill>
          <a:schemeClr val="accent2">
            <a:alpha val="9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7971" tIns="73660" rIns="73660" bIns="73660" numCol="1" spcCol="1270" anchor="ctr" anchorCtr="0">
          <a:noAutofit/>
        </a:bodyPr>
        <a:lstStyle/>
        <a:p>
          <a:pPr marL="0" lvl="0" indent="0" algn="l" defTabSz="1289050">
            <a:lnSpc>
              <a:spcPct val="90000"/>
            </a:lnSpc>
            <a:spcBef>
              <a:spcPct val="0"/>
            </a:spcBef>
            <a:spcAft>
              <a:spcPct val="35000"/>
            </a:spcAft>
            <a:buNone/>
          </a:pPr>
          <a:r>
            <a:rPr lang="en-US" sz="2900" kern="1200" dirty="0"/>
            <a:t>Recap L02</a:t>
          </a:r>
        </a:p>
      </dsp:txBody>
      <dsp:txXfrm>
        <a:off x="435638" y="282310"/>
        <a:ext cx="8481786" cy="564373"/>
      </dsp:txXfrm>
    </dsp:sp>
    <dsp:sp modelId="{D525DF61-683F-4228-BD97-A1A34914F0F6}">
      <dsp:nvSpPr>
        <dsp:cNvPr id="0" name=""/>
        <dsp:cNvSpPr/>
      </dsp:nvSpPr>
      <dsp:spPr>
        <a:xfrm>
          <a:off x="82904" y="211764"/>
          <a:ext cx="705466" cy="705466"/>
        </a:xfrm>
        <a:prstGeom prst="ellipse">
          <a:avLst/>
        </a:prstGeom>
        <a:solidFill>
          <a:schemeClr val="lt1">
            <a:hueOff val="0"/>
            <a:satOff val="0"/>
            <a:lumOff val="0"/>
            <a:alphaOff val="0"/>
          </a:schemeClr>
        </a:solidFill>
        <a:ln w="1905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2C9FD3-C172-4FCD-9F31-8A4E2A6D5744}">
      <dsp:nvSpPr>
        <dsp:cNvPr id="0" name=""/>
        <dsp:cNvSpPr/>
      </dsp:nvSpPr>
      <dsp:spPr>
        <a:xfrm>
          <a:off x="946728" y="1129367"/>
          <a:ext cx="7970695" cy="564373"/>
        </a:xfrm>
        <a:prstGeom prst="rect">
          <a:avLst/>
        </a:prstGeom>
        <a:solidFill>
          <a:schemeClr val="accent2">
            <a:alpha val="90000"/>
            <a:hueOff val="0"/>
            <a:satOff val="0"/>
            <a:lumOff val="0"/>
            <a:alphaOff val="-6667"/>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7971" tIns="73660" rIns="73660" bIns="73660" numCol="1" spcCol="1270" anchor="ctr" anchorCtr="0">
          <a:noAutofit/>
        </a:bodyPr>
        <a:lstStyle/>
        <a:p>
          <a:pPr marL="0" lvl="0" indent="0" algn="l" defTabSz="1289050">
            <a:lnSpc>
              <a:spcPct val="90000"/>
            </a:lnSpc>
            <a:spcBef>
              <a:spcPct val="0"/>
            </a:spcBef>
            <a:spcAft>
              <a:spcPct val="35000"/>
            </a:spcAft>
            <a:buNone/>
          </a:pPr>
          <a:r>
            <a:rPr lang="en-US" sz="2900" kern="1200"/>
            <a:t>Limitations of LLMs</a:t>
          </a:r>
          <a:endParaRPr lang="en-US" sz="2900" kern="1200" dirty="0"/>
        </a:p>
      </dsp:txBody>
      <dsp:txXfrm>
        <a:off x="946728" y="1129367"/>
        <a:ext cx="7970695" cy="564373"/>
      </dsp:txXfrm>
    </dsp:sp>
    <dsp:sp modelId="{C8F94678-BB25-48F5-9EB0-829EFD26130E}">
      <dsp:nvSpPr>
        <dsp:cNvPr id="0" name=""/>
        <dsp:cNvSpPr/>
      </dsp:nvSpPr>
      <dsp:spPr>
        <a:xfrm>
          <a:off x="593995" y="1058821"/>
          <a:ext cx="705466" cy="705466"/>
        </a:xfrm>
        <a:prstGeom prst="ellipse">
          <a:avLst/>
        </a:prstGeom>
        <a:solidFill>
          <a:schemeClr val="lt1">
            <a:hueOff val="0"/>
            <a:satOff val="0"/>
            <a:lumOff val="0"/>
            <a:alphaOff val="0"/>
          </a:schemeClr>
        </a:solidFill>
        <a:ln w="19050" cap="flat" cmpd="sng" algn="ctr">
          <a:solidFill>
            <a:schemeClr val="accent2">
              <a:alpha val="90000"/>
              <a:hueOff val="0"/>
              <a:satOff val="0"/>
              <a:lumOff val="0"/>
              <a:alphaOff val="-6667"/>
            </a:schemeClr>
          </a:solidFill>
          <a:prstDash val="solid"/>
          <a:miter lim="800000"/>
        </a:ln>
        <a:effectLst/>
      </dsp:spPr>
      <dsp:style>
        <a:lnRef idx="2">
          <a:scrgbClr r="0" g="0" b="0"/>
        </a:lnRef>
        <a:fillRef idx="1">
          <a:scrgbClr r="0" g="0" b="0"/>
        </a:fillRef>
        <a:effectRef idx="0">
          <a:scrgbClr r="0" g="0" b="0"/>
        </a:effectRef>
        <a:fontRef idx="minor"/>
      </dsp:style>
    </dsp:sp>
    <dsp:sp modelId="{87E59A31-6465-4B26-A3EA-FD29875E71B3}">
      <dsp:nvSpPr>
        <dsp:cNvPr id="0" name=""/>
        <dsp:cNvSpPr/>
      </dsp:nvSpPr>
      <dsp:spPr>
        <a:xfrm>
          <a:off x="1226804" y="1975803"/>
          <a:ext cx="7690619" cy="564373"/>
        </a:xfrm>
        <a:prstGeom prst="rect">
          <a:avLst/>
        </a:prstGeom>
        <a:solidFill>
          <a:schemeClr val="accent2">
            <a:alpha val="90000"/>
            <a:hueOff val="0"/>
            <a:satOff val="0"/>
            <a:lumOff val="0"/>
            <a:alphaOff val="-13333"/>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7971" tIns="73660" rIns="73660" bIns="73660" numCol="1" spcCol="1270" anchor="ctr" anchorCtr="0">
          <a:noAutofit/>
        </a:bodyPr>
        <a:lstStyle/>
        <a:p>
          <a:pPr marL="0" lvl="0" indent="0" algn="l" defTabSz="1289050">
            <a:lnSpc>
              <a:spcPct val="90000"/>
            </a:lnSpc>
            <a:spcBef>
              <a:spcPct val="0"/>
            </a:spcBef>
            <a:spcAft>
              <a:spcPct val="35000"/>
            </a:spcAft>
            <a:buNone/>
          </a:pPr>
          <a:r>
            <a:rPr lang="en-US" sz="2900" kern="1200" dirty="0"/>
            <a:t>What is RAG?</a:t>
          </a:r>
        </a:p>
      </dsp:txBody>
      <dsp:txXfrm>
        <a:off x="1226804" y="1975803"/>
        <a:ext cx="7690619" cy="564373"/>
      </dsp:txXfrm>
    </dsp:sp>
    <dsp:sp modelId="{51252450-6459-4396-BE02-766F48544AB2}">
      <dsp:nvSpPr>
        <dsp:cNvPr id="0" name=""/>
        <dsp:cNvSpPr/>
      </dsp:nvSpPr>
      <dsp:spPr>
        <a:xfrm>
          <a:off x="874070" y="1905257"/>
          <a:ext cx="705466" cy="705466"/>
        </a:xfrm>
        <a:prstGeom prst="ellipse">
          <a:avLst/>
        </a:prstGeom>
        <a:solidFill>
          <a:schemeClr val="lt1">
            <a:hueOff val="0"/>
            <a:satOff val="0"/>
            <a:lumOff val="0"/>
            <a:alphaOff val="0"/>
          </a:schemeClr>
        </a:solidFill>
        <a:ln w="19050" cap="flat" cmpd="sng" algn="ctr">
          <a:solidFill>
            <a:schemeClr val="accent2">
              <a:alpha val="90000"/>
              <a:hueOff val="0"/>
              <a:satOff val="0"/>
              <a:lumOff val="0"/>
              <a:alphaOff val="-13333"/>
            </a:schemeClr>
          </a:solidFill>
          <a:prstDash val="solid"/>
          <a:miter lim="800000"/>
        </a:ln>
        <a:effectLst/>
      </dsp:spPr>
      <dsp:style>
        <a:lnRef idx="2">
          <a:scrgbClr r="0" g="0" b="0"/>
        </a:lnRef>
        <a:fillRef idx="1">
          <a:scrgbClr r="0" g="0" b="0"/>
        </a:fillRef>
        <a:effectRef idx="0">
          <a:scrgbClr r="0" g="0" b="0"/>
        </a:effectRef>
        <a:fontRef idx="minor"/>
      </dsp:style>
    </dsp:sp>
    <dsp:sp modelId="{0E932845-2D2B-481B-815A-FD6D11C0C9AF}">
      <dsp:nvSpPr>
        <dsp:cNvPr id="0" name=""/>
        <dsp:cNvSpPr/>
      </dsp:nvSpPr>
      <dsp:spPr>
        <a:xfrm>
          <a:off x="1316229" y="2822860"/>
          <a:ext cx="7601194" cy="564373"/>
        </a:xfrm>
        <a:prstGeom prst="rect">
          <a:avLst/>
        </a:prstGeom>
        <a:solidFill>
          <a:schemeClr val="accent2">
            <a:alpha val="90000"/>
            <a:hueOff val="0"/>
            <a:satOff val="0"/>
            <a:lumOff val="0"/>
            <a:alphaOff val="-2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7971" tIns="73660" rIns="73660" bIns="73660" numCol="1" spcCol="1270" anchor="ctr" anchorCtr="0">
          <a:noAutofit/>
        </a:bodyPr>
        <a:lstStyle/>
        <a:p>
          <a:pPr marL="0" lvl="0" indent="0" algn="l" defTabSz="1289050">
            <a:lnSpc>
              <a:spcPct val="90000"/>
            </a:lnSpc>
            <a:spcBef>
              <a:spcPct val="0"/>
            </a:spcBef>
            <a:spcAft>
              <a:spcPct val="35000"/>
            </a:spcAft>
            <a:buNone/>
          </a:pPr>
          <a:r>
            <a:rPr lang="en-US" sz="2900" kern="1200" dirty="0"/>
            <a:t>RAG Architecture</a:t>
          </a:r>
        </a:p>
      </dsp:txBody>
      <dsp:txXfrm>
        <a:off x="1316229" y="2822860"/>
        <a:ext cx="7601194" cy="564373"/>
      </dsp:txXfrm>
    </dsp:sp>
    <dsp:sp modelId="{E62DF8A7-EF3F-4952-9C36-BC7B3FE0133C}">
      <dsp:nvSpPr>
        <dsp:cNvPr id="0" name=""/>
        <dsp:cNvSpPr/>
      </dsp:nvSpPr>
      <dsp:spPr>
        <a:xfrm>
          <a:off x="963496" y="2752314"/>
          <a:ext cx="705466" cy="705466"/>
        </a:xfrm>
        <a:prstGeom prst="ellipse">
          <a:avLst/>
        </a:prstGeom>
        <a:solidFill>
          <a:schemeClr val="lt1">
            <a:hueOff val="0"/>
            <a:satOff val="0"/>
            <a:lumOff val="0"/>
            <a:alphaOff val="0"/>
          </a:schemeClr>
        </a:solidFill>
        <a:ln w="19050" cap="flat" cmpd="sng" algn="ctr">
          <a:solidFill>
            <a:schemeClr val="accent2">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dsp:style>
    </dsp:sp>
    <dsp:sp modelId="{D79400F0-CAFF-4FD5-B15C-20740FE0ABE3}">
      <dsp:nvSpPr>
        <dsp:cNvPr id="0" name=""/>
        <dsp:cNvSpPr/>
      </dsp:nvSpPr>
      <dsp:spPr>
        <a:xfrm>
          <a:off x="1226804" y="3669917"/>
          <a:ext cx="7690619" cy="564373"/>
        </a:xfrm>
        <a:prstGeom prst="rect">
          <a:avLst/>
        </a:prstGeom>
        <a:solidFill>
          <a:schemeClr val="accent2">
            <a:alpha val="90000"/>
            <a:hueOff val="0"/>
            <a:satOff val="0"/>
            <a:lumOff val="0"/>
            <a:alphaOff val="-26667"/>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7971" tIns="73660" rIns="73660" bIns="73660" numCol="1" spcCol="1270" anchor="ctr" anchorCtr="0">
          <a:noAutofit/>
        </a:bodyPr>
        <a:lstStyle/>
        <a:p>
          <a:pPr marL="0" lvl="0" indent="0" algn="l" defTabSz="1289050">
            <a:lnSpc>
              <a:spcPct val="90000"/>
            </a:lnSpc>
            <a:spcBef>
              <a:spcPct val="0"/>
            </a:spcBef>
            <a:spcAft>
              <a:spcPct val="35000"/>
            </a:spcAft>
            <a:buNone/>
          </a:pPr>
          <a:r>
            <a:rPr lang="en-US" sz="2900" kern="1200" dirty="0"/>
            <a:t>Why RAG and not just Fine-tuning?</a:t>
          </a:r>
        </a:p>
      </dsp:txBody>
      <dsp:txXfrm>
        <a:off x="1226804" y="3669917"/>
        <a:ext cx="7690619" cy="564373"/>
      </dsp:txXfrm>
    </dsp:sp>
    <dsp:sp modelId="{4E8CE539-5AB5-48C4-BE30-DD9E68563953}">
      <dsp:nvSpPr>
        <dsp:cNvPr id="0" name=""/>
        <dsp:cNvSpPr/>
      </dsp:nvSpPr>
      <dsp:spPr>
        <a:xfrm>
          <a:off x="874070" y="3599371"/>
          <a:ext cx="705466" cy="705466"/>
        </a:xfrm>
        <a:prstGeom prst="ellipse">
          <a:avLst/>
        </a:prstGeom>
        <a:solidFill>
          <a:schemeClr val="lt1">
            <a:hueOff val="0"/>
            <a:satOff val="0"/>
            <a:lumOff val="0"/>
            <a:alphaOff val="0"/>
          </a:schemeClr>
        </a:solidFill>
        <a:ln w="19050" cap="flat" cmpd="sng" algn="ctr">
          <a:solidFill>
            <a:schemeClr val="accent2">
              <a:alpha val="90000"/>
              <a:hueOff val="0"/>
              <a:satOff val="0"/>
              <a:lumOff val="0"/>
              <a:alphaOff val="-26667"/>
            </a:schemeClr>
          </a:solidFill>
          <a:prstDash val="solid"/>
          <a:miter lim="800000"/>
        </a:ln>
        <a:effectLst/>
      </dsp:spPr>
      <dsp:style>
        <a:lnRef idx="2">
          <a:scrgbClr r="0" g="0" b="0"/>
        </a:lnRef>
        <a:fillRef idx="1">
          <a:scrgbClr r="0" g="0" b="0"/>
        </a:fillRef>
        <a:effectRef idx="0">
          <a:scrgbClr r="0" g="0" b="0"/>
        </a:effectRef>
        <a:fontRef idx="minor"/>
      </dsp:style>
    </dsp:sp>
    <dsp:sp modelId="{D48DEF7A-1DD9-42A6-BA27-2C543430AB42}">
      <dsp:nvSpPr>
        <dsp:cNvPr id="0" name=""/>
        <dsp:cNvSpPr/>
      </dsp:nvSpPr>
      <dsp:spPr>
        <a:xfrm>
          <a:off x="946728" y="4516353"/>
          <a:ext cx="7970695" cy="564373"/>
        </a:xfrm>
        <a:prstGeom prst="rect">
          <a:avLst/>
        </a:prstGeom>
        <a:solidFill>
          <a:schemeClr val="accent2">
            <a:alpha val="90000"/>
            <a:hueOff val="0"/>
            <a:satOff val="0"/>
            <a:lumOff val="0"/>
            <a:alphaOff val="-33333"/>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7971" tIns="73660" rIns="73660" bIns="73660" numCol="1" spcCol="1270" anchor="ctr" anchorCtr="0">
          <a:noAutofit/>
        </a:bodyPr>
        <a:lstStyle/>
        <a:p>
          <a:pPr marL="0" lvl="0" indent="0" algn="l" defTabSz="1289050">
            <a:lnSpc>
              <a:spcPct val="90000"/>
            </a:lnSpc>
            <a:spcBef>
              <a:spcPct val="0"/>
            </a:spcBef>
            <a:spcAft>
              <a:spcPct val="35000"/>
            </a:spcAft>
            <a:buNone/>
          </a:pPr>
          <a:r>
            <a:rPr lang="en-US" sz="2900" kern="1200"/>
            <a:t>Steps</a:t>
          </a:r>
          <a:endParaRPr lang="en-US" sz="2900" kern="1200" dirty="0"/>
        </a:p>
      </dsp:txBody>
      <dsp:txXfrm>
        <a:off x="946728" y="4516353"/>
        <a:ext cx="7970695" cy="564373"/>
      </dsp:txXfrm>
    </dsp:sp>
    <dsp:sp modelId="{52B5A04F-8D8D-4ED8-9910-A6FEAC8EE0C6}">
      <dsp:nvSpPr>
        <dsp:cNvPr id="0" name=""/>
        <dsp:cNvSpPr/>
      </dsp:nvSpPr>
      <dsp:spPr>
        <a:xfrm>
          <a:off x="593995" y="4445807"/>
          <a:ext cx="705466" cy="705466"/>
        </a:xfrm>
        <a:prstGeom prst="ellipse">
          <a:avLst/>
        </a:prstGeom>
        <a:solidFill>
          <a:schemeClr val="lt1">
            <a:hueOff val="0"/>
            <a:satOff val="0"/>
            <a:lumOff val="0"/>
            <a:alphaOff val="0"/>
          </a:schemeClr>
        </a:solidFill>
        <a:ln w="19050" cap="flat" cmpd="sng" algn="ctr">
          <a:solidFill>
            <a:schemeClr val="accent2">
              <a:alpha val="90000"/>
              <a:hueOff val="0"/>
              <a:satOff val="0"/>
              <a:lumOff val="0"/>
              <a:alphaOff val="-33333"/>
            </a:schemeClr>
          </a:solidFill>
          <a:prstDash val="solid"/>
          <a:miter lim="800000"/>
        </a:ln>
        <a:effectLst/>
      </dsp:spPr>
      <dsp:style>
        <a:lnRef idx="2">
          <a:scrgbClr r="0" g="0" b="0"/>
        </a:lnRef>
        <a:fillRef idx="1">
          <a:scrgbClr r="0" g="0" b="0"/>
        </a:fillRef>
        <a:effectRef idx="0">
          <a:scrgbClr r="0" g="0" b="0"/>
        </a:effectRef>
        <a:fontRef idx="minor"/>
      </dsp:style>
    </dsp:sp>
    <dsp:sp modelId="{C956EFA2-E683-40C5-9381-27395E7B65AE}">
      <dsp:nvSpPr>
        <dsp:cNvPr id="0" name=""/>
        <dsp:cNvSpPr/>
      </dsp:nvSpPr>
      <dsp:spPr>
        <a:xfrm>
          <a:off x="435638" y="5363410"/>
          <a:ext cx="8481786" cy="564373"/>
        </a:xfrm>
        <a:prstGeom prst="rect">
          <a:avLst/>
        </a:prstGeom>
        <a:solidFill>
          <a:schemeClr val="accent2">
            <a:alpha val="90000"/>
            <a:hueOff val="0"/>
            <a:satOff val="0"/>
            <a:lumOff val="0"/>
            <a:alpha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7971" tIns="73660" rIns="73660" bIns="73660" numCol="1" spcCol="1270" anchor="ctr" anchorCtr="0">
          <a:noAutofit/>
        </a:bodyPr>
        <a:lstStyle/>
        <a:p>
          <a:pPr marL="0" lvl="0" indent="0" algn="l" defTabSz="1289050">
            <a:lnSpc>
              <a:spcPct val="90000"/>
            </a:lnSpc>
            <a:spcBef>
              <a:spcPct val="0"/>
            </a:spcBef>
            <a:spcAft>
              <a:spcPct val="35000"/>
            </a:spcAft>
            <a:buNone/>
          </a:pPr>
          <a:r>
            <a:rPr lang="en-US" sz="2900" kern="1200"/>
            <a:t>Home Assignment</a:t>
          </a:r>
          <a:endParaRPr lang="en-US" sz="2900" kern="1200" dirty="0"/>
        </a:p>
      </dsp:txBody>
      <dsp:txXfrm>
        <a:off x="435638" y="5363410"/>
        <a:ext cx="8481786" cy="564373"/>
      </dsp:txXfrm>
    </dsp:sp>
    <dsp:sp modelId="{ED9163F2-F8DC-4BB1-AD75-4592C077241B}">
      <dsp:nvSpPr>
        <dsp:cNvPr id="0" name=""/>
        <dsp:cNvSpPr/>
      </dsp:nvSpPr>
      <dsp:spPr>
        <a:xfrm>
          <a:off x="82904" y="5292863"/>
          <a:ext cx="705466" cy="705466"/>
        </a:xfrm>
        <a:prstGeom prst="ellipse">
          <a:avLst/>
        </a:prstGeom>
        <a:solidFill>
          <a:schemeClr val="lt1">
            <a:hueOff val="0"/>
            <a:satOff val="0"/>
            <a:lumOff val="0"/>
            <a:alphaOff val="0"/>
          </a:schemeClr>
        </a:solidFill>
        <a:ln w="19050" cap="flat" cmpd="sng" algn="ctr">
          <a:solidFill>
            <a:schemeClr val="accent2">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69503-2296-4A91-A9FC-3B3EA2CB3949}">
      <dsp:nvSpPr>
        <dsp:cNvPr id="0" name=""/>
        <dsp:cNvSpPr/>
      </dsp:nvSpPr>
      <dsp:spPr>
        <a:xfrm>
          <a:off x="3691120" y="696740"/>
          <a:ext cx="538047" cy="91440"/>
        </a:xfrm>
        <a:custGeom>
          <a:avLst/>
          <a:gdLst/>
          <a:ahLst/>
          <a:cxnLst/>
          <a:rect l="0" t="0" r="0" b="0"/>
          <a:pathLst>
            <a:path>
              <a:moveTo>
                <a:pt x="0" y="45720"/>
              </a:moveTo>
              <a:lnTo>
                <a:pt x="538047"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45928" y="739617"/>
        <a:ext cx="28432" cy="5686"/>
      </dsp:txXfrm>
    </dsp:sp>
    <dsp:sp modelId="{84E25242-4735-44AE-9F78-4640E94E01A1}">
      <dsp:nvSpPr>
        <dsp:cNvPr id="0" name=""/>
        <dsp:cNvSpPr/>
      </dsp:nvSpPr>
      <dsp:spPr>
        <a:xfrm>
          <a:off x="1220540" y="746"/>
          <a:ext cx="2472380" cy="148342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149" tIns="127167" rIns="121149" bIns="127167" numCol="1" spcCol="1270" anchor="ctr" anchorCtr="0">
          <a:noAutofit/>
        </a:bodyPr>
        <a:lstStyle/>
        <a:p>
          <a:pPr marL="0" lvl="0" indent="0" algn="ctr" defTabSz="1289050">
            <a:lnSpc>
              <a:spcPct val="90000"/>
            </a:lnSpc>
            <a:spcBef>
              <a:spcPct val="0"/>
            </a:spcBef>
            <a:spcAft>
              <a:spcPct val="35000"/>
            </a:spcAft>
            <a:buNone/>
          </a:pPr>
          <a:r>
            <a:rPr lang="en-US" sz="2900" kern="1200" dirty="0"/>
            <a:t>Fine-tuning Overview</a:t>
          </a:r>
        </a:p>
      </dsp:txBody>
      <dsp:txXfrm>
        <a:off x="1220540" y="746"/>
        <a:ext cx="2472380" cy="1483428"/>
      </dsp:txXfrm>
    </dsp:sp>
    <dsp:sp modelId="{EAB60A69-C412-4D3A-AFD6-13DB3A6EABC8}">
      <dsp:nvSpPr>
        <dsp:cNvPr id="0" name=""/>
        <dsp:cNvSpPr/>
      </dsp:nvSpPr>
      <dsp:spPr>
        <a:xfrm>
          <a:off x="6732149" y="696740"/>
          <a:ext cx="538047" cy="91440"/>
        </a:xfrm>
        <a:custGeom>
          <a:avLst/>
          <a:gdLst/>
          <a:ahLst/>
          <a:cxnLst/>
          <a:rect l="0" t="0" r="0" b="0"/>
          <a:pathLst>
            <a:path>
              <a:moveTo>
                <a:pt x="0" y="45720"/>
              </a:moveTo>
              <a:lnTo>
                <a:pt x="538047" y="45720"/>
              </a:lnTo>
            </a:path>
          </a:pathLst>
        </a:custGeom>
        <a:noFill/>
        <a:ln w="12700" cap="flat" cmpd="sng" algn="ctr">
          <a:solidFill>
            <a:schemeClr val="accent2">
              <a:hueOff val="2147871"/>
              <a:satOff val="-6164"/>
              <a:lumOff val="-987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986957" y="739617"/>
        <a:ext cx="28432" cy="5686"/>
      </dsp:txXfrm>
    </dsp:sp>
    <dsp:sp modelId="{C92D092E-639D-4A57-9E4E-B33030BD71D0}">
      <dsp:nvSpPr>
        <dsp:cNvPr id="0" name=""/>
        <dsp:cNvSpPr/>
      </dsp:nvSpPr>
      <dsp:spPr>
        <a:xfrm>
          <a:off x="4261568" y="746"/>
          <a:ext cx="2472380" cy="1483428"/>
        </a:xfrm>
        <a:prstGeom prst="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149" tIns="127167" rIns="121149" bIns="127167" numCol="1" spcCol="1270" anchor="ctr" anchorCtr="0">
          <a:noAutofit/>
        </a:bodyPr>
        <a:lstStyle/>
        <a:p>
          <a:pPr marL="0" lvl="0" indent="0" algn="ctr" defTabSz="1289050">
            <a:lnSpc>
              <a:spcPct val="90000"/>
            </a:lnSpc>
            <a:spcBef>
              <a:spcPct val="0"/>
            </a:spcBef>
            <a:spcAft>
              <a:spcPct val="35000"/>
            </a:spcAft>
            <a:buNone/>
          </a:pPr>
          <a:r>
            <a:rPr lang="en-US" sz="2900" kern="1200" dirty="0"/>
            <a:t>Data Collection</a:t>
          </a:r>
        </a:p>
      </dsp:txBody>
      <dsp:txXfrm>
        <a:off x="4261568" y="746"/>
        <a:ext cx="2472380" cy="1483428"/>
      </dsp:txXfrm>
    </dsp:sp>
    <dsp:sp modelId="{D50C6729-421F-4AF2-B59E-8611323DDABF}">
      <dsp:nvSpPr>
        <dsp:cNvPr id="0" name=""/>
        <dsp:cNvSpPr/>
      </dsp:nvSpPr>
      <dsp:spPr>
        <a:xfrm>
          <a:off x="2456730" y="1482375"/>
          <a:ext cx="6082056" cy="538047"/>
        </a:xfrm>
        <a:custGeom>
          <a:avLst/>
          <a:gdLst/>
          <a:ahLst/>
          <a:cxnLst/>
          <a:rect l="0" t="0" r="0" b="0"/>
          <a:pathLst>
            <a:path>
              <a:moveTo>
                <a:pt x="6082056" y="0"/>
              </a:moveTo>
              <a:lnTo>
                <a:pt x="6082056" y="286123"/>
              </a:lnTo>
              <a:lnTo>
                <a:pt x="0" y="286123"/>
              </a:lnTo>
              <a:lnTo>
                <a:pt x="0" y="538047"/>
              </a:lnTo>
            </a:path>
          </a:pathLst>
        </a:custGeom>
        <a:noFill/>
        <a:ln w="12700" cap="flat" cmpd="sng" algn="ctr">
          <a:solidFill>
            <a:schemeClr val="accent2">
              <a:hueOff val="4295743"/>
              <a:satOff val="-12329"/>
              <a:lumOff val="-1973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45044" y="1748555"/>
        <a:ext cx="305429" cy="5686"/>
      </dsp:txXfrm>
    </dsp:sp>
    <dsp:sp modelId="{F97787F3-37FA-4FCD-9701-30EB161E4852}">
      <dsp:nvSpPr>
        <dsp:cNvPr id="0" name=""/>
        <dsp:cNvSpPr/>
      </dsp:nvSpPr>
      <dsp:spPr>
        <a:xfrm>
          <a:off x="7302597" y="746"/>
          <a:ext cx="2472380" cy="1483428"/>
        </a:xfrm>
        <a:prstGeom prst="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149" tIns="127167" rIns="121149" bIns="127167" numCol="1" spcCol="1270" anchor="ctr" anchorCtr="0">
          <a:noAutofit/>
        </a:bodyPr>
        <a:lstStyle/>
        <a:p>
          <a:pPr marL="0" lvl="0" indent="0" algn="ctr" defTabSz="1289050">
            <a:lnSpc>
              <a:spcPct val="90000"/>
            </a:lnSpc>
            <a:spcBef>
              <a:spcPct val="0"/>
            </a:spcBef>
            <a:spcAft>
              <a:spcPct val="35000"/>
            </a:spcAft>
            <a:buNone/>
          </a:pPr>
          <a:r>
            <a:rPr lang="en-US" sz="2900" kern="1200" dirty="0"/>
            <a:t>Loaded Model and Tokenizer</a:t>
          </a:r>
        </a:p>
      </dsp:txBody>
      <dsp:txXfrm>
        <a:off x="7302597" y="746"/>
        <a:ext cx="2472380" cy="1483428"/>
      </dsp:txXfrm>
    </dsp:sp>
    <dsp:sp modelId="{5EA876B9-6648-470F-ACAE-C0586677F872}">
      <dsp:nvSpPr>
        <dsp:cNvPr id="0" name=""/>
        <dsp:cNvSpPr/>
      </dsp:nvSpPr>
      <dsp:spPr>
        <a:xfrm>
          <a:off x="3691120" y="2748817"/>
          <a:ext cx="538047" cy="91440"/>
        </a:xfrm>
        <a:custGeom>
          <a:avLst/>
          <a:gdLst/>
          <a:ahLst/>
          <a:cxnLst/>
          <a:rect l="0" t="0" r="0" b="0"/>
          <a:pathLst>
            <a:path>
              <a:moveTo>
                <a:pt x="0" y="45720"/>
              </a:moveTo>
              <a:lnTo>
                <a:pt x="538047"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45928" y="2791693"/>
        <a:ext cx="28432" cy="5686"/>
      </dsp:txXfrm>
    </dsp:sp>
    <dsp:sp modelId="{B401C22C-8580-4CC1-90BC-99151C621E7A}">
      <dsp:nvSpPr>
        <dsp:cNvPr id="0" name=""/>
        <dsp:cNvSpPr/>
      </dsp:nvSpPr>
      <dsp:spPr>
        <a:xfrm>
          <a:off x="1220540" y="2052822"/>
          <a:ext cx="2472380" cy="1483428"/>
        </a:xfrm>
        <a:prstGeom prst="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149" tIns="127167" rIns="121149" bIns="127167" numCol="1" spcCol="1270" anchor="ctr" anchorCtr="0">
          <a:noAutofit/>
        </a:bodyPr>
        <a:lstStyle/>
        <a:p>
          <a:pPr marL="0" lvl="0" indent="0" algn="ctr" defTabSz="1289050">
            <a:lnSpc>
              <a:spcPct val="90000"/>
            </a:lnSpc>
            <a:spcBef>
              <a:spcPct val="0"/>
            </a:spcBef>
            <a:spcAft>
              <a:spcPct val="35000"/>
            </a:spcAft>
            <a:buNone/>
          </a:pPr>
          <a:r>
            <a:rPr lang="en-US" sz="2900" kern="1200" dirty="0"/>
            <a:t>Trained the Model</a:t>
          </a:r>
        </a:p>
      </dsp:txBody>
      <dsp:txXfrm>
        <a:off x="1220540" y="2052822"/>
        <a:ext cx="2472380" cy="1483428"/>
      </dsp:txXfrm>
    </dsp:sp>
    <dsp:sp modelId="{B6EA6948-3EAD-46CB-9DFB-67DD6A472095}">
      <dsp:nvSpPr>
        <dsp:cNvPr id="0" name=""/>
        <dsp:cNvSpPr/>
      </dsp:nvSpPr>
      <dsp:spPr>
        <a:xfrm>
          <a:off x="4261568" y="2052822"/>
          <a:ext cx="2472380" cy="1483428"/>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149" tIns="127167" rIns="121149" bIns="127167" numCol="1" spcCol="1270" anchor="ctr" anchorCtr="0">
          <a:noAutofit/>
        </a:bodyPr>
        <a:lstStyle/>
        <a:p>
          <a:pPr marL="0" lvl="0" indent="0" algn="ctr" defTabSz="1289050">
            <a:lnSpc>
              <a:spcPct val="90000"/>
            </a:lnSpc>
            <a:spcBef>
              <a:spcPct val="0"/>
            </a:spcBef>
            <a:spcAft>
              <a:spcPct val="35000"/>
            </a:spcAft>
            <a:buNone/>
          </a:pPr>
          <a:r>
            <a:rPr lang="en-US" sz="2900" kern="1200"/>
            <a:t>Ran experiments + homework</a:t>
          </a:r>
        </a:p>
      </dsp:txBody>
      <dsp:txXfrm>
        <a:off x="4261568" y="2052822"/>
        <a:ext cx="2472380" cy="14834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7F22A-04B1-4F9F-B709-38C19F98C0DD}">
      <dsp:nvSpPr>
        <dsp:cNvPr id="0" name=""/>
        <dsp:cNvSpPr/>
      </dsp:nvSpPr>
      <dsp:spPr>
        <a:xfrm>
          <a:off x="0" y="537185"/>
          <a:ext cx="5393361" cy="77220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Not updated on the</a:t>
          </a:r>
          <a:r>
            <a:rPr lang="en-US" sz="2000" b="1" kern="1200" dirty="0">
              <a:latin typeface="Times New Roman" panose="02020603050405020304" pitchFamily="18" charset="0"/>
              <a:cs typeface="Times New Roman" panose="02020603050405020304" pitchFamily="18" charset="0"/>
            </a:rPr>
            <a:t> latest information</a:t>
          </a:r>
          <a:r>
            <a:rPr lang="en-US" sz="2000" kern="1200" dirty="0">
              <a:latin typeface="Times New Roman" panose="02020603050405020304" pitchFamily="18" charset="0"/>
              <a:cs typeface="Times New Roman" panose="02020603050405020304" pitchFamily="18" charset="0"/>
            </a:rPr>
            <a:t>: limited to the data they were </a:t>
          </a:r>
          <a:r>
            <a:rPr lang="en-US" sz="2000" b="1" kern="1200" dirty="0">
              <a:latin typeface="Times New Roman" panose="02020603050405020304" pitchFamily="18" charset="0"/>
              <a:cs typeface="Times New Roman" panose="02020603050405020304" pitchFamily="18" charset="0"/>
            </a:rPr>
            <a:t>trained on</a:t>
          </a:r>
        </a:p>
      </dsp:txBody>
      <dsp:txXfrm>
        <a:off x="37696" y="574881"/>
        <a:ext cx="5317969" cy="696808"/>
      </dsp:txXfrm>
    </dsp:sp>
    <dsp:sp modelId="{80D010FE-9F84-4979-BA36-7C5779D4A927}">
      <dsp:nvSpPr>
        <dsp:cNvPr id="0" name=""/>
        <dsp:cNvSpPr/>
      </dsp:nvSpPr>
      <dsp:spPr>
        <a:xfrm>
          <a:off x="0" y="1366986"/>
          <a:ext cx="5393361" cy="77220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LLMs often </a:t>
          </a:r>
          <a:r>
            <a:rPr lang="en-US" sz="2000" b="1" kern="1200" dirty="0">
              <a:latin typeface="Times New Roman" panose="02020603050405020304" pitchFamily="18" charset="0"/>
              <a:cs typeface="Times New Roman" panose="02020603050405020304" pitchFamily="18" charset="0"/>
            </a:rPr>
            <a:t>hallucinate</a:t>
          </a:r>
          <a:r>
            <a:rPr lang="en-US" sz="2000" kern="1200" dirty="0">
              <a:latin typeface="Times New Roman" panose="02020603050405020304" pitchFamily="18" charset="0"/>
              <a:cs typeface="Times New Roman" panose="02020603050405020304" pitchFamily="18" charset="0"/>
            </a:rPr>
            <a:t> (generate incorrect facts) </a:t>
          </a:r>
          <a:r>
            <a:rPr lang="en-US" sz="2000" b="1" kern="1200" dirty="0">
              <a:latin typeface="Times New Roman" panose="02020603050405020304" pitchFamily="18" charset="0"/>
              <a:cs typeface="Times New Roman" panose="02020603050405020304" pitchFamily="18" charset="0"/>
            </a:rPr>
            <a:t>while appearing confident </a:t>
          </a:r>
          <a:r>
            <a:rPr lang="en-US" sz="2000" kern="1200" dirty="0">
              <a:latin typeface="Times New Roman" panose="02020603050405020304" pitchFamily="18" charset="0"/>
              <a:cs typeface="Times New Roman" panose="02020603050405020304" pitchFamily="18" charset="0"/>
            </a:rPr>
            <a:t>in their answers</a:t>
          </a:r>
        </a:p>
      </dsp:txBody>
      <dsp:txXfrm>
        <a:off x="37696" y="1404682"/>
        <a:ext cx="5317969" cy="696808"/>
      </dsp:txXfrm>
    </dsp:sp>
    <dsp:sp modelId="{AE11C44B-0831-47A9-ACD8-9076ED20AB23}">
      <dsp:nvSpPr>
        <dsp:cNvPr id="0" name=""/>
        <dsp:cNvSpPr/>
      </dsp:nvSpPr>
      <dsp:spPr>
        <a:xfrm>
          <a:off x="0" y="2196786"/>
          <a:ext cx="5393361" cy="77220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latin typeface="Times New Roman" panose="02020603050405020304" pitchFamily="18" charset="0"/>
              <a:cs typeface="Times New Roman" panose="02020603050405020304" pitchFamily="18" charset="0"/>
            </a:rPr>
            <a:t>Lack of domain-specific information</a:t>
          </a:r>
          <a:r>
            <a:rPr lang="en-US" sz="2000" kern="1200" dirty="0">
              <a:latin typeface="Times New Roman" panose="02020603050405020304" pitchFamily="18" charset="0"/>
              <a:cs typeface="Times New Roman" panose="02020603050405020304" pitchFamily="18" charset="0"/>
            </a:rPr>
            <a:t> since the models are trained on general knowledge</a:t>
          </a:r>
        </a:p>
      </dsp:txBody>
      <dsp:txXfrm>
        <a:off x="37696" y="2234482"/>
        <a:ext cx="5317969" cy="696808"/>
      </dsp:txXfrm>
    </dsp:sp>
    <dsp:sp modelId="{53C10163-6DB0-4CAC-BBF8-99900FFFE965}">
      <dsp:nvSpPr>
        <dsp:cNvPr id="0" name=""/>
        <dsp:cNvSpPr/>
      </dsp:nvSpPr>
      <dsp:spPr>
        <a:xfrm>
          <a:off x="0" y="3026586"/>
          <a:ext cx="5393361" cy="77220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Re-training LLMs with new information requires </a:t>
          </a:r>
          <a:r>
            <a:rPr lang="en-US" sz="2000" b="1" kern="1200" dirty="0">
              <a:latin typeface="Times New Roman" panose="02020603050405020304" pitchFamily="18" charset="0"/>
              <a:cs typeface="Times New Roman" panose="02020603050405020304" pitchFamily="18" charset="0"/>
            </a:rPr>
            <a:t>significant time </a:t>
          </a:r>
          <a:r>
            <a:rPr lang="en-US" sz="2000" kern="1200" dirty="0">
              <a:latin typeface="Times New Roman" panose="02020603050405020304" pitchFamily="18" charset="0"/>
              <a:cs typeface="Times New Roman" panose="02020603050405020304" pitchFamily="18" charset="0"/>
            </a:rPr>
            <a:t>and </a:t>
          </a:r>
          <a:r>
            <a:rPr lang="en-US" sz="2000" b="1" kern="1200" dirty="0">
              <a:latin typeface="Times New Roman" panose="02020603050405020304" pitchFamily="18" charset="0"/>
              <a:cs typeface="Times New Roman" panose="02020603050405020304" pitchFamily="18" charset="0"/>
            </a:rPr>
            <a:t>compute resources</a:t>
          </a:r>
        </a:p>
      </dsp:txBody>
      <dsp:txXfrm>
        <a:off x="37696" y="3064282"/>
        <a:ext cx="5317969" cy="69680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35F2F-F677-4D1A-92AC-DD3987852980}">
      <dsp:nvSpPr>
        <dsp:cNvPr id="0" name=""/>
        <dsp:cNvSpPr/>
      </dsp:nvSpPr>
      <dsp:spPr>
        <a:xfrm>
          <a:off x="0" y="1020695"/>
          <a:ext cx="3285820" cy="208649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36B16C-5234-4024-BA30-826EBB30478D}">
      <dsp:nvSpPr>
        <dsp:cNvPr id="0" name=""/>
        <dsp:cNvSpPr/>
      </dsp:nvSpPr>
      <dsp:spPr>
        <a:xfrm>
          <a:off x="365091" y="1367531"/>
          <a:ext cx="3285820" cy="208649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RAG stands for </a:t>
          </a:r>
          <a:r>
            <a:rPr lang="en-US" sz="1800" b="1" kern="1200" dirty="0">
              <a:latin typeface="Times New Roman" panose="02020603050405020304" pitchFamily="18" charset="0"/>
              <a:cs typeface="Times New Roman" panose="02020603050405020304" pitchFamily="18" charset="0"/>
            </a:rPr>
            <a:t>R</a:t>
          </a:r>
          <a:r>
            <a:rPr lang="en-US" sz="1800" kern="1200" dirty="0">
              <a:latin typeface="Times New Roman" panose="02020603050405020304" pitchFamily="18" charset="0"/>
              <a:cs typeface="Times New Roman" panose="02020603050405020304" pitchFamily="18" charset="0"/>
            </a:rPr>
            <a:t>etrieval </a:t>
          </a:r>
          <a:r>
            <a:rPr lang="en-US" sz="1800" b="1" kern="1200" dirty="0">
              <a:latin typeface="Times New Roman" panose="02020603050405020304" pitchFamily="18" charset="0"/>
              <a:cs typeface="Times New Roman" panose="02020603050405020304" pitchFamily="18" charset="0"/>
            </a:rPr>
            <a:t>A</a:t>
          </a:r>
          <a:r>
            <a:rPr lang="en-US" sz="1800" kern="1200" dirty="0">
              <a:latin typeface="Times New Roman" panose="02020603050405020304" pitchFamily="18" charset="0"/>
              <a:cs typeface="Times New Roman" panose="02020603050405020304" pitchFamily="18" charset="0"/>
            </a:rPr>
            <a:t>ugmented </a:t>
          </a:r>
          <a:r>
            <a:rPr lang="en-US" sz="1800" b="1" kern="1200" dirty="0">
              <a:latin typeface="Times New Roman" panose="02020603050405020304" pitchFamily="18" charset="0"/>
              <a:cs typeface="Times New Roman" panose="02020603050405020304" pitchFamily="18" charset="0"/>
            </a:rPr>
            <a:t>G</a:t>
          </a:r>
          <a:r>
            <a:rPr lang="en-US" sz="1800" kern="1200" dirty="0">
              <a:latin typeface="Times New Roman" panose="02020603050405020304" pitchFamily="18" charset="0"/>
              <a:cs typeface="Times New Roman" panose="02020603050405020304" pitchFamily="18" charset="0"/>
            </a:rPr>
            <a:t>eneration</a:t>
          </a:r>
        </a:p>
      </dsp:txBody>
      <dsp:txXfrm>
        <a:off x="426202" y="1428642"/>
        <a:ext cx="3163598" cy="1964274"/>
      </dsp:txXfrm>
    </dsp:sp>
    <dsp:sp modelId="{1E69F0B6-40E7-43F5-B69B-DDC655A11BEE}">
      <dsp:nvSpPr>
        <dsp:cNvPr id="0" name=""/>
        <dsp:cNvSpPr/>
      </dsp:nvSpPr>
      <dsp:spPr>
        <a:xfrm>
          <a:off x="4016003" y="1020695"/>
          <a:ext cx="3285820" cy="208649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CEC926-0CF1-441F-A0CF-52275E20135D}">
      <dsp:nvSpPr>
        <dsp:cNvPr id="0" name=""/>
        <dsp:cNvSpPr/>
      </dsp:nvSpPr>
      <dsp:spPr>
        <a:xfrm>
          <a:off x="4381094" y="1367531"/>
          <a:ext cx="3285820" cy="208649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RAG </a:t>
          </a:r>
          <a:r>
            <a:rPr lang="en-US" sz="1800" b="1" kern="1200" dirty="0">
              <a:latin typeface="Times New Roman" panose="02020603050405020304" pitchFamily="18" charset="0"/>
              <a:cs typeface="Times New Roman" panose="02020603050405020304" pitchFamily="18" charset="0"/>
            </a:rPr>
            <a:t>combines information retrieval with text generation</a:t>
          </a:r>
          <a:r>
            <a:rPr lang="en-US" sz="1800" kern="1200" dirty="0">
              <a:latin typeface="Times New Roman" panose="02020603050405020304" pitchFamily="18" charset="0"/>
              <a:cs typeface="Times New Roman" panose="02020603050405020304" pitchFamily="18" charset="0"/>
            </a:rPr>
            <a:t>, allowing AI models to retrieve relevant information from a knowledge source and incorporate it into generated text</a:t>
          </a:r>
        </a:p>
      </dsp:txBody>
      <dsp:txXfrm>
        <a:off x="4442205" y="1428642"/>
        <a:ext cx="3163598" cy="1964274"/>
      </dsp:txXfrm>
    </dsp:sp>
    <dsp:sp modelId="{7D0DC589-7E46-401C-A6D6-3A449F0530C2}">
      <dsp:nvSpPr>
        <dsp:cNvPr id="0" name=""/>
        <dsp:cNvSpPr/>
      </dsp:nvSpPr>
      <dsp:spPr>
        <a:xfrm>
          <a:off x="8032006" y="1046400"/>
          <a:ext cx="3285820" cy="208649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1CF17D-63FA-4B36-A375-7D575758CD2A}">
      <dsp:nvSpPr>
        <dsp:cNvPr id="0" name=""/>
        <dsp:cNvSpPr/>
      </dsp:nvSpPr>
      <dsp:spPr>
        <a:xfrm>
          <a:off x="8397098" y="1393237"/>
          <a:ext cx="3285820" cy="208649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The retrieved information is used </a:t>
          </a:r>
          <a:r>
            <a:rPr lang="en-US" sz="1800" b="1" kern="1200" dirty="0">
              <a:latin typeface="Times New Roman" panose="02020603050405020304" pitchFamily="18" charset="0"/>
              <a:cs typeface="Times New Roman" panose="02020603050405020304" pitchFamily="18" charset="0"/>
            </a:rPr>
            <a:t>in conjunction </a:t>
          </a:r>
          <a:r>
            <a:rPr lang="en-US" sz="1800" kern="1200" dirty="0">
              <a:latin typeface="Times New Roman" panose="02020603050405020304" pitchFamily="18" charset="0"/>
              <a:cs typeface="Times New Roman" panose="02020603050405020304" pitchFamily="18" charset="0"/>
            </a:rPr>
            <a:t>with the model’s </a:t>
          </a:r>
          <a:r>
            <a:rPr lang="en-US" sz="1800" b="1" kern="1200" dirty="0">
              <a:latin typeface="Times New Roman" panose="02020603050405020304" pitchFamily="18" charset="0"/>
              <a:cs typeface="Times New Roman" panose="02020603050405020304" pitchFamily="18" charset="0"/>
            </a:rPr>
            <a:t>internal knowledge </a:t>
          </a:r>
          <a:r>
            <a:rPr lang="en-US" sz="1800" kern="1200" dirty="0">
              <a:latin typeface="Times New Roman" panose="02020603050405020304" pitchFamily="18" charset="0"/>
              <a:cs typeface="Times New Roman" panose="02020603050405020304" pitchFamily="18" charset="0"/>
            </a:rPr>
            <a:t>to generate the answers</a:t>
          </a:r>
        </a:p>
      </dsp:txBody>
      <dsp:txXfrm>
        <a:off x="8458209" y="1454348"/>
        <a:ext cx="3163598" cy="19642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06349-ABA5-4F3E-B21D-CAA720EE1CEF}">
      <dsp:nvSpPr>
        <dsp:cNvPr id="0" name=""/>
        <dsp:cNvSpPr/>
      </dsp:nvSpPr>
      <dsp:spPr>
        <a:xfrm>
          <a:off x="3201"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F92CB0-16CE-4B9B-B674-CA79BC61B5C8}">
      <dsp:nvSpPr>
        <dsp:cNvPr id="0" name=""/>
        <dsp:cNvSpPr/>
      </dsp:nvSpPr>
      <dsp:spPr>
        <a:xfrm>
          <a:off x="257188"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latin typeface="Times New Roman" panose="02020603050405020304" pitchFamily="18" charset="0"/>
              <a:cs typeface="Times New Roman" panose="02020603050405020304" pitchFamily="18" charset="0"/>
            </a:rPr>
            <a:t>Fine-tuning is expensive</a:t>
          </a:r>
        </a:p>
      </dsp:txBody>
      <dsp:txXfrm>
        <a:off x="299702" y="1282093"/>
        <a:ext cx="2200851" cy="1366505"/>
      </dsp:txXfrm>
    </dsp:sp>
    <dsp:sp modelId="{03A8EB06-1A1E-428B-9512-749EA2779ED5}">
      <dsp:nvSpPr>
        <dsp:cNvPr id="0" name=""/>
        <dsp:cNvSpPr/>
      </dsp:nvSpPr>
      <dsp:spPr>
        <a:xfrm>
          <a:off x="2797054"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12206A-CC45-4BC8-8410-8884C6F7446E}">
      <dsp:nvSpPr>
        <dsp:cNvPr id="0" name=""/>
        <dsp:cNvSpPr/>
      </dsp:nvSpPr>
      <dsp:spPr>
        <a:xfrm>
          <a:off x="3051041"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latin typeface="Times New Roman" panose="02020603050405020304" pitchFamily="18" charset="0"/>
              <a:cs typeface="Times New Roman" panose="02020603050405020304" pitchFamily="18" charset="0"/>
            </a:rPr>
            <a:t>Fine-tuning is time consuming</a:t>
          </a:r>
        </a:p>
      </dsp:txBody>
      <dsp:txXfrm>
        <a:off x="3093555" y="1282093"/>
        <a:ext cx="2200851" cy="1366505"/>
      </dsp:txXfrm>
    </dsp:sp>
    <dsp:sp modelId="{A624ED80-6F32-4D6D-905F-F07AE9DAC757}">
      <dsp:nvSpPr>
        <dsp:cNvPr id="0" name=""/>
        <dsp:cNvSpPr/>
      </dsp:nvSpPr>
      <dsp:spPr>
        <a:xfrm>
          <a:off x="5590907"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33A05E-F5E2-40EC-835A-ACD9E1FCF1FC}">
      <dsp:nvSpPr>
        <dsp:cNvPr id="0" name=""/>
        <dsp:cNvSpPr/>
      </dsp:nvSpPr>
      <dsp:spPr>
        <a:xfrm>
          <a:off x="5844894"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latin typeface="Times New Roman" panose="02020603050405020304" pitchFamily="18" charset="0"/>
              <a:cs typeface="Times New Roman" panose="02020603050405020304" pitchFamily="18" charset="0"/>
            </a:rPr>
            <a:t>Knowledge of LLMs is out of date</a:t>
          </a:r>
        </a:p>
      </dsp:txBody>
      <dsp:txXfrm>
        <a:off x="5887408" y="1282093"/>
        <a:ext cx="2200851" cy="1366505"/>
      </dsp:txXfrm>
    </dsp:sp>
    <dsp:sp modelId="{DFA67267-2845-41A8-A4A2-B7C889731EBF}">
      <dsp:nvSpPr>
        <dsp:cNvPr id="0" name=""/>
        <dsp:cNvSpPr/>
      </dsp:nvSpPr>
      <dsp:spPr>
        <a:xfrm>
          <a:off x="8384760" y="998291"/>
          <a:ext cx="2285879" cy="1451533"/>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25B844-8364-43A5-B194-F9940F383942}">
      <dsp:nvSpPr>
        <dsp:cNvPr id="0" name=""/>
        <dsp:cNvSpPr/>
      </dsp:nvSpPr>
      <dsp:spPr>
        <a:xfrm>
          <a:off x="8638747" y="1239579"/>
          <a:ext cx="2285879" cy="1451533"/>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latin typeface="Times New Roman" panose="02020603050405020304" pitchFamily="18" charset="0"/>
              <a:cs typeface="Times New Roman" panose="02020603050405020304" pitchFamily="18" charset="0"/>
            </a:rPr>
            <a:t>RAG is pluggable</a:t>
          </a:r>
        </a:p>
      </dsp:txBody>
      <dsp:txXfrm>
        <a:off x="8681261" y="1282093"/>
        <a:ext cx="2200851" cy="13665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92C969-B6C6-45D0-9D99-D592CBBF6AE5}">
      <dsp:nvSpPr>
        <dsp:cNvPr id="0" name=""/>
        <dsp:cNvSpPr/>
      </dsp:nvSpPr>
      <dsp:spPr>
        <a:xfrm>
          <a:off x="-6122738" y="-937410"/>
          <a:ext cx="7293488" cy="7293488"/>
        </a:xfrm>
        <a:prstGeom prst="blockArc">
          <a:avLst>
            <a:gd name="adj1" fmla="val 18900000"/>
            <a:gd name="adj2" fmla="val 2700000"/>
            <a:gd name="adj3" fmla="val 296"/>
          </a:avLst>
        </a:prstGeom>
        <a:noFill/>
        <a:ln w="19050" cap="flat" cmpd="sng" algn="ctr">
          <a:solidFill>
            <a:schemeClr val="accent1">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9BFA76-3F77-4034-8D10-1252C814348D}">
      <dsp:nvSpPr>
        <dsp:cNvPr id="0" name=""/>
        <dsp:cNvSpPr/>
      </dsp:nvSpPr>
      <dsp:spPr>
        <a:xfrm>
          <a:off x="380119" y="246332"/>
          <a:ext cx="11309362" cy="492448"/>
        </a:xfrm>
        <a:prstGeom prst="rect">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0881"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Environment</a:t>
          </a:r>
        </a:p>
      </dsp:txBody>
      <dsp:txXfrm>
        <a:off x="380119" y="246332"/>
        <a:ext cx="11309362" cy="492448"/>
      </dsp:txXfrm>
    </dsp:sp>
    <dsp:sp modelId="{26DAE66F-08F9-4F16-BCE3-F9AEE420F569}">
      <dsp:nvSpPr>
        <dsp:cNvPr id="0" name=""/>
        <dsp:cNvSpPr/>
      </dsp:nvSpPr>
      <dsp:spPr>
        <a:xfrm>
          <a:off x="72339" y="184776"/>
          <a:ext cx="615560" cy="615560"/>
        </a:xfrm>
        <a:prstGeom prst="ellipse">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D15EA8-D0C6-41FA-8F32-79307F0EDF7C}">
      <dsp:nvSpPr>
        <dsp:cNvPr id="0" name=""/>
        <dsp:cNvSpPr/>
      </dsp:nvSpPr>
      <dsp:spPr>
        <a:xfrm>
          <a:off x="826075" y="985438"/>
          <a:ext cx="10863406" cy="492448"/>
        </a:xfrm>
        <a:prstGeom prst="rect">
          <a:avLst/>
        </a:prstGeom>
        <a:solidFill>
          <a:schemeClr val="accent1">
            <a:shade val="80000"/>
            <a:hueOff val="90933"/>
            <a:satOff val="-9482"/>
            <a:lumOff val="63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0881"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Model and Tokenizer</a:t>
          </a:r>
        </a:p>
      </dsp:txBody>
      <dsp:txXfrm>
        <a:off x="826075" y="985438"/>
        <a:ext cx="10863406" cy="492448"/>
      </dsp:txXfrm>
    </dsp:sp>
    <dsp:sp modelId="{2D44B28D-BCC4-4B66-8F9A-B5AFC1E6136E}">
      <dsp:nvSpPr>
        <dsp:cNvPr id="0" name=""/>
        <dsp:cNvSpPr/>
      </dsp:nvSpPr>
      <dsp:spPr>
        <a:xfrm>
          <a:off x="518295" y="923882"/>
          <a:ext cx="615560" cy="615560"/>
        </a:xfrm>
        <a:prstGeom prst="ellipse">
          <a:avLst/>
        </a:prstGeom>
        <a:solidFill>
          <a:schemeClr val="lt1">
            <a:hueOff val="0"/>
            <a:satOff val="0"/>
            <a:lumOff val="0"/>
            <a:alphaOff val="0"/>
          </a:schemeClr>
        </a:solidFill>
        <a:ln w="19050" cap="flat" cmpd="sng" algn="ctr">
          <a:solidFill>
            <a:schemeClr val="accent1">
              <a:shade val="80000"/>
              <a:hueOff val="90933"/>
              <a:satOff val="-9482"/>
              <a:lumOff val="637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6D57BE-9D1A-470D-8915-D82D451DE312}">
      <dsp:nvSpPr>
        <dsp:cNvPr id="0" name=""/>
        <dsp:cNvSpPr/>
      </dsp:nvSpPr>
      <dsp:spPr>
        <a:xfrm>
          <a:off x="1070457" y="1724003"/>
          <a:ext cx="10619024" cy="492448"/>
        </a:xfrm>
        <a:prstGeom prst="rect">
          <a:avLst/>
        </a:prstGeom>
        <a:solidFill>
          <a:schemeClr val="accent1">
            <a:shade val="80000"/>
            <a:hueOff val="181866"/>
            <a:satOff val="-18964"/>
            <a:lumOff val="127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0881"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Prepare the Knowledge Base </a:t>
          </a:r>
        </a:p>
      </dsp:txBody>
      <dsp:txXfrm>
        <a:off x="1070457" y="1724003"/>
        <a:ext cx="10619024" cy="492448"/>
      </dsp:txXfrm>
    </dsp:sp>
    <dsp:sp modelId="{D9AB972A-5DDE-40AA-9F17-2722ADF3E028}">
      <dsp:nvSpPr>
        <dsp:cNvPr id="0" name=""/>
        <dsp:cNvSpPr/>
      </dsp:nvSpPr>
      <dsp:spPr>
        <a:xfrm>
          <a:off x="762677" y="1662447"/>
          <a:ext cx="615560" cy="615560"/>
        </a:xfrm>
        <a:prstGeom prst="ellipse">
          <a:avLst/>
        </a:prstGeom>
        <a:solidFill>
          <a:schemeClr val="lt1">
            <a:hueOff val="0"/>
            <a:satOff val="0"/>
            <a:lumOff val="0"/>
            <a:alphaOff val="0"/>
          </a:schemeClr>
        </a:solidFill>
        <a:ln w="19050" cap="flat" cmpd="sng" algn="ctr">
          <a:solidFill>
            <a:schemeClr val="accent1">
              <a:shade val="80000"/>
              <a:hueOff val="181866"/>
              <a:satOff val="-18964"/>
              <a:lumOff val="1274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EF49095-29DF-48A0-8EA6-E1CA0D15CB4B}">
      <dsp:nvSpPr>
        <dsp:cNvPr id="0" name=""/>
        <dsp:cNvSpPr/>
      </dsp:nvSpPr>
      <dsp:spPr>
        <a:xfrm>
          <a:off x="1148486" y="2463109"/>
          <a:ext cx="10540995" cy="492448"/>
        </a:xfrm>
        <a:prstGeom prst="rect">
          <a:avLst/>
        </a:prstGeom>
        <a:solidFill>
          <a:schemeClr val="accent1">
            <a:shade val="80000"/>
            <a:hueOff val="272799"/>
            <a:satOff val="-28446"/>
            <a:lumOff val="1911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0881"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Preprocessing the document</a:t>
          </a:r>
        </a:p>
      </dsp:txBody>
      <dsp:txXfrm>
        <a:off x="1148486" y="2463109"/>
        <a:ext cx="10540995" cy="492448"/>
      </dsp:txXfrm>
    </dsp:sp>
    <dsp:sp modelId="{BCDD21E5-EB05-477F-B8D0-C650D1542CD9}">
      <dsp:nvSpPr>
        <dsp:cNvPr id="0" name=""/>
        <dsp:cNvSpPr/>
      </dsp:nvSpPr>
      <dsp:spPr>
        <a:xfrm>
          <a:off x="840706" y="2401553"/>
          <a:ext cx="615560" cy="615560"/>
        </a:xfrm>
        <a:prstGeom prst="ellipse">
          <a:avLst/>
        </a:prstGeom>
        <a:solidFill>
          <a:schemeClr val="lt1">
            <a:hueOff val="0"/>
            <a:satOff val="0"/>
            <a:lumOff val="0"/>
            <a:alphaOff val="0"/>
          </a:schemeClr>
        </a:solidFill>
        <a:ln w="19050" cap="flat" cmpd="sng" algn="ctr">
          <a:solidFill>
            <a:schemeClr val="accent1">
              <a:shade val="80000"/>
              <a:hueOff val="272799"/>
              <a:satOff val="-28446"/>
              <a:lumOff val="1911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B0EE637-0E30-44AD-9992-07609057BCF2}">
      <dsp:nvSpPr>
        <dsp:cNvPr id="0" name=""/>
        <dsp:cNvSpPr/>
      </dsp:nvSpPr>
      <dsp:spPr>
        <a:xfrm>
          <a:off x="1070457" y="3202215"/>
          <a:ext cx="10619024" cy="492448"/>
        </a:xfrm>
        <a:prstGeom prst="rect">
          <a:avLst/>
        </a:prstGeom>
        <a:solidFill>
          <a:schemeClr val="accent1">
            <a:shade val="80000"/>
            <a:hueOff val="363732"/>
            <a:satOff val="-37928"/>
            <a:lumOff val="254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0881"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Embedding and Vector DB</a:t>
          </a:r>
        </a:p>
      </dsp:txBody>
      <dsp:txXfrm>
        <a:off x="1070457" y="3202215"/>
        <a:ext cx="10619024" cy="492448"/>
      </dsp:txXfrm>
    </dsp:sp>
    <dsp:sp modelId="{17BE9418-8D63-496A-8A7E-2998300747DA}">
      <dsp:nvSpPr>
        <dsp:cNvPr id="0" name=""/>
        <dsp:cNvSpPr/>
      </dsp:nvSpPr>
      <dsp:spPr>
        <a:xfrm>
          <a:off x="762677" y="3140659"/>
          <a:ext cx="615560" cy="615560"/>
        </a:xfrm>
        <a:prstGeom prst="ellipse">
          <a:avLst/>
        </a:prstGeom>
        <a:solidFill>
          <a:schemeClr val="lt1">
            <a:hueOff val="0"/>
            <a:satOff val="0"/>
            <a:lumOff val="0"/>
            <a:alphaOff val="0"/>
          </a:schemeClr>
        </a:solidFill>
        <a:ln w="19050" cap="flat" cmpd="sng" algn="ctr">
          <a:solidFill>
            <a:schemeClr val="accent1">
              <a:shade val="80000"/>
              <a:hueOff val="363732"/>
              <a:satOff val="-37928"/>
              <a:lumOff val="25481"/>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3F91A9-1F6C-4D3A-A58B-C33E2B95F9A3}">
      <dsp:nvSpPr>
        <dsp:cNvPr id="0" name=""/>
        <dsp:cNvSpPr/>
      </dsp:nvSpPr>
      <dsp:spPr>
        <a:xfrm>
          <a:off x="826075" y="3940779"/>
          <a:ext cx="10863406" cy="492448"/>
        </a:xfrm>
        <a:prstGeom prst="rect">
          <a:avLst/>
        </a:prstGeom>
        <a:solidFill>
          <a:schemeClr val="accent1">
            <a:shade val="80000"/>
            <a:hueOff val="454665"/>
            <a:satOff val="-47410"/>
            <a:lumOff val="3185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0881" tIns="63500" rIns="63500" bIns="63500" numCol="1" spcCol="1270" anchor="ctr" anchorCtr="0">
          <a:noAutofit/>
        </a:bodyPr>
        <a:lstStyle/>
        <a:p>
          <a:pPr marL="0" lvl="0" indent="0" algn="l" defTabSz="1111250">
            <a:lnSpc>
              <a:spcPct val="90000"/>
            </a:lnSpc>
            <a:spcBef>
              <a:spcPct val="0"/>
            </a:spcBef>
            <a:spcAft>
              <a:spcPct val="35000"/>
            </a:spcAft>
            <a:buNone/>
          </a:pPr>
          <a:r>
            <a:rPr lang="en-US" sz="2500" kern="1200" dirty="0"/>
            <a:t>Set up the Retriever</a:t>
          </a:r>
        </a:p>
      </dsp:txBody>
      <dsp:txXfrm>
        <a:off x="826075" y="3940779"/>
        <a:ext cx="10863406" cy="492448"/>
      </dsp:txXfrm>
    </dsp:sp>
    <dsp:sp modelId="{958DA905-88CD-4040-AC22-C6188F1515AF}">
      <dsp:nvSpPr>
        <dsp:cNvPr id="0" name=""/>
        <dsp:cNvSpPr/>
      </dsp:nvSpPr>
      <dsp:spPr>
        <a:xfrm>
          <a:off x="518295" y="3879223"/>
          <a:ext cx="615560" cy="615560"/>
        </a:xfrm>
        <a:prstGeom prst="ellipse">
          <a:avLst/>
        </a:prstGeom>
        <a:solidFill>
          <a:schemeClr val="lt1">
            <a:hueOff val="0"/>
            <a:satOff val="0"/>
            <a:lumOff val="0"/>
            <a:alphaOff val="0"/>
          </a:schemeClr>
        </a:solidFill>
        <a:ln w="19050" cap="flat" cmpd="sng" algn="ctr">
          <a:solidFill>
            <a:schemeClr val="accent1">
              <a:shade val="80000"/>
              <a:hueOff val="454665"/>
              <a:satOff val="-47410"/>
              <a:lumOff val="31851"/>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8F4CDE-FC09-4B48-819C-1EDACAE92B23}">
      <dsp:nvSpPr>
        <dsp:cNvPr id="0" name=""/>
        <dsp:cNvSpPr/>
      </dsp:nvSpPr>
      <dsp:spPr>
        <a:xfrm>
          <a:off x="380119" y="4679885"/>
          <a:ext cx="11309362" cy="492448"/>
        </a:xfrm>
        <a:prstGeom prst="rect">
          <a:avLst/>
        </a:prstGeom>
        <a:solidFill>
          <a:schemeClr val="accent1">
            <a:shade val="80000"/>
            <a:hueOff val="545598"/>
            <a:satOff val="-56892"/>
            <a:lumOff val="382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0881" tIns="63500" rIns="63500" bIns="63500" numCol="1" spcCol="1270" anchor="ctr" anchorCtr="0">
          <a:noAutofit/>
        </a:bodyPr>
        <a:lstStyle/>
        <a:p>
          <a:pPr marL="0" lvl="0" indent="0" algn="l" defTabSz="1111250">
            <a:lnSpc>
              <a:spcPct val="90000"/>
            </a:lnSpc>
            <a:spcBef>
              <a:spcPct val="0"/>
            </a:spcBef>
            <a:spcAft>
              <a:spcPct val="35000"/>
            </a:spcAft>
            <a:buNone/>
          </a:pPr>
          <a:r>
            <a:rPr lang="en-US" sz="2500" b="0" kern="1200" dirty="0"/>
            <a:t>Build the RAG pipeline</a:t>
          </a:r>
          <a:endParaRPr lang="en-US" sz="2500" kern="1200" dirty="0"/>
        </a:p>
      </dsp:txBody>
      <dsp:txXfrm>
        <a:off x="380119" y="4679885"/>
        <a:ext cx="11309362" cy="492448"/>
      </dsp:txXfrm>
    </dsp:sp>
    <dsp:sp modelId="{907CA4DC-F200-4F37-A35D-31318CFFED79}">
      <dsp:nvSpPr>
        <dsp:cNvPr id="0" name=""/>
        <dsp:cNvSpPr/>
      </dsp:nvSpPr>
      <dsp:spPr>
        <a:xfrm>
          <a:off x="72339" y="4618329"/>
          <a:ext cx="615560" cy="615560"/>
        </a:xfrm>
        <a:prstGeom prst="ellipse">
          <a:avLst/>
        </a:prstGeom>
        <a:solidFill>
          <a:schemeClr val="lt1">
            <a:hueOff val="0"/>
            <a:satOff val="0"/>
            <a:lumOff val="0"/>
            <a:alphaOff val="0"/>
          </a:schemeClr>
        </a:solidFill>
        <a:ln w="19050" cap="flat" cmpd="sng" algn="ctr">
          <a:solidFill>
            <a:schemeClr val="accent1">
              <a:shade val="80000"/>
              <a:hueOff val="545598"/>
              <a:satOff val="-56892"/>
              <a:lumOff val="38221"/>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9112E1-E52B-4F95-9955-EFCC48468E56}">
      <dsp:nvSpPr>
        <dsp:cNvPr id="0" name=""/>
        <dsp:cNvSpPr/>
      </dsp:nvSpPr>
      <dsp:spPr>
        <a:xfrm>
          <a:off x="2131" y="0"/>
          <a:ext cx="5428185" cy="5239041"/>
        </a:xfrm>
        <a:prstGeom prst="roundRect">
          <a:avLst>
            <a:gd name="adj" fmla="val 5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a:lnSpc>
              <a:spcPct val="90000"/>
            </a:lnSpc>
            <a:spcBef>
              <a:spcPct val="0"/>
            </a:spcBef>
            <a:spcAft>
              <a:spcPct val="35000"/>
            </a:spcAft>
            <a:buNone/>
          </a:pPr>
          <a:r>
            <a:rPr lang="en-US" sz="3600" kern="1200" dirty="0"/>
            <a:t>Embedding</a:t>
          </a:r>
        </a:p>
      </dsp:txBody>
      <dsp:txXfrm rot="16200000">
        <a:off x="-1603056" y="1605188"/>
        <a:ext cx="4296013" cy="1085637"/>
      </dsp:txXfrm>
    </dsp:sp>
    <dsp:sp modelId="{F71DA5B1-9FE0-42CD-975D-2C25F52D61DC}">
      <dsp:nvSpPr>
        <dsp:cNvPr id="0" name=""/>
        <dsp:cNvSpPr/>
      </dsp:nvSpPr>
      <dsp:spPr>
        <a:xfrm>
          <a:off x="1087768" y="0"/>
          <a:ext cx="4043998" cy="523904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Embedding Model </a:t>
          </a:r>
          <a:r>
            <a:rPr lang="en-US" sz="1800" kern="1200" dirty="0">
              <a:latin typeface="Times New Roman" panose="02020603050405020304" pitchFamily="18" charset="0"/>
              <a:cs typeface="Times New Roman" panose="02020603050405020304" pitchFamily="18" charset="0"/>
            </a:rPr>
            <a:t>- </a:t>
          </a:r>
          <a:r>
            <a:rPr lang="en-US" sz="1800" kern="1200" dirty="0">
              <a:latin typeface="Times New Roman" panose="02020603050405020304" pitchFamily="18" charset="0"/>
              <a:cs typeface="Times New Roman" panose="02020603050405020304" pitchFamily="18" charset="0"/>
              <a:hlinkClick xmlns:r="http://schemas.openxmlformats.org/officeDocument/2006/relationships" r:id="rId1"/>
            </a:rPr>
            <a:t>all-MiniLM-L6-v2</a:t>
          </a: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This is a </a:t>
          </a:r>
          <a:r>
            <a:rPr lang="en-US" sz="1800" u="sng" kern="1200" dirty="0">
              <a:latin typeface="Times New Roman" panose="02020603050405020304" pitchFamily="18" charset="0"/>
              <a:cs typeface="Times New Roman" panose="02020603050405020304" pitchFamily="18" charset="0"/>
              <a:hlinkClick xmlns:r="http://schemas.openxmlformats.org/officeDocument/2006/relationships" r:id="rId2"/>
            </a:rPr>
            <a:t>sentence-transformers</a:t>
          </a:r>
          <a:r>
            <a:rPr lang="en-US" sz="1800" kern="1200" dirty="0">
              <a:latin typeface="Times New Roman" panose="02020603050405020304" pitchFamily="18" charset="0"/>
              <a:cs typeface="Times New Roman" panose="02020603050405020304" pitchFamily="18" charset="0"/>
            </a:rPr>
            <a:t> model: It maps sentences &amp; paragraphs to a 384 dimensional dense vector space and can be used for tasks like clustering or semantic search.</a:t>
          </a: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Font typeface="Arial" panose="020B0604020202020204" pitchFamily="34" charset="0"/>
            <a:buNone/>
          </a:pPr>
          <a:r>
            <a:rPr lang="en-US" sz="1800" kern="1200" dirty="0">
              <a:latin typeface="Times New Roman" panose="02020603050405020304" pitchFamily="18" charset="0"/>
              <a:cs typeface="Times New Roman" panose="02020603050405020304" pitchFamily="18" charset="0"/>
            </a:rPr>
            <a:t>-&gt; Runs all chunks through the model</a:t>
          </a:r>
        </a:p>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-&gt; Outputs a 2D NumPy array of shape</a:t>
          </a:r>
        </a:p>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a:t>
          </a:r>
          <a:r>
            <a:rPr lang="en-US" sz="1800" kern="1200" dirty="0" err="1">
              <a:latin typeface="Times New Roman" panose="02020603050405020304" pitchFamily="18" charset="0"/>
              <a:cs typeface="Times New Roman" panose="02020603050405020304" pitchFamily="18" charset="0"/>
            </a:rPr>
            <a:t>num_chunks</a:t>
          </a:r>
          <a:r>
            <a:rPr lang="en-US" sz="1800" kern="1200" dirty="0">
              <a:latin typeface="Times New Roman" panose="02020603050405020304" pitchFamily="18" charset="0"/>
              <a:cs typeface="Times New Roman" panose="02020603050405020304" pitchFamily="18" charset="0"/>
            </a:rPr>
            <a:t>, </a:t>
          </a:r>
          <a:r>
            <a:rPr lang="en-US" sz="1800" kern="1200" dirty="0" err="1">
              <a:latin typeface="Times New Roman" panose="02020603050405020304" pitchFamily="18" charset="0"/>
              <a:cs typeface="Times New Roman" panose="02020603050405020304" pitchFamily="18" charset="0"/>
            </a:rPr>
            <a:t>embedding_dim</a:t>
          </a:r>
          <a:r>
            <a:rPr lang="en-US" sz="1800" kern="1200" dirty="0">
              <a:latin typeface="Times New Roman" panose="02020603050405020304" pitchFamily="18" charset="0"/>
              <a:cs typeface="Times New Roman" panose="02020603050405020304" pitchFamily="18" charset="0"/>
            </a:rPr>
            <a:t>)</a:t>
          </a: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 </a:t>
          </a: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dsp:txBody>
      <dsp:txXfrm>
        <a:off x="1087768" y="0"/>
        <a:ext cx="4043998" cy="5239041"/>
      </dsp:txXfrm>
    </dsp:sp>
    <dsp:sp modelId="{EA2DBA5A-3236-4638-A796-A6EF065BEED5}">
      <dsp:nvSpPr>
        <dsp:cNvPr id="0" name=""/>
        <dsp:cNvSpPr/>
      </dsp:nvSpPr>
      <dsp:spPr>
        <a:xfrm>
          <a:off x="5620303" y="0"/>
          <a:ext cx="5428185" cy="5239041"/>
        </a:xfrm>
        <a:prstGeom prst="roundRect">
          <a:avLst>
            <a:gd name="adj" fmla="val 5000"/>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54305" rIns="200025" bIns="0" numCol="1" spcCol="1270" anchor="t" anchorCtr="0">
          <a:noAutofit/>
        </a:bodyPr>
        <a:lstStyle/>
        <a:p>
          <a:pPr marL="0" lvl="0" indent="0" algn="r" defTabSz="2000250">
            <a:lnSpc>
              <a:spcPct val="90000"/>
            </a:lnSpc>
            <a:spcBef>
              <a:spcPct val="0"/>
            </a:spcBef>
            <a:spcAft>
              <a:spcPct val="35000"/>
            </a:spcAft>
            <a:buNone/>
          </a:pPr>
          <a:r>
            <a:rPr lang="en-US" sz="4500" kern="1200" dirty="0"/>
            <a:t>Vector database</a:t>
          </a:r>
        </a:p>
      </dsp:txBody>
      <dsp:txXfrm rot="16200000">
        <a:off x="4015114" y="1605188"/>
        <a:ext cx="4296013" cy="1085637"/>
      </dsp:txXfrm>
    </dsp:sp>
    <dsp:sp modelId="{12550EE7-2D20-4D40-8CE4-C6D034469DCB}">
      <dsp:nvSpPr>
        <dsp:cNvPr id="0" name=""/>
        <dsp:cNvSpPr/>
      </dsp:nvSpPr>
      <dsp:spPr>
        <a:xfrm rot="5400000">
          <a:off x="5262587" y="4082874"/>
          <a:ext cx="769712" cy="814227"/>
        </a:xfrm>
        <a:prstGeom prst="flowChartExtract">
          <a:avLst/>
        </a:prstGeom>
        <a:solidFill>
          <a:schemeClr val="lt1">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FAE6BB-F7BC-4B73-8C73-CA52BD95F88C}">
      <dsp:nvSpPr>
        <dsp:cNvPr id="0" name=""/>
        <dsp:cNvSpPr/>
      </dsp:nvSpPr>
      <dsp:spPr>
        <a:xfrm>
          <a:off x="6705940" y="0"/>
          <a:ext cx="4043998" cy="5239041"/>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hlinkClick xmlns:r="http://schemas.openxmlformats.org/officeDocument/2006/relationships" r:id="rId3"/>
            </a:rPr>
            <a:t>FAISS</a:t>
          </a:r>
          <a:r>
            <a:rPr lang="en-US" sz="1800" kern="1200" dirty="0">
              <a:latin typeface="Times New Roman" panose="02020603050405020304" pitchFamily="18" charset="0"/>
              <a:cs typeface="Times New Roman" panose="02020603050405020304" pitchFamily="18" charset="0"/>
            </a:rPr>
            <a:t> (Facebook AI Similarity Search)</a:t>
          </a:r>
        </a:p>
        <a:p>
          <a:pPr marL="0" lvl="0" indent="0" algn="l" defTabSz="800100">
            <a:lnSpc>
              <a:spcPct val="90000"/>
            </a:lnSpc>
            <a:spcBef>
              <a:spcPct val="0"/>
            </a:spcBef>
            <a:spcAft>
              <a:spcPct val="35000"/>
            </a:spcAft>
            <a:buNone/>
          </a:pPr>
          <a:r>
            <a:rPr lang="en-US" sz="1800" b="0" kern="1200" dirty="0">
              <a:latin typeface="Times New Roman" panose="02020603050405020304" pitchFamily="18" charset="0"/>
              <a:cs typeface="Times New Roman" panose="02020603050405020304" pitchFamily="18" charset="0"/>
            </a:rPr>
            <a:t>Creates an index using L2 distance (Euclidean)</a:t>
          </a:r>
        </a:p>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Inserts all chunk vectors into the index</a:t>
          </a: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-&gt; Store the vectors</a:t>
          </a:r>
        </a:p>
        <a:p>
          <a:pPr marL="0" lvl="0" indent="0" algn="l"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-&gt; Search in milliseconds: </a:t>
          </a:r>
          <a:r>
            <a:rPr lang="en-US" sz="1800" i="1" kern="1200" dirty="0">
              <a:latin typeface="Times New Roman" panose="02020603050405020304" pitchFamily="18" charset="0"/>
              <a:cs typeface="Times New Roman" panose="02020603050405020304" pitchFamily="18" charset="0"/>
            </a:rPr>
            <a:t>“Which chunks are closest to the user’s question?”</a:t>
          </a: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a:p>
          <a:pPr marL="0" lvl="0" indent="0" algn="l" defTabSz="800100">
            <a:lnSpc>
              <a:spcPct val="90000"/>
            </a:lnSpc>
            <a:spcBef>
              <a:spcPct val="0"/>
            </a:spcBef>
            <a:spcAft>
              <a:spcPct val="35000"/>
            </a:spcAft>
            <a:buNone/>
          </a:pPr>
          <a:endParaRPr lang="en-US" sz="1800" kern="1200" dirty="0">
            <a:latin typeface="Times New Roman" panose="02020603050405020304" pitchFamily="18" charset="0"/>
            <a:cs typeface="Times New Roman" panose="02020603050405020304" pitchFamily="18" charset="0"/>
          </a:endParaRPr>
        </a:p>
      </dsp:txBody>
      <dsp:txXfrm>
        <a:off x="6705940" y="0"/>
        <a:ext cx="4043998" cy="5239041"/>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E616B3-D480-4575-8A99-4237C7946295}" type="datetimeFigureOut">
              <a:rPr lang="en-US" smtClean="0"/>
              <a:t>29-Oct-25</a:t>
            </a:fld>
            <a:endParaRPr lang="en-US"/>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1DD480-EE02-430E-B6DB-696511223DA6}" type="slidenum">
              <a:rPr lang="en-US" smtClean="0"/>
              <a:t>‹#›</a:t>
            </a:fld>
            <a:endParaRPr lang="en-US"/>
          </a:p>
        </p:txBody>
      </p:sp>
    </p:spTree>
    <p:extLst>
      <p:ext uri="{BB962C8B-B14F-4D97-AF65-F5344CB8AC3E}">
        <p14:creationId xmlns:p14="http://schemas.microsoft.com/office/powerpoint/2010/main" val="879259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5"/>
          </p:nvPr>
        </p:nvSpPr>
        <p:spPr/>
        <p:txBody>
          <a:bodyPr/>
          <a:lstStyle/>
          <a:p>
            <a:fld id="{C86AF644-6FF1-4F34-A0C0-48DE6B526775}" type="slidenum">
              <a:rPr lang="en-US" smtClean="0"/>
              <a:t>3</a:t>
            </a:fld>
            <a:endParaRPr lang="en-US"/>
          </a:p>
        </p:txBody>
      </p:sp>
    </p:spTree>
    <p:extLst>
      <p:ext uri="{BB962C8B-B14F-4D97-AF65-F5344CB8AC3E}">
        <p14:creationId xmlns:p14="http://schemas.microsoft.com/office/powerpoint/2010/main" val="2565295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5"/>
          </p:nvPr>
        </p:nvSpPr>
        <p:spPr/>
        <p:txBody>
          <a:bodyPr/>
          <a:lstStyle/>
          <a:p>
            <a:fld id="{331DD480-EE02-430E-B6DB-696511223DA6}" type="slidenum">
              <a:rPr lang="en-US" smtClean="0"/>
              <a:t>11</a:t>
            </a:fld>
            <a:endParaRPr lang="en-US"/>
          </a:p>
        </p:txBody>
      </p:sp>
    </p:spTree>
    <p:extLst>
      <p:ext uri="{BB962C8B-B14F-4D97-AF65-F5344CB8AC3E}">
        <p14:creationId xmlns:p14="http://schemas.microsoft.com/office/powerpoint/2010/main" val="4264887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5"/>
          </p:nvPr>
        </p:nvSpPr>
        <p:spPr/>
        <p:txBody>
          <a:bodyPr/>
          <a:lstStyle/>
          <a:p>
            <a:fld id="{331DD480-EE02-430E-B6DB-696511223DA6}" type="slidenum">
              <a:rPr lang="en-US" smtClean="0"/>
              <a:t>12</a:t>
            </a:fld>
            <a:endParaRPr lang="en-US"/>
          </a:p>
        </p:txBody>
      </p:sp>
    </p:spTree>
    <p:extLst>
      <p:ext uri="{BB962C8B-B14F-4D97-AF65-F5344CB8AC3E}">
        <p14:creationId xmlns:p14="http://schemas.microsoft.com/office/powerpoint/2010/main" val="14217315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en-US" dirty="0"/>
          </a:p>
        </p:txBody>
      </p:sp>
      <p:sp>
        <p:nvSpPr>
          <p:cNvPr id="4" name="Substituent număr diapozitiv 3"/>
          <p:cNvSpPr>
            <a:spLocks noGrp="1"/>
          </p:cNvSpPr>
          <p:nvPr>
            <p:ph type="sldNum" sz="quarter" idx="5"/>
          </p:nvPr>
        </p:nvSpPr>
        <p:spPr/>
        <p:txBody>
          <a:bodyPr/>
          <a:lstStyle/>
          <a:p>
            <a:fld id="{331DD480-EE02-430E-B6DB-696511223DA6}" type="slidenum">
              <a:rPr lang="en-US" smtClean="0"/>
              <a:t>13</a:t>
            </a:fld>
            <a:endParaRPr lang="en-US"/>
          </a:p>
        </p:txBody>
      </p:sp>
    </p:spTree>
    <p:extLst>
      <p:ext uri="{BB962C8B-B14F-4D97-AF65-F5344CB8AC3E}">
        <p14:creationId xmlns:p14="http://schemas.microsoft.com/office/powerpoint/2010/main" val="1342018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zitiv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3EF44C7-D41F-8940-DE11-8B4FBA5459DC}"/>
              </a:ext>
            </a:extLst>
          </p:cNvPr>
          <p:cNvSpPr>
            <a:spLocks noGrp="1"/>
          </p:cNvSpPr>
          <p:nvPr>
            <p:ph type="ctrTitle"/>
          </p:nvPr>
        </p:nvSpPr>
        <p:spPr>
          <a:xfrm>
            <a:off x="1524000" y="1122363"/>
            <a:ext cx="9144000" cy="2387600"/>
          </a:xfrm>
        </p:spPr>
        <p:txBody>
          <a:bodyPr anchor="b"/>
          <a:lstStyle>
            <a:lvl1pPr algn="ctr">
              <a:defRPr sz="6000"/>
            </a:lvl1pPr>
          </a:lstStyle>
          <a:p>
            <a:r>
              <a:rPr lang="ro-RO"/>
              <a:t>Faceți clic pentru a edita stilul de titlu coordonator</a:t>
            </a:r>
            <a:endParaRPr lang="en-US"/>
          </a:p>
        </p:txBody>
      </p:sp>
      <p:sp>
        <p:nvSpPr>
          <p:cNvPr id="3" name="Subtitlu 2">
            <a:extLst>
              <a:ext uri="{FF2B5EF4-FFF2-40B4-BE49-F238E27FC236}">
                <a16:creationId xmlns:a16="http://schemas.microsoft.com/office/drawing/2014/main" id="{B7C15974-F388-31CB-2EEC-B4206A53E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o-RO"/>
              <a:t>Faceți clic pentru a edita stilul de subtitlu coordonator</a:t>
            </a:r>
            <a:endParaRPr lang="en-US"/>
          </a:p>
        </p:txBody>
      </p:sp>
      <p:sp>
        <p:nvSpPr>
          <p:cNvPr id="4" name="Substituent dată 3">
            <a:extLst>
              <a:ext uri="{FF2B5EF4-FFF2-40B4-BE49-F238E27FC236}">
                <a16:creationId xmlns:a16="http://schemas.microsoft.com/office/drawing/2014/main" id="{571C3CF7-D2CD-D33C-2CED-31AB2CC59784}"/>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5" name="Substituent subsol 4">
            <a:extLst>
              <a:ext uri="{FF2B5EF4-FFF2-40B4-BE49-F238E27FC236}">
                <a16:creationId xmlns:a16="http://schemas.microsoft.com/office/drawing/2014/main" id="{8BF3C1C1-008E-7CCB-6E6E-AECA8DC0F23B}"/>
              </a:ext>
            </a:extLst>
          </p:cNvPr>
          <p:cNvSpPr>
            <a:spLocks noGrp="1"/>
          </p:cNvSpPr>
          <p:nvPr>
            <p:ph type="ftr" sz="quarter" idx="11"/>
          </p:nvPr>
        </p:nvSpPr>
        <p:spPr/>
        <p:txBody>
          <a:bodyPr/>
          <a:lstStyle/>
          <a:p>
            <a:endParaRPr lang="en-US"/>
          </a:p>
        </p:txBody>
      </p:sp>
      <p:sp>
        <p:nvSpPr>
          <p:cNvPr id="6" name="Substituent număr diapozitiv 5">
            <a:extLst>
              <a:ext uri="{FF2B5EF4-FFF2-40B4-BE49-F238E27FC236}">
                <a16:creationId xmlns:a16="http://schemas.microsoft.com/office/drawing/2014/main" id="{BE96A2C3-B359-9C42-668B-5A80E890F378}"/>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2129416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14FBD6AF-CDF2-1C8A-1145-C41626CD1D4E}"/>
              </a:ext>
            </a:extLst>
          </p:cNvPr>
          <p:cNvSpPr>
            <a:spLocks noGrp="1"/>
          </p:cNvSpPr>
          <p:nvPr>
            <p:ph type="title"/>
          </p:nvPr>
        </p:nvSpPr>
        <p:spPr/>
        <p:txBody>
          <a:bodyPr/>
          <a:lstStyle/>
          <a:p>
            <a:r>
              <a:rPr lang="ro-RO"/>
              <a:t>Faceți clic pentru a edita stilul de titlu coordonator</a:t>
            </a:r>
            <a:endParaRPr lang="en-US"/>
          </a:p>
        </p:txBody>
      </p:sp>
      <p:sp>
        <p:nvSpPr>
          <p:cNvPr id="3" name="Substituent conținut 2">
            <a:extLst>
              <a:ext uri="{FF2B5EF4-FFF2-40B4-BE49-F238E27FC236}">
                <a16:creationId xmlns:a16="http://schemas.microsoft.com/office/drawing/2014/main" id="{F3EDD870-2F14-41FD-F31D-7DBA696D8AEC}"/>
              </a:ext>
            </a:extLst>
          </p:cNvPr>
          <p:cNvSpPr>
            <a:spLocks noGrp="1"/>
          </p:cNvSpPr>
          <p:nvPr>
            <p:ph idx="1"/>
          </p:nvPr>
        </p:nvSpPr>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dată 3">
            <a:extLst>
              <a:ext uri="{FF2B5EF4-FFF2-40B4-BE49-F238E27FC236}">
                <a16:creationId xmlns:a16="http://schemas.microsoft.com/office/drawing/2014/main" id="{CFC78EEF-8902-AFF9-BEF5-2CE5EB0C679B}"/>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5" name="Substituent subsol 4">
            <a:extLst>
              <a:ext uri="{FF2B5EF4-FFF2-40B4-BE49-F238E27FC236}">
                <a16:creationId xmlns:a16="http://schemas.microsoft.com/office/drawing/2014/main" id="{FC590816-1093-BE2D-0F18-74997AECF35D}"/>
              </a:ext>
            </a:extLst>
          </p:cNvPr>
          <p:cNvSpPr>
            <a:spLocks noGrp="1"/>
          </p:cNvSpPr>
          <p:nvPr>
            <p:ph type="ftr" sz="quarter" idx="11"/>
          </p:nvPr>
        </p:nvSpPr>
        <p:spPr/>
        <p:txBody>
          <a:bodyPr/>
          <a:lstStyle/>
          <a:p>
            <a:endParaRPr lang="en-US"/>
          </a:p>
        </p:txBody>
      </p:sp>
      <p:sp>
        <p:nvSpPr>
          <p:cNvPr id="6" name="Substituent număr diapozitiv 5">
            <a:extLst>
              <a:ext uri="{FF2B5EF4-FFF2-40B4-BE49-F238E27FC236}">
                <a16:creationId xmlns:a16="http://schemas.microsoft.com/office/drawing/2014/main" id="{69D72A6B-D9C5-B1ED-D47C-F30B2B2E89C6}"/>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1999560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BE68E71-C689-6B37-276D-94A848E7672D}"/>
              </a:ext>
            </a:extLst>
          </p:cNvPr>
          <p:cNvSpPr>
            <a:spLocks noGrp="1"/>
          </p:cNvSpPr>
          <p:nvPr>
            <p:ph type="title"/>
          </p:nvPr>
        </p:nvSpPr>
        <p:spPr>
          <a:xfrm>
            <a:off x="831850" y="1709738"/>
            <a:ext cx="10515600" cy="2852737"/>
          </a:xfrm>
        </p:spPr>
        <p:txBody>
          <a:bodyPr anchor="b"/>
          <a:lstStyle>
            <a:lvl1pPr>
              <a:defRPr sz="6000"/>
            </a:lvl1pPr>
          </a:lstStyle>
          <a:p>
            <a:r>
              <a:rPr lang="ro-RO"/>
              <a:t>Faceți clic pentru a edita stilul de titlu coordonator</a:t>
            </a:r>
            <a:endParaRPr lang="en-US"/>
          </a:p>
        </p:txBody>
      </p:sp>
      <p:sp>
        <p:nvSpPr>
          <p:cNvPr id="3" name="Substituent text 2">
            <a:extLst>
              <a:ext uri="{FF2B5EF4-FFF2-40B4-BE49-F238E27FC236}">
                <a16:creationId xmlns:a16="http://schemas.microsoft.com/office/drawing/2014/main" id="{36CA2E51-B7F7-8A21-27A5-BAC43106A4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o-RO"/>
              <a:t>Faceţi clic pentru a edita Master stiluri text</a:t>
            </a:r>
          </a:p>
        </p:txBody>
      </p:sp>
      <p:sp>
        <p:nvSpPr>
          <p:cNvPr id="4" name="Substituent dată 3">
            <a:extLst>
              <a:ext uri="{FF2B5EF4-FFF2-40B4-BE49-F238E27FC236}">
                <a16:creationId xmlns:a16="http://schemas.microsoft.com/office/drawing/2014/main" id="{EA640042-DBF1-1631-2933-C17EE438026A}"/>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5" name="Substituent subsol 4">
            <a:extLst>
              <a:ext uri="{FF2B5EF4-FFF2-40B4-BE49-F238E27FC236}">
                <a16:creationId xmlns:a16="http://schemas.microsoft.com/office/drawing/2014/main" id="{A36F7118-299E-A8D1-F6E8-D3601ED42065}"/>
              </a:ext>
            </a:extLst>
          </p:cNvPr>
          <p:cNvSpPr>
            <a:spLocks noGrp="1"/>
          </p:cNvSpPr>
          <p:nvPr>
            <p:ph type="ftr" sz="quarter" idx="11"/>
          </p:nvPr>
        </p:nvSpPr>
        <p:spPr/>
        <p:txBody>
          <a:bodyPr/>
          <a:lstStyle/>
          <a:p>
            <a:endParaRPr lang="en-US"/>
          </a:p>
        </p:txBody>
      </p:sp>
      <p:sp>
        <p:nvSpPr>
          <p:cNvPr id="6" name="Substituent număr diapozitiv 5">
            <a:extLst>
              <a:ext uri="{FF2B5EF4-FFF2-40B4-BE49-F238E27FC236}">
                <a16:creationId xmlns:a16="http://schemas.microsoft.com/office/drawing/2014/main" id="{6CBD9E0D-575E-ABAB-D731-3F4F95E8E13D}"/>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3181512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38E5002C-6A85-AAC1-5119-649A9B51292B}"/>
              </a:ext>
            </a:extLst>
          </p:cNvPr>
          <p:cNvSpPr>
            <a:spLocks noGrp="1"/>
          </p:cNvSpPr>
          <p:nvPr>
            <p:ph type="title"/>
          </p:nvPr>
        </p:nvSpPr>
        <p:spPr/>
        <p:txBody>
          <a:bodyPr/>
          <a:lstStyle/>
          <a:p>
            <a:r>
              <a:rPr lang="ro-RO"/>
              <a:t>Faceți clic pentru a edita stilul de titlu coordonator</a:t>
            </a:r>
            <a:endParaRPr lang="en-US"/>
          </a:p>
        </p:txBody>
      </p:sp>
      <p:sp>
        <p:nvSpPr>
          <p:cNvPr id="3" name="Substituent conținut 2">
            <a:extLst>
              <a:ext uri="{FF2B5EF4-FFF2-40B4-BE49-F238E27FC236}">
                <a16:creationId xmlns:a16="http://schemas.microsoft.com/office/drawing/2014/main" id="{85B11BC4-A3EB-3144-44F7-8A78D76538FD}"/>
              </a:ext>
            </a:extLst>
          </p:cNvPr>
          <p:cNvSpPr>
            <a:spLocks noGrp="1"/>
          </p:cNvSpPr>
          <p:nvPr>
            <p:ph sz="half" idx="1"/>
          </p:nvPr>
        </p:nvSpPr>
        <p:spPr>
          <a:xfrm>
            <a:off x="838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conținut 3">
            <a:extLst>
              <a:ext uri="{FF2B5EF4-FFF2-40B4-BE49-F238E27FC236}">
                <a16:creationId xmlns:a16="http://schemas.microsoft.com/office/drawing/2014/main" id="{4A3ED47B-DA7E-7CA4-0ADF-B3471E02CD50}"/>
              </a:ext>
            </a:extLst>
          </p:cNvPr>
          <p:cNvSpPr>
            <a:spLocks noGrp="1"/>
          </p:cNvSpPr>
          <p:nvPr>
            <p:ph sz="half" idx="2"/>
          </p:nvPr>
        </p:nvSpPr>
        <p:spPr>
          <a:xfrm>
            <a:off x="6172200" y="1825625"/>
            <a:ext cx="5181600" cy="435133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5" name="Substituent dată 4">
            <a:extLst>
              <a:ext uri="{FF2B5EF4-FFF2-40B4-BE49-F238E27FC236}">
                <a16:creationId xmlns:a16="http://schemas.microsoft.com/office/drawing/2014/main" id="{49B67474-6469-90AC-488F-911B2785022F}"/>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6" name="Substituent subsol 5">
            <a:extLst>
              <a:ext uri="{FF2B5EF4-FFF2-40B4-BE49-F238E27FC236}">
                <a16:creationId xmlns:a16="http://schemas.microsoft.com/office/drawing/2014/main" id="{A3B30C6B-A763-C48A-B3A5-21258F2A203E}"/>
              </a:ext>
            </a:extLst>
          </p:cNvPr>
          <p:cNvSpPr>
            <a:spLocks noGrp="1"/>
          </p:cNvSpPr>
          <p:nvPr>
            <p:ph type="ftr" sz="quarter" idx="11"/>
          </p:nvPr>
        </p:nvSpPr>
        <p:spPr/>
        <p:txBody>
          <a:bodyPr/>
          <a:lstStyle/>
          <a:p>
            <a:endParaRPr lang="en-US"/>
          </a:p>
        </p:txBody>
      </p:sp>
      <p:sp>
        <p:nvSpPr>
          <p:cNvPr id="7" name="Substituent număr diapozitiv 6">
            <a:extLst>
              <a:ext uri="{FF2B5EF4-FFF2-40B4-BE49-F238E27FC236}">
                <a16:creationId xmlns:a16="http://schemas.microsoft.com/office/drawing/2014/main" id="{8CEE49A8-5CF1-744C-1599-90649A703391}"/>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2665981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E218CD1-2C31-35D0-F26A-DFD00DBA8C32}"/>
              </a:ext>
            </a:extLst>
          </p:cNvPr>
          <p:cNvSpPr>
            <a:spLocks noGrp="1"/>
          </p:cNvSpPr>
          <p:nvPr>
            <p:ph type="title"/>
          </p:nvPr>
        </p:nvSpPr>
        <p:spPr>
          <a:xfrm>
            <a:off x="839788" y="365125"/>
            <a:ext cx="10515600" cy="1325563"/>
          </a:xfrm>
        </p:spPr>
        <p:txBody>
          <a:bodyPr/>
          <a:lstStyle/>
          <a:p>
            <a:r>
              <a:rPr lang="ro-RO"/>
              <a:t>Faceți clic pentru a edita stilul de titlu coordonator</a:t>
            </a:r>
            <a:endParaRPr lang="en-US"/>
          </a:p>
        </p:txBody>
      </p:sp>
      <p:sp>
        <p:nvSpPr>
          <p:cNvPr id="3" name="Substituent text 2">
            <a:extLst>
              <a:ext uri="{FF2B5EF4-FFF2-40B4-BE49-F238E27FC236}">
                <a16:creationId xmlns:a16="http://schemas.microsoft.com/office/drawing/2014/main" id="{92821995-D007-C38F-B4B2-4316B80220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4" name="Substituent conținut 3">
            <a:extLst>
              <a:ext uri="{FF2B5EF4-FFF2-40B4-BE49-F238E27FC236}">
                <a16:creationId xmlns:a16="http://schemas.microsoft.com/office/drawing/2014/main" id="{6FC6EAB6-2620-93D0-335A-46209C62E564}"/>
              </a:ext>
            </a:extLst>
          </p:cNvPr>
          <p:cNvSpPr>
            <a:spLocks noGrp="1"/>
          </p:cNvSpPr>
          <p:nvPr>
            <p:ph sz="half" idx="2"/>
          </p:nvPr>
        </p:nvSpPr>
        <p:spPr>
          <a:xfrm>
            <a:off x="839788" y="2505075"/>
            <a:ext cx="5157787"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5" name="Substituent text 4">
            <a:extLst>
              <a:ext uri="{FF2B5EF4-FFF2-40B4-BE49-F238E27FC236}">
                <a16:creationId xmlns:a16="http://schemas.microsoft.com/office/drawing/2014/main" id="{3B7E8B36-7C74-3648-94B5-77F6E2C44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a:t>Faceţi clic pentru a edita Master stiluri text</a:t>
            </a:r>
          </a:p>
        </p:txBody>
      </p:sp>
      <p:sp>
        <p:nvSpPr>
          <p:cNvPr id="6" name="Substituent conținut 5">
            <a:extLst>
              <a:ext uri="{FF2B5EF4-FFF2-40B4-BE49-F238E27FC236}">
                <a16:creationId xmlns:a16="http://schemas.microsoft.com/office/drawing/2014/main" id="{6CC771EE-7261-56CA-1F2D-C4D37519AFE9}"/>
              </a:ext>
            </a:extLst>
          </p:cNvPr>
          <p:cNvSpPr>
            <a:spLocks noGrp="1"/>
          </p:cNvSpPr>
          <p:nvPr>
            <p:ph sz="quarter" idx="4"/>
          </p:nvPr>
        </p:nvSpPr>
        <p:spPr>
          <a:xfrm>
            <a:off x="6172200" y="2505075"/>
            <a:ext cx="5183188" cy="3684588"/>
          </a:xfrm>
        </p:spPr>
        <p:txBody>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7" name="Substituent dată 6">
            <a:extLst>
              <a:ext uri="{FF2B5EF4-FFF2-40B4-BE49-F238E27FC236}">
                <a16:creationId xmlns:a16="http://schemas.microsoft.com/office/drawing/2014/main" id="{65B1CE8E-0FF6-49BA-0DF1-7C361D3C9F7D}"/>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8" name="Substituent subsol 7">
            <a:extLst>
              <a:ext uri="{FF2B5EF4-FFF2-40B4-BE49-F238E27FC236}">
                <a16:creationId xmlns:a16="http://schemas.microsoft.com/office/drawing/2014/main" id="{FD0A664C-C75B-8F1A-11A9-5FA363915168}"/>
              </a:ext>
            </a:extLst>
          </p:cNvPr>
          <p:cNvSpPr>
            <a:spLocks noGrp="1"/>
          </p:cNvSpPr>
          <p:nvPr>
            <p:ph type="ftr" sz="quarter" idx="11"/>
          </p:nvPr>
        </p:nvSpPr>
        <p:spPr/>
        <p:txBody>
          <a:bodyPr/>
          <a:lstStyle/>
          <a:p>
            <a:endParaRPr lang="en-US"/>
          </a:p>
        </p:txBody>
      </p:sp>
      <p:sp>
        <p:nvSpPr>
          <p:cNvPr id="9" name="Substituent număr diapozitiv 8">
            <a:extLst>
              <a:ext uri="{FF2B5EF4-FFF2-40B4-BE49-F238E27FC236}">
                <a16:creationId xmlns:a16="http://schemas.microsoft.com/office/drawing/2014/main" id="{E58E18FA-DAAB-7AFB-6F1F-969DAC92F9D4}"/>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243654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73BD715-C3F6-43F2-632B-D41B57B5119F}"/>
              </a:ext>
            </a:extLst>
          </p:cNvPr>
          <p:cNvSpPr>
            <a:spLocks noGrp="1"/>
          </p:cNvSpPr>
          <p:nvPr>
            <p:ph type="title"/>
          </p:nvPr>
        </p:nvSpPr>
        <p:spPr/>
        <p:txBody>
          <a:bodyPr/>
          <a:lstStyle/>
          <a:p>
            <a:r>
              <a:rPr lang="ro-RO"/>
              <a:t>Faceți clic pentru a edita stilul de titlu coordonator</a:t>
            </a:r>
            <a:endParaRPr lang="en-US"/>
          </a:p>
        </p:txBody>
      </p:sp>
      <p:sp>
        <p:nvSpPr>
          <p:cNvPr id="3" name="Substituent dată 2">
            <a:extLst>
              <a:ext uri="{FF2B5EF4-FFF2-40B4-BE49-F238E27FC236}">
                <a16:creationId xmlns:a16="http://schemas.microsoft.com/office/drawing/2014/main" id="{466ADB50-4AC2-78A1-EDAB-7EECDE2FCCD9}"/>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4" name="Substituent subsol 3">
            <a:extLst>
              <a:ext uri="{FF2B5EF4-FFF2-40B4-BE49-F238E27FC236}">
                <a16:creationId xmlns:a16="http://schemas.microsoft.com/office/drawing/2014/main" id="{25F03096-34E3-366E-DD6A-67CE4905600D}"/>
              </a:ext>
            </a:extLst>
          </p:cNvPr>
          <p:cNvSpPr>
            <a:spLocks noGrp="1"/>
          </p:cNvSpPr>
          <p:nvPr>
            <p:ph type="ftr" sz="quarter" idx="11"/>
          </p:nvPr>
        </p:nvSpPr>
        <p:spPr/>
        <p:txBody>
          <a:bodyPr/>
          <a:lstStyle/>
          <a:p>
            <a:endParaRPr lang="en-US"/>
          </a:p>
        </p:txBody>
      </p:sp>
      <p:sp>
        <p:nvSpPr>
          <p:cNvPr id="5" name="Substituent număr diapozitiv 4">
            <a:extLst>
              <a:ext uri="{FF2B5EF4-FFF2-40B4-BE49-F238E27FC236}">
                <a16:creationId xmlns:a16="http://schemas.microsoft.com/office/drawing/2014/main" id="{3FFD9B98-17A7-E62E-40A4-047892CA402F}"/>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1077005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Substituent dată 1">
            <a:extLst>
              <a:ext uri="{FF2B5EF4-FFF2-40B4-BE49-F238E27FC236}">
                <a16:creationId xmlns:a16="http://schemas.microsoft.com/office/drawing/2014/main" id="{D708D9C1-F477-B447-B021-B6888E5C0110}"/>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3" name="Substituent subsol 2">
            <a:extLst>
              <a:ext uri="{FF2B5EF4-FFF2-40B4-BE49-F238E27FC236}">
                <a16:creationId xmlns:a16="http://schemas.microsoft.com/office/drawing/2014/main" id="{921F9A21-0DE5-29B7-1A6C-056CB4507900}"/>
              </a:ext>
            </a:extLst>
          </p:cNvPr>
          <p:cNvSpPr>
            <a:spLocks noGrp="1"/>
          </p:cNvSpPr>
          <p:nvPr>
            <p:ph type="ftr" sz="quarter" idx="11"/>
          </p:nvPr>
        </p:nvSpPr>
        <p:spPr/>
        <p:txBody>
          <a:bodyPr/>
          <a:lstStyle/>
          <a:p>
            <a:endParaRPr lang="en-US"/>
          </a:p>
        </p:txBody>
      </p:sp>
      <p:sp>
        <p:nvSpPr>
          <p:cNvPr id="4" name="Substituent număr diapozitiv 3">
            <a:extLst>
              <a:ext uri="{FF2B5EF4-FFF2-40B4-BE49-F238E27FC236}">
                <a16:creationId xmlns:a16="http://schemas.microsoft.com/office/drawing/2014/main" id="{E3D12A8E-7CE1-EB8A-1CD5-5DAF6AA16886}"/>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420644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BD430A8-7C94-4624-3D2A-523491609E17}"/>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endParaRPr lang="en-US"/>
          </a:p>
        </p:txBody>
      </p:sp>
      <p:sp>
        <p:nvSpPr>
          <p:cNvPr id="3" name="Substituent conținut 2">
            <a:extLst>
              <a:ext uri="{FF2B5EF4-FFF2-40B4-BE49-F238E27FC236}">
                <a16:creationId xmlns:a16="http://schemas.microsoft.com/office/drawing/2014/main" id="{15370EEE-740F-6C9E-281E-8A70B7D821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text 3">
            <a:extLst>
              <a:ext uri="{FF2B5EF4-FFF2-40B4-BE49-F238E27FC236}">
                <a16:creationId xmlns:a16="http://schemas.microsoft.com/office/drawing/2014/main" id="{AA16B174-0ECF-F7B8-FD52-ABC3ED5A5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A35CD42A-F720-C431-D876-E845058BDEC9}"/>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6" name="Substituent subsol 5">
            <a:extLst>
              <a:ext uri="{FF2B5EF4-FFF2-40B4-BE49-F238E27FC236}">
                <a16:creationId xmlns:a16="http://schemas.microsoft.com/office/drawing/2014/main" id="{EF2E27B3-8493-19C1-E338-D951AB78A318}"/>
              </a:ext>
            </a:extLst>
          </p:cNvPr>
          <p:cNvSpPr>
            <a:spLocks noGrp="1"/>
          </p:cNvSpPr>
          <p:nvPr>
            <p:ph type="ftr" sz="quarter" idx="11"/>
          </p:nvPr>
        </p:nvSpPr>
        <p:spPr/>
        <p:txBody>
          <a:bodyPr/>
          <a:lstStyle/>
          <a:p>
            <a:endParaRPr lang="en-US"/>
          </a:p>
        </p:txBody>
      </p:sp>
      <p:sp>
        <p:nvSpPr>
          <p:cNvPr id="7" name="Substituent număr diapozitiv 6">
            <a:extLst>
              <a:ext uri="{FF2B5EF4-FFF2-40B4-BE49-F238E27FC236}">
                <a16:creationId xmlns:a16="http://schemas.microsoft.com/office/drawing/2014/main" id="{B5DBC575-5EF1-0229-27F6-21A736605DB7}"/>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2695761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665FDBE-AA97-3F24-5F2A-793B1CEF4D99}"/>
              </a:ext>
            </a:extLst>
          </p:cNvPr>
          <p:cNvSpPr>
            <a:spLocks noGrp="1"/>
          </p:cNvSpPr>
          <p:nvPr>
            <p:ph type="title"/>
          </p:nvPr>
        </p:nvSpPr>
        <p:spPr>
          <a:xfrm>
            <a:off x="839788" y="457200"/>
            <a:ext cx="3932237" cy="1600200"/>
          </a:xfrm>
        </p:spPr>
        <p:txBody>
          <a:bodyPr anchor="b"/>
          <a:lstStyle>
            <a:lvl1pPr>
              <a:defRPr sz="3200"/>
            </a:lvl1pPr>
          </a:lstStyle>
          <a:p>
            <a:r>
              <a:rPr lang="ro-RO"/>
              <a:t>Faceți clic pentru a edita stilul de titlu coordonator</a:t>
            </a:r>
            <a:endParaRPr lang="en-US"/>
          </a:p>
        </p:txBody>
      </p:sp>
      <p:sp>
        <p:nvSpPr>
          <p:cNvPr id="3" name="Substituent imagine 2">
            <a:extLst>
              <a:ext uri="{FF2B5EF4-FFF2-40B4-BE49-F238E27FC236}">
                <a16:creationId xmlns:a16="http://schemas.microsoft.com/office/drawing/2014/main" id="{DCEF0519-8DD0-79E3-66D2-A9AFF9A81B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ubstituent text 3">
            <a:extLst>
              <a:ext uri="{FF2B5EF4-FFF2-40B4-BE49-F238E27FC236}">
                <a16:creationId xmlns:a16="http://schemas.microsoft.com/office/drawing/2014/main" id="{74008458-A16A-7957-CAF8-93F90B6FF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o-RO"/>
              <a:t>Faceţi clic pentru a edita Master stiluri text</a:t>
            </a:r>
          </a:p>
        </p:txBody>
      </p:sp>
      <p:sp>
        <p:nvSpPr>
          <p:cNvPr id="5" name="Substituent dată 4">
            <a:extLst>
              <a:ext uri="{FF2B5EF4-FFF2-40B4-BE49-F238E27FC236}">
                <a16:creationId xmlns:a16="http://schemas.microsoft.com/office/drawing/2014/main" id="{0F38B121-B97A-FF29-8615-6035FBDCE01C}"/>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6" name="Substituent subsol 5">
            <a:extLst>
              <a:ext uri="{FF2B5EF4-FFF2-40B4-BE49-F238E27FC236}">
                <a16:creationId xmlns:a16="http://schemas.microsoft.com/office/drawing/2014/main" id="{EF7CFF94-7AB1-93FC-783F-44FA7F1EF55A}"/>
              </a:ext>
            </a:extLst>
          </p:cNvPr>
          <p:cNvSpPr>
            <a:spLocks noGrp="1"/>
          </p:cNvSpPr>
          <p:nvPr>
            <p:ph type="ftr" sz="quarter" idx="11"/>
          </p:nvPr>
        </p:nvSpPr>
        <p:spPr/>
        <p:txBody>
          <a:bodyPr/>
          <a:lstStyle/>
          <a:p>
            <a:endParaRPr lang="en-US"/>
          </a:p>
        </p:txBody>
      </p:sp>
      <p:sp>
        <p:nvSpPr>
          <p:cNvPr id="7" name="Substituent număr diapozitiv 6">
            <a:extLst>
              <a:ext uri="{FF2B5EF4-FFF2-40B4-BE49-F238E27FC236}">
                <a16:creationId xmlns:a16="http://schemas.microsoft.com/office/drawing/2014/main" id="{DD612EDF-A797-6545-CEDC-B3FA5E22DC8D}"/>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2840752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CE178460-C728-1534-02E2-DBEA7FA38EEC}"/>
              </a:ext>
            </a:extLst>
          </p:cNvPr>
          <p:cNvSpPr>
            <a:spLocks noGrp="1"/>
          </p:cNvSpPr>
          <p:nvPr>
            <p:ph type="title"/>
          </p:nvPr>
        </p:nvSpPr>
        <p:spPr/>
        <p:txBody>
          <a:bodyPr/>
          <a:lstStyle/>
          <a:p>
            <a:r>
              <a:rPr lang="ro-RO"/>
              <a:t>Faceți clic pentru a edita stilul de titlu coordonator</a:t>
            </a:r>
            <a:endParaRPr lang="en-US"/>
          </a:p>
        </p:txBody>
      </p:sp>
      <p:sp>
        <p:nvSpPr>
          <p:cNvPr id="3" name="Substituent text vertical 2">
            <a:extLst>
              <a:ext uri="{FF2B5EF4-FFF2-40B4-BE49-F238E27FC236}">
                <a16:creationId xmlns:a16="http://schemas.microsoft.com/office/drawing/2014/main" id="{591B9473-5E43-FEF1-28CD-40B8DA4C2419}"/>
              </a:ext>
            </a:extLst>
          </p:cNvPr>
          <p:cNvSpPr>
            <a:spLocks noGrp="1"/>
          </p:cNvSpPr>
          <p:nvPr>
            <p:ph type="body" orient="vert" idx="1"/>
          </p:nvPr>
        </p:nvSpPr>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dată 3">
            <a:extLst>
              <a:ext uri="{FF2B5EF4-FFF2-40B4-BE49-F238E27FC236}">
                <a16:creationId xmlns:a16="http://schemas.microsoft.com/office/drawing/2014/main" id="{1F2BF7D2-83C0-14A3-A7F5-F93AEC5DA4B7}"/>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5" name="Substituent subsol 4">
            <a:extLst>
              <a:ext uri="{FF2B5EF4-FFF2-40B4-BE49-F238E27FC236}">
                <a16:creationId xmlns:a16="http://schemas.microsoft.com/office/drawing/2014/main" id="{B6A800F3-6DAF-4AF5-3854-A86319303745}"/>
              </a:ext>
            </a:extLst>
          </p:cNvPr>
          <p:cNvSpPr>
            <a:spLocks noGrp="1"/>
          </p:cNvSpPr>
          <p:nvPr>
            <p:ph type="ftr" sz="quarter" idx="11"/>
          </p:nvPr>
        </p:nvSpPr>
        <p:spPr/>
        <p:txBody>
          <a:bodyPr/>
          <a:lstStyle/>
          <a:p>
            <a:endParaRPr lang="en-US"/>
          </a:p>
        </p:txBody>
      </p:sp>
      <p:sp>
        <p:nvSpPr>
          <p:cNvPr id="6" name="Substituent număr diapozitiv 5">
            <a:extLst>
              <a:ext uri="{FF2B5EF4-FFF2-40B4-BE49-F238E27FC236}">
                <a16:creationId xmlns:a16="http://schemas.microsoft.com/office/drawing/2014/main" id="{576D5F7B-07B0-AF88-E962-BC0C6DF04477}"/>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274157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a:extLst>
              <a:ext uri="{FF2B5EF4-FFF2-40B4-BE49-F238E27FC236}">
                <a16:creationId xmlns:a16="http://schemas.microsoft.com/office/drawing/2014/main" id="{11F998DB-F7DD-1B91-E8C8-3CA4D93EDF74}"/>
              </a:ext>
            </a:extLst>
          </p:cNvPr>
          <p:cNvSpPr>
            <a:spLocks noGrp="1"/>
          </p:cNvSpPr>
          <p:nvPr>
            <p:ph type="title" orient="vert"/>
          </p:nvPr>
        </p:nvSpPr>
        <p:spPr>
          <a:xfrm>
            <a:off x="8724900" y="365125"/>
            <a:ext cx="2628900" cy="5811838"/>
          </a:xfrm>
        </p:spPr>
        <p:txBody>
          <a:bodyPr vert="eaVert"/>
          <a:lstStyle/>
          <a:p>
            <a:r>
              <a:rPr lang="ro-RO"/>
              <a:t>Faceți clic pentru a edita stilul de titlu coordonator</a:t>
            </a:r>
            <a:endParaRPr lang="en-US"/>
          </a:p>
        </p:txBody>
      </p:sp>
      <p:sp>
        <p:nvSpPr>
          <p:cNvPr id="3" name="Substituent text vertical 2">
            <a:extLst>
              <a:ext uri="{FF2B5EF4-FFF2-40B4-BE49-F238E27FC236}">
                <a16:creationId xmlns:a16="http://schemas.microsoft.com/office/drawing/2014/main" id="{57E12C06-5DAC-6CFB-04A8-D0C665F1A68E}"/>
              </a:ext>
            </a:extLst>
          </p:cNvPr>
          <p:cNvSpPr>
            <a:spLocks noGrp="1"/>
          </p:cNvSpPr>
          <p:nvPr>
            <p:ph type="body" orient="vert" idx="1"/>
          </p:nvPr>
        </p:nvSpPr>
        <p:spPr>
          <a:xfrm>
            <a:off x="838200" y="365125"/>
            <a:ext cx="7734300" cy="5811838"/>
          </a:xfrm>
        </p:spPr>
        <p:txBody>
          <a:bodyPr vert="eaVert"/>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dată 3">
            <a:extLst>
              <a:ext uri="{FF2B5EF4-FFF2-40B4-BE49-F238E27FC236}">
                <a16:creationId xmlns:a16="http://schemas.microsoft.com/office/drawing/2014/main" id="{CEB0A33C-A928-9B95-BCF7-F533D1FC2791}"/>
              </a:ext>
            </a:extLst>
          </p:cNvPr>
          <p:cNvSpPr>
            <a:spLocks noGrp="1"/>
          </p:cNvSpPr>
          <p:nvPr>
            <p:ph type="dt" sz="half" idx="10"/>
          </p:nvPr>
        </p:nvSpPr>
        <p:spPr/>
        <p:txBody>
          <a:bodyPr/>
          <a:lstStyle/>
          <a:p>
            <a:fld id="{62339FE7-CD7D-45C9-8E83-254015AF5394}" type="datetimeFigureOut">
              <a:rPr lang="en-US" smtClean="0"/>
              <a:t>29-Oct-25</a:t>
            </a:fld>
            <a:endParaRPr lang="en-US"/>
          </a:p>
        </p:txBody>
      </p:sp>
      <p:sp>
        <p:nvSpPr>
          <p:cNvPr id="5" name="Substituent subsol 4">
            <a:extLst>
              <a:ext uri="{FF2B5EF4-FFF2-40B4-BE49-F238E27FC236}">
                <a16:creationId xmlns:a16="http://schemas.microsoft.com/office/drawing/2014/main" id="{B34C7227-939C-D651-EC35-42767DD09B1A}"/>
              </a:ext>
            </a:extLst>
          </p:cNvPr>
          <p:cNvSpPr>
            <a:spLocks noGrp="1"/>
          </p:cNvSpPr>
          <p:nvPr>
            <p:ph type="ftr" sz="quarter" idx="11"/>
          </p:nvPr>
        </p:nvSpPr>
        <p:spPr/>
        <p:txBody>
          <a:bodyPr/>
          <a:lstStyle/>
          <a:p>
            <a:endParaRPr lang="en-US"/>
          </a:p>
        </p:txBody>
      </p:sp>
      <p:sp>
        <p:nvSpPr>
          <p:cNvPr id="6" name="Substituent număr diapozitiv 5">
            <a:extLst>
              <a:ext uri="{FF2B5EF4-FFF2-40B4-BE49-F238E27FC236}">
                <a16:creationId xmlns:a16="http://schemas.microsoft.com/office/drawing/2014/main" id="{7C905604-8C88-6732-2168-BBD13ADF2D7C}"/>
              </a:ext>
            </a:extLst>
          </p:cNvPr>
          <p:cNvSpPr>
            <a:spLocks noGrp="1"/>
          </p:cNvSpPr>
          <p:nvPr>
            <p:ph type="sldNum" sz="quarter" idx="12"/>
          </p:nvPr>
        </p:nvSpPr>
        <p:spPr/>
        <p:txBody>
          <a:bodyPr/>
          <a:lstStyle/>
          <a:p>
            <a:fld id="{4383DF6D-8766-4383-AA0F-CBB7A0A19F7F}" type="slidenum">
              <a:rPr lang="en-US" smtClean="0"/>
              <a:t>‹#›</a:t>
            </a:fld>
            <a:endParaRPr lang="en-US"/>
          </a:p>
        </p:txBody>
      </p:sp>
    </p:spTree>
    <p:extLst>
      <p:ext uri="{BB962C8B-B14F-4D97-AF65-F5344CB8AC3E}">
        <p14:creationId xmlns:p14="http://schemas.microsoft.com/office/powerpoint/2010/main" val="2038708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titlu 1">
            <a:extLst>
              <a:ext uri="{FF2B5EF4-FFF2-40B4-BE49-F238E27FC236}">
                <a16:creationId xmlns:a16="http://schemas.microsoft.com/office/drawing/2014/main" id="{B90FE5DA-4098-6538-ABFF-E2000482EB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o-RO"/>
              <a:t>Faceți clic pentru a edita stilul de titlu coordonator</a:t>
            </a:r>
            <a:endParaRPr lang="en-US"/>
          </a:p>
        </p:txBody>
      </p:sp>
      <p:sp>
        <p:nvSpPr>
          <p:cNvPr id="3" name="Substituent text 2">
            <a:extLst>
              <a:ext uri="{FF2B5EF4-FFF2-40B4-BE49-F238E27FC236}">
                <a16:creationId xmlns:a16="http://schemas.microsoft.com/office/drawing/2014/main" id="{1534B359-55DB-59DC-E04D-884CEDEE12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endParaRPr lang="en-US"/>
          </a:p>
        </p:txBody>
      </p:sp>
      <p:sp>
        <p:nvSpPr>
          <p:cNvPr id="4" name="Substituent dată 3">
            <a:extLst>
              <a:ext uri="{FF2B5EF4-FFF2-40B4-BE49-F238E27FC236}">
                <a16:creationId xmlns:a16="http://schemas.microsoft.com/office/drawing/2014/main" id="{597A344D-98DB-9745-971B-B32F4AE84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339FE7-CD7D-45C9-8E83-254015AF5394}" type="datetimeFigureOut">
              <a:rPr lang="en-US" smtClean="0"/>
              <a:t>29-Oct-25</a:t>
            </a:fld>
            <a:endParaRPr lang="en-US"/>
          </a:p>
        </p:txBody>
      </p:sp>
      <p:sp>
        <p:nvSpPr>
          <p:cNvPr id="5" name="Substituent subsol 4">
            <a:extLst>
              <a:ext uri="{FF2B5EF4-FFF2-40B4-BE49-F238E27FC236}">
                <a16:creationId xmlns:a16="http://schemas.microsoft.com/office/drawing/2014/main" id="{647AFB3E-55AE-5DB1-F208-7037F8CBA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ubstituent număr diapozitiv 5">
            <a:extLst>
              <a:ext uri="{FF2B5EF4-FFF2-40B4-BE49-F238E27FC236}">
                <a16:creationId xmlns:a16="http://schemas.microsoft.com/office/drawing/2014/main" id="{BAC42D90-BB68-F43F-4694-0D391B92A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83DF6D-8766-4383-AA0F-CBB7A0A19F7F}" type="slidenum">
              <a:rPr lang="en-US" smtClean="0"/>
              <a:t>‹#›</a:t>
            </a:fld>
            <a:endParaRPr lang="en-US"/>
          </a:p>
        </p:txBody>
      </p:sp>
    </p:spTree>
    <p:extLst>
      <p:ext uri="{BB962C8B-B14F-4D97-AF65-F5344CB8AC3E}">
        <p14:creationId xmlns:p14="http://schemas.microsoft.com/office/powerpoint/2010/main" val="2189110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s://colab.research.google.com/drive/1VOG0841xatAG4TMsHdjlajYr9Gs69u8l?usp=sharin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huggingface.co/Qwen/Qwen3-4B-Instruct-2507"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Layout" Target="../diagrams/layout7.xml"/><Relationship Id="rId7" Type="http://schemas.openxmlformats.org/officeDocument/2006/relationships/image" Target="../media/image19.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hyperlink" Target="mailto:bianca.ebrasu@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u 1">
            <a:extLst>
              <a:ext uri="{FF2B5EF4-FFF2-40B4-BE49-F238E27FC236}">
                <a16:creationId xmlns:a16="http://schemas.microsoft.com/office/drawing/2014/main" id="{8371C218-D01B-6ED5-1980-211E33A9C68E}"/>
              </a:ext>
            </a:extLst>
          </p:cNvPr>
          <p:cNvSpPr>
            <a:spLocks noGrp="1"/>
          </p:cNvSpPr>
          <p:nvPr>
            <p:ph type="ctrTitle"/>
          </p:nvPr>
        </p:nvSpPr>
        <p:spPr>
          <a:xfrm>
            <a:off x="3880430" y="583345"/>
            <a:ext cx="7160357" cy="4164820"/>
          </a:xfrm>
        </p:spPr>
        <p:txBody>
          <a:bodyPr anchor="t">
            <a:normAutofit/>
          </a:bodyPr>
          <a:lstStyle/>
          <a:p>
            <a:pPr algn="r"/>
            <a:r>
              <a:rPr kumimoji="0" lang="en-US" sz="74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L03: RAG (</a:t>
            </a:r>
            <a:r>
              <a:rPr lang="en-US" sz="7400" dirty="0">
                <a:solidFill>
                  <a:srgbClr val="FFFFFF"/>
                </a:solidFill>
                <a:latin typeface="Times New Roman" panose="02020603050405020304" pitchFamily="18" charset="0"/>
                <a:cs typeface="Times New Roman" panose="02020603050405020304" pitchFamily="18" charset="0"/>
              </a:rPr>
              <a:t>Retrieval-Augmented Generation</a:t>
            </a:r>
            <a:r>
              <a:rPr kumimoji="0" lang="en-US" sz="7400"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rPr>
              <a:t>)</a:t>
            </a:r>
            <a:endParaRPr lang="en-US" sz="7400" dirty="0">
              <a:solidFill>
                <a:srgbClr val="FFFFFF"/>
              </a:solidFill>
              <a:latin typeface="Times New Roman" panose="02020603050405020304" pitchFamily="18" charset="0"/>
              <a:cs typeface="Times New Roman" panose="02020603050405020304" pitchFamily="18" charset="0"/>
            </a:endParaRP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420370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7111-4B4E-B5D5-A6A5-9D392BB12484}"/>
            </a:ext>
          </a:extLst>
        </p:cNvPr>
        <p:cNvGrpSpPr/>
        <p:nvPr/>
      </p:nvGrpSpPr>
      <p:grpSpPr>
        <a:xfrm>
          <a:off x="0" y="0"/>
          <a:ext cx="0" cy="0"/>
          <a:chOff x="0" y="0"/>
          <a:chExt cx="0" cy="0"/>
        </a:xfrm>
      </p:grpSpPr>
      <p:sp>
        <p:nvSpPr>
          <p:cNvPr id="3" name="Bulă de gânduri: nor 2">
            <a:extLst>
              <a:ext uri="{FF2B5EF4-FFF2-40B4-BE49-F238E27FC236}">
                <a16:creationId xmlns:a16="http://schemas.microsoft.com/office/drawing/2014/main" id="{6B712526-0DB3-C23E-2F5B-D5C4DAA87BB9}"/>
              </a:ext>
            </a:extLst>
          </p:cNvPr>
          <p:cNvSpPr/>
          <p:nvPr/>
        </p:nvSpPr>
        <p:spPr>
          <a:xfrm>
            <a:off x="98274" y="2694560"/>
            <a:ext cx="3724696" cy="1809346"/>
          </a:xfrm>
          <a:prstGeom prst="cloudCallout">
            <a:avLst>
              <a:gd name="adj1" fmla="val -40682"/>
              <a:gd name="adj2" fmla="val 14045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FDE6C311-CD9C-11C2-DAD3-A76D5A73CE82}"/>
              </a:ext>
            </a:extLst>
          </p:cNvPr>
          <p:cNvSpPr>
            <a:spLocks noGrp="1"/>
          </p:cNvSpPr>
          <p:nvPr>
            <p:ph type="title"/>
          </p:nvPr>
        </p:nvSpPr>
        <p:spPr>
          <a:xfrm>
            <a:off x="432097" y="3084630"/>
            <a:ext cx="3299049" cy="688739"/>
          </a:xfrm>
        </p:spPr>
        <p:txBody>
          <a:bodyPr>
            <a:normAutofit/>
          </a:bodyPr>
          <a:lstStyle/>
          <a:p>
            <a:r>
              <a:rPr lang="en-US" sz="3600" dirty="0">
                <a:latin typeface="Times New Roman" panose="02020603050405020304" pitchFamily="18" charset="0"/>
                <a:cs typeface="Times New Roman" panose="02020603050405020304" pitchFamily="18" charset="0"/>
              </a:rPr>
              <a:t>L03 Summary</a:t>
            </a:r>
          </a:p>
        </p:txBody>
      </p:sp>
      <p:graphicFrame>
        <p:nvGraphicFramePr>
          <p:cNvPr id="4" name="Substituent conținut 3">
            <a:extLst>
              <a:ext uri="{FF2B5EF4-FFF2-40B4-BE49-F238E27FC236}">
                <a16:creationId xmlns:a16="http://schemas.microsoft.com/office/drawing/2014/main" id="{28758EC5-098C-2841-D396-CE213D284178}"/>
              </a:ext>
            </a:extLst>
          </p:cNvPr>
          <p:cNvGraphicFramePr>
            <a:graphicFrameLocks noGrp="1"/>
          </p:cNvGraphicFramePr>
          <p:nvPr>
            <p:ph idx="1"/>
            <p:extLst>
              <p:ext uri="{D42A27DB-BD31-4B8C-83A1-F6EECF244321}">
                <p14:modId xmlns:p14="http://schemas.microsoft.com/office/powerpoint/2010/main" val="3454460054"/>
              </p:ext>
            </p:extLst>
          </p:nvPr>
        </p:nvGraphicFramePr>
        <p:xfrm>
          <a:off x="2957208" y="311285"/>
          <a:ext cx="9000329" cy="62100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3739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46235789-1FDE-C550-61F5-8B62FB23F2D0}"/>
              </a:ext>
            </a:extLst>
          </p:cNvPr>
          <p:cNvSpPr>
            <a:spLocks noGrp="1"/>
          </p:cNvSpPr>
          <p:nvPr>
            <p:ph type="title"/>
          </p:nvPr>
        </p:nvSpPr>
        <p:spPr>
          <a:xfrm>
            <a:off x="838200" y="565739"/>
            <a:ext cx="10515600" cy="523759"/>
          </a:xfrm>
        </p:spPr>
        <p:txBody>
          <a:bodyPr>
            <a:normAutofit fontScale="90000"/>
          </a:bodyPr>
          <a:lstStyle/>
          <a:p>
            <a:r>
              <a:rPr lang="en-US" dirty="0">
                <a:latin typeface="Times New Roman" panose="02020603050405020304" pitchFamily="18" charset="0"/>
                <a:cs typeface="Times New Roman" panose="02020603050405020304" pitchFamily="18" charset="0"/>
              </a:rPr>
              <a:t>Recap L02</a:t>
            </a:r>
            <a:r>
              <a:rPr lang="en-US" sz="4100" dirty="0">
                <a:solidFill>
                  <a:schemeClr val="bg1"/>
                </a:solidFill>
                <a:latin typeface="Times New Roman" panose="02020603050405020304" pitchFamily="18" charset="0"/>
                <a:cs typeface="Times New Roman" panose="02020603050405020304" pitchFamily="18" charset="0"/>
              </a:rPr>
              <a:t>ecap: L01 – Running a GPT-2 Model</a:t>
            </a:r>
          </a:p>
        </p:txBody>
      </p:sp>
      <p:graphicFrame>
        <p:nvGraphicFramePr>
          <p:cNvPr id="5" name="Substituent conținut 2">
            <a:extLst>
              <a:ext uri="{FF2B5EF4-FFF2-40B4-BE49-F238E27FC236}">
                <a16:creationId xmlns:a16="http://schemas.microsoft.com/office/drawing/2014/main" id="{662DA170-5CB9-D0B5-4B22-436DF9A6C3DB}"/>
              </a:ext>
            </a:extLst>
          </p:cNvPr>
          <p:cNvGraphicFramePr>
            <a:graphicFrameLocks noGrp="1"/>
          </p:cNvGraphicFramePr>
          <p:nvPr>
            <p:ph idx="1"/>
            <p:extLst>
              <p:ext uri="{D42A27DB-BD31-4B8C-83A1-F6EECF244321}">
                <p14:modId xmlns:p14="http://schemas.microsoft.com/office/powerpoint/2010/main" val="2641097795"/>
              </p:ext>
            </p:extLst>
          </p:nvPr>
        </p:nvGraphicFramePr>
        <p:xfrm>
          <a:off x="598241" y="1803386"/>
          <a:ext cx="10995518" cy="3536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223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7C59BEC-C4CC-4741-B975-08C543178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6" name="Arc 25">
            <a:extLst>
              <a:ext uri="{FF2B5EF4-FFF2-40B4-BE49-F238E27FC236}">
                <a16:creationId xmlns:a16="http://schemas.microsoft.com/office/drawing/2014/main" id="{72DEF309-605D-4117-9340-6D589B6C3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986173" flipV="1">
            <a:off x="3930947" y="651615"/>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itlu 1">
            <a:extLst>
              <a:ext uri="{FF2B5EF4-FFF2-40B4-BE49-F238E27FC236}">
                <a16:creationId xmlns:a16="http://schemas.microsoft.com/office/drawing/2014/main" id="{ECE9E901-CB2D-B7B4-AC79-259766C6E6A9}"/>
              </a:ext>
            </a:extLst>
          </p:cNvPr>
          <p:cNvSpPr>
            <a:spLocks noGrp="1"/>
          </p:cNvSpPr>
          <p:nvPr>
            <p:ph type="title"/>
          </p:nvPr>
        </p:nvSpPr>
        <p:spPr>
          <a:xfrm>
            <a:off x="838200" y="365125"/>
            <a:ext cx="10515599" cy="1325563"/>
          </a:xfrm>
        </p:spPr>
        <p:txBody>
          <a:bodyPr>
            <a:normAutofit/>
          </a:bodyPr>
          <a:lstStyle/>
          <a:p>
            <a:r>
              <a:rPr lang="en-US">
                <a:latin typeface="Times New Roman" panose="02020603050405020304" pitchFamily="18" charset="0"/>
                <a:cs typeface="Times New Roman" panose="02020603050405020304" pitchFamily="18" charset="0"/>
              </a:rPr>
              <a:t>Limitations of LLMs </a:t>
            </a:r>
          </a:p>
        </p:txBody>
      </p:sp>
      <p:sp>
        <p:nvSpPr>
          <p:cNvPr id="28" name="Oval 27">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77008" y="5228027"/>
            <a:ext cx="1107241" cy="10772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 name="Imagine 3">
            <a:extLst>
              <a:ext uri="{FF2B5EF4-FFF2-40B4-BE49-F238E27FC236}">
                <a16:creationId xmlns:a16="http://schemas.microsoft.com/office/drawing/2014/main" id="{EADD1634-CA06-8D3E-A071-7C54A5BF9D51}"/>
              </a:ext>
            </a:extLst>
          </p:cNvPr>
          <p:cNvPicPr>
            <a:picLocks noChangeAspect="1"/>
          </p:cNvPicPr>
          <p:nvPr/>
        </p:nvPicPr>
        <p:blipFill>
          <a:blip r:embed="rId2"/>
          <a:stretch>
            <a:fillRect/>
          </a:stretch>
        </p:blipFill>
        <p:spPr>
          <a:xfrm>
            <a:off x="5972663" y="2220391"/>
            <a:ext cx="6177882" cy="2405282"/>
          </a:xfrm>
          <a:custGeom>
            <a:avLst/>
            <a:gdLst/>
            <a:ahLst/>
            <a:cxnLst/>
            <a:rect l="l" t="t" r="r" b="b"/>
            <a:pathLst>
              <a:path w="4221597" h="4303912">
                <a:moveTo>
                  <a:pt x="126986" y="0"/>
                </a:moveTo>
                <a:lnTo>
                  <a:pt x="4094611" y="0"/>
                </a:lnTo>
                <a:cubicBezTo>
                  <a:pt x="4164743" y="0"/>
                  <a:pt x="4221597" y="56854"/>
                  <a:pt x="4221597" y="126986"/>
                </a:cubicBezTo>
                <a:lnTo>
                  <a:pt x="4221597" y="4176926"/>
                </a:lnTo>
                <a:cubicBezTo>
                  <a:pt x="4221597" y="4247058"/>
                  <a:pt x="4164743" y="4303912"/>
                  <a:pt x="4094611" y="4303912"/>
                </a:cubicBezTo>
                <a:lnTo>
                  <a:pt x="126986" y="4303912"/>
                </a:lnTo>
                <a:cubicBezTo>
                  <a:pt x="56854" y="4303912"/>
                  <a:pt x="0" y="4247058"/>
                  <a:pt x="0" y="4176926"/>
                </a:cubicBezTo>
                <a:lnTo>
                  <a:pt x="0" y="126986"/>
                </a:lnTo>
                <a:cubicBezTo>
                  <a:pt x="0" y="56854"/>
                  <a:pt x="56854" y="0"/>
                  <a:pt x="126986" y="0"/>
                </a:cubicBezTo>
                <a:close/>
              </a:path>
            </a:pathLst>
          </a:custGeom>
        </p:spPr>
      </p:pic>
      <p:graphicFrame>
        <p:nvGraphicFramePr>
          <p:cNvPr id="5" name="Substituent conținut 2">
            <a:extLst>
              <a:ext uri="{FF2B5EF4-FFF2-40B4-BE49-F238E27FC236}">
                <a16:creationId xmlns:a16="http://schemas.microsoft.com/office/drawing/2014/main" id="{C6F03153-5EEC-CB59-B956-D86B33DE237E}"/>
              </a:ext>
            </a:extLst>
          </p:cNvPr>
          <p:cNvGraphicFramePr>
            <a:graphicFrameLocks noGrp="1"/>
          </p:cNvGraphicFramePr>
          <p:nvPr>
            <p:ph idx="1"/>
            <p:extLst>
              <p:ext uri="{D42A27DB-BD31-4B8C-83A1-F6EECF244321}">
                <p14:modId xmlns:p14="http://schemas.microsoft.com/office/powerpoint/2010/main" val="2290890009"/>
              </p:ext>
            </p:extLst>
          </p:nvPr>
        </p:nvGraphicFramePr>
        <p:xfrm>
          <a:off x="407751" y="1255046"/>
          <a:ext cx="5393361" cy="43359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650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u 1">
            <a:extLst>
              <a:ext uri="{FF2B5EF4-FFF2-40B4-BE49-F238E27FC236}">
                <a16:creationId xmlns:a16="http://schemas.microsoft.com/office/drawing/2014/main" id="{03E3A845-638B-2F3C-71D7-93A713C06843}"/>
              </a:ext>
            </a:extLst>
          </p:cNvPr>
          <p:cNvSpPr>
            <a:spLocks noGrp="1"/>
          </p:cNvSpPr>
          <p:nvPr>
            <p:ph type="title"/>
          </p:nvPr>
        </p:nvSpPr>
        <p:spPr>
          <a:xfrm>
            <a:off x="1171074" y="1396686"/>
            <a:ext cx="3240506" cy="4064628"/>
          </a:xfrm>
        </p:spPr>
        <p:txBody>
          <a:bodyPr>
            <a:normAutofit/>
          </a:bodyPr>
          <a:lstStyle/>
          <a:p>
            <a:pPr algn="ctr"/>
            <a:r>
              <a:rPr lang="en-US" sz="3600" dirty="0">
                <a:solidFill>
                  <a:srgbClr val="FFFFFF"/>
                </a:solidFill>
                <a:latin typeface="Times New Roman" panose="02020603050405020304" pitchFamily="18" charset="0"/>
                <a:cs typeface="Times New Roman" panose="02020603050405020304" pitchFamily="18" charset="0"/>
              </a:rPr>
              <a:t>What is RAG?</a:t>
            </a:r>
          </a:p>
        </p:txBody>
      </p:sp>
      <p:sp>
        <p:nvSpPr>
          <p:cNvPr id="13" name="Arc 1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Substituent conținut 2">
            <a:extLst>
              <a:ext uri="{FF2B5EF4-FFF2-40B4-BE49-F238E27FC236}">
                <a16:creationId xmlns:a16="http://schemas.microsoft.com/office/drawing/2014/main" id="{5529B9EE-6B70-79A8-51A0-DE656985D0E2}"/>
              </a:ext>
            </a:extLst>
          </p:cNvPr>
          <p:cNvSpPr>
            <a:spLocks noGrp="1"/>
          </p:cNvSpPr>
          <p:nvPr>
            <p:ph idx="1"/>
          </p:nvPr>
        </p:nvSpPr>
        <p:spPr>
          <a:xfrm>
            <a:off x="5370153" y="2728816"/>
            <a:ext cx="5536397" cy="1400367"/>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Key idea: </a:t>
            </a:r>
            <a:r>
              <a:rPr lang="en-US" sz="2400" b="1" dirty="0">
                <a:latin typeface="Times New Roman" panose="02020603050405020304" pitchFamily="18" charset="0"/>
                <a:cs typeface="Times New Roman" panose="02020603050405020304" pitchFamily="18" charset="0"/>
              </a:rPr>
              <a:t>the model doesn't need to know everything in advance</a:t>
            </a:r>
            <a:r>
              <a:rPr lang="en-US" sz="2400" dirty="0">
                <a:latin typeface="Times New Roman" panose="02020603050405020304" pitchFamily="18" charset="0"/>
                <a:cs typeface="Times New Roman" panose="02020603050405020304" pitchFamily="18" charset="0"/>
              </a:rPr>
              <a:t> — it just needs to be able to retrieve and use relevant content when needed.</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9610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0">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u 1">
            <a:extLst>
              <a:ext uri="{FF2B5EF4-FFF2-40B4-BE49-F238E27FC236}">
                <a16:creationId xmlns:a16="http://schemas.microsoft.com/office/drawing/2014/main" id="{7647A97E-EB7A-D107-274E-01E841CB44C3}"/>
              </a:ext>
            </a:extLst>
          </p:cNvPr>
          <p:cNvSpPr>
            <a:spLocks noGrp="1"/>
          </p:cNvSpPr>
          <p:nvPr>
            <p:ph type="title"/>
          </p:nvPr>
        </p:nvSpPr>
        <p:spPr>
          <a:xfrm>
            <a:off x="711740" y="255438"/>
            <a:ext cx="10515600" cy="1133693"/>
          </a:xfrm>
        </p:spPr>
        <p:txBody>
          <a:bodyPr>
            <a:normAutofit/>
          </a:bodyPr>
          <a:lstStyle/>
          <a:p>
            <a:r>
              <a:rPr lang="en-US" sz="3200" dirty="0">
                <a:latin typeface="Times New Roman" panose="02020603050405020304" pitchFamily="18" charset="0"/>
                <a:cs typeface="Times New Roman" panose="02020603050405020304" pitchFamily="18" charset="0"/>
              </a:rPr>
              <a:t>What is RAG?</a:t>
            </a:r>
          </a:p>
        </p:txBody>
      </p:sp>
      <p:graphicFrame>
        <p:nvGraphicFramePr>
          <p:cNvPr id="6" name="Substituent conținut 2">
            <a:extLst>
              <a:ext uri="{FF2B5EF4-FFF2-40B4-BE49-F238E27FC236}">
                <a16:creationId xmlns:a16="http://schemas.microsoft.com/office/drawing/2014/main" id="{47F95EE2-2E47-304C-BA2A-21C3F636198E}"/>
              </a:ext>
            </a:extLst>
          </p:cNvPr>
          <p:cNvGraphicFramePr>
            <a:graphicFrameLocks noGrp="1"/>
          </p:cNvGraphicFramePr>
          <p:nvPr>
            <p:ph idx="1"/>
            <p:extLst>
              <p:ext uri="{D42A27DB-BD31-4B8C-83A1-F6EECF244321}">
                <p14:modId xmlns:p14="http://schemas.microsoft.com/office/powerpoint/2010/main" val="2669942653"/>
              </p:ext>
            </p:extLst>
          </p:nvPr>
        </p:nvGraphicFramePr>
        <p:xfrm>
          <a:off x="254540" y="1191638"/>
          <a:ext cx="11682919" cy="44747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7536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1D827A4D-22A0-A69C-173C-C643F453A725}"/>
              </a:ext>
            </a:extLst>
          </p:cNvPr>
          <p:cNvSpPr>
            <a:spLocks noGrp="1"/>
          </p:cNvSpPr>
          <p:nvPr>
            <p:ph type="title"/>
          </p:nvPr>
        </p:nvSpPr>
        <p:spPr>
          <a:xfrm>
            <a:off x="838200" y="365125"/>
            <a:ext cx="10515600" cy="722895"/>
          </a:xfrm>
        </p:spPr>
        <p:txBody>
          <a:bodyPr>
            <a:normAutofit/>
          </a:bodyPr>
          <a:lstStyle/>
          <a:p>
            <a:r>
              <a:rPr lang="en-US" sz="2800" dirty="0">
                <a:latin typeface="Times New Roman" panose="02020603050405020304" pitchFamily="18" charset="0"/>
                <a:cs typeface="Times New Roman" panose="02020603050405020304" pitchFamily="18" charset="0"/>
              </a:rPr>
              <a:t>RAG Architecture</a:t>
            </a:r>
          </a:p>
        </p:txBody>
      </p:sp>
      <p:sp>
        <p:nvSpPr>
          <p:cNvPr id="3" name="Substituent conținut 2">
            <a:extLst>
              <a:ext uri="{FF2B5EF4-FFF2-40B4-BE49-F238E27FC236}">
                <a16:creationId xmlns:a16="http://schemas.microsoft.com/office/drawing/2014/main" id="{C4B201E0-B383-2385-BF56-96B0F1EA719C}"/>
              </a:ext>
            </a:extLst>
          </p:cNvPr>
          <p:cNvSpPr>
            <a:spLocks noGrp="1"/>
          </p:cNvSpPr>
          <p:nvPr>
            <p:ph idx="1"/>
          </p:nvPr>
        </p:nvSpPr>
        <p:spPr>
          <a:xfrm>
            <a:off x="838200" y="1253331"/>
            <a:ext cx="10515600" cy="5001996"/>
          </a:xfrm>
        </p:spPr>
        <p:txBody>
          <a:bodyPr>
            <a:normAutofit fontScale="92500"/>
          </a:bodyPr>
          <a:lstStyle/>
          <a:p>
            <a:pPr marL="0" indent="0">
              <a:buNone/>
            </a:pPr>
            <a:r>
              <a:rPr lang="en-US" sz="2400" dirty="0">
                <a:latin typeface="Times New Roman" panose="02020603050405020304" pitchFamily="18" charset="0"/>
                <a:cs typeface="Times New Roman" panose="02020603050405020304" pitchFamily="18" charset="0"/>
              </a:rPr>
              <a:t>Three main components:</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Retriever</a:t>
            </a:r>
            <a:r>
              <a:rPr lang="en-US" sz="2400" dirty="0">
                <a:latin typeface="Times New Roman" panose="02020603050405020304" pitchFamily="18" charset="0"/>
                <a:cs typeface="Times New Roman" panose="02020603050405020304" pitchFamily="18" charset="0"/>
              </a:rPr>
              <a:t>: Finds relevant information using </a:t>
            </a:r>
            <a:r>
              <a:rPr lang="en-US" sz="2400" b="1" dirty="0">
                <a:latin typeface="Times New Roman" panose="02020603050405020304" pitchFamily="18" charset="0"/>
                <a:cs typeface="Times New Roman" panose="02020603050405020304" pitchFamily="18" charset="0"/>
              </a:rPr>
              <a:t>vector similarity</a:t>
            </a:r>
          </a:p>
          <a:p>
            <a:pPr marL="0" indent="0">
              <a:buNone/>
            </a:pPr>
            <a:r>
              <a:rPr lang="en-US" sz="2000" dirty="0">
                <a:latin typeface="Times New Roman" panose="02020603050405020304" pitchFamily="18" charset="0"/>
                <a:cs typeface="Times New Roman" panose="02020603050405020304" pitchFamily="18" charset="0"/>
              </a:rPr>
              <a:t> =&gt; When answering questions or generating text, RAG first retrieves relevant information from a large collection of documents. </a:t>
            </a:r>
          </a:p>
          <a:p>
            <a:pPr marL="0" indent="0">
              <a:buNone/>
            </a:pPr>
            <a:endParaRPr lang="en-US" sz="20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Augmentation: </a:t>
            </a:r>
            <a:r>
              <a:rPr lang="en-US" sz="2400" dirty="0">
                <a:latin typeface="Times New Roman" panose="02020603050405020304" pitchFamily="18" charset="0"/>
                <a:cs typeface="Times New Roman" panose="02020603050405020304" pitchFamily="18" charset="0"/>
              </a:rPr>
              <a:t>The retrieved information is combined with the original input or prompt</a:t>
            </a: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Generator</a:t>
            </a:r>
            <a:r>
              <a:rPr lang="en-US" sz="2400" dirty="0">
                <a:latin typeface="Times New Roman" panose="02020603050405020304" pitchFamily="18" charset="0"/>
                <a:cs typeface="Times New Roman" panose="02020603050405020304" pitchFamily="18" charset="0"/>
              </a:rPr>
              <a:t>: LLM uses context + question → generates answer</a:t>
            </a:r>
          </a:p>
          <a:p>
            <a:pPr>
              <a:buFont typeface="Symbol" panose="05050102010706020507" pitchFamily="18" charset="2"/>
              <a:buChar char="Þ"/>
            </a:pPr>
            <a:r>
              <a:rPr lang="en-US" sz="2000" dirty="0">
                <a:latin typeface="Times New Roman" panose="02020603050405020304" pitchFamily="18" charset="0"/>
                <a:cs typeface="Times New Roman" panose="02020603050405020304" pitchFamily="18" charset="0"/>
              </a:rPr>
              <a:t>The language model then generates a response based on that retrieved content.</a:t>
            </a:r>
          </a:p>
          <a:p>
            <a:pPr marL="0" indent="0">
              <a:buNone/>
            </a:pPr>
            <a:br>
              <a:rPr lang="en-US" sz="2000"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By connecting the model to an external knowledge base, there's no need to retrain the entire large model for each update of information.</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04241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l: vertical 5">
            <a:extLst>
              <a:ext uri="{FF2B5EF4-FFF2-40B4-BE49-F238E27FC236}">
                <a16:creationId xmlns:a16="http://schemas.microsoft.com/office/drawing/2014/main" id="{CA7CF8DE-4AE4-CE81-2A3B-703950A90F7C}"/>
              </a:ext>
            </a:extLst>
          </p:cNvPr>
          <p:cNvSpPr/>
          <p:nvPr/>
        </p:nvSpPr>
        <p:spPr>
          <a:xfrm>
            <a:off x="746066" y="367560"/>
            <a:ext cx="1790847" cy="1673860"/>
          </a:xfrm>
          <a:prstGeom prst="vertic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Documents</a:t>
            </a:r>
          </a:p>
          <a:p>
            <a:pPr algn="ctr"/>
            <a:r>
              <a:rPr lang="en-US" sz="2000" dirty="0">
                <a:solidFill>
                  <a:schemeClr val="tx1"/>
                </a:solidFill>
                <a:latin typeface="Times New Roman" panose="02020603050405020304" pitchFamily="18" charset="0"/>
                <a:cs typeface="Times New Roman" panose="02020603050405020304" pitchFamily="18" charset="0"/>
              </a:rPr>
              <a:t>PDFs</a:t>
            </a:r>
          </a:p>
          <a:p>
            <a:pPr algn="ctr"/>
            <a:r>
              <a:rPr lang="en-US" sz="2000" dirty="0">
                <a:solidFill>
                  <a:schemeClr val="tx1"/>
                </a:solidFill>
                <a:latin typeface="Times New Roman" panose="02020603050405020304" pitchFamily="18" charset="0"/>
                <a:cs typeface="Times New Roman" panose="02020603050405020304" pitchFamily="18" charset="0"/>
              </a:rPr>
              <a:t>JSON files</a:t>
            </a:r>
          </a:p>
          <a:p>
            <a:pPr algn="ctr"/>
            <a:r>
              <a:rPr lang="en-US" sz="2000" dirty="0">
                <a:solidFill>
                  <a:schemeClr val="tx1"/>
                </a:solidFill>
                <a:latin typeface="Times New Roman" panose="02020603050405020304" pitchFamily="18" charset="0"/>
                <a:cs typeface="Times New Roman" panose="02020603050405020304" pitchFamily="18" charset="0"/>
              </a:rPr>
              <a:t>Etc.</a:t>
            </a:r>
          </a:p>
        </p:txBody>
      </p:sp>
      <p:cxnSp>
        <p:nvCxnSpPr>
          <p:cNvPr id="7" name="Conector drept cu săgeată 6">
            <a:extLst>
              <a:ext uri="{FF2B5EF4-FFF2-40B4-BE49-F238E27FC236}">
                <a16:creationId xmlns:a16="http://schemas.microsoft.com/office/drawing/2014/main" id="{737CB2A6-5487-0091-E254-E244D1AE10F3}"/>
              </a:ext>
            </a:extLst>
          </p:cNvPr>
          <p:cNvCxnSpPr>
            <a:cxnSpLocks/>
            <a:stCxn id="6" idx="3"/>
          </p:cNvCxnSpPr>
          <p:nvPr/>
        </p:nvCxnSpPr>
        <p:spPr>
          <a:xfrm>
            <a:off x="2327681" y="1204490"/>
            <a:ext cx="9813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9" name="Grafic 8" descr="Shredder outline">
            <a:extLst>
              <a:ext uri="{FF2B5EF4-FFF2-40B4-BE49-F238E27FC236}">
                <a16:creationId xmlns:a16="http://schemas.microsoft.com/office/drawing/2014/main" id="{EB732870-8DFD-7B63-961E-FF6E2F2C3E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61328" y="427828"/>
            <a:ext cx="1553324" cy="1553324"/>
          </a:xfrm>
          <a:prstGeom prst="rect">
            <a:avLst/>
          </a:prstGeom>
        </p:spPr>
      </p:pic>
      <p:sp>
        <p:nvSpPr>
          <p:cNvPr id="10" name="CasetăText 9">
            <a:extLst>
              <a:ext uri="{FF2B5EF4-FFF2-40B4-BE49-F238E27FC236}">
                <a16:creationId xmlns:a16="http://schemas.microsoft.com/office/drawing/2014/main" id="{244083DA-7004-8C76-3566-929AA2BD7854}"/>
              </a:ext>
            </a:extLst>
          </p:cNvPr>
          <p:cNvSpPr txBox="1"/>
          <p:nvPr/>
        </p:nvSpPr>
        <p:spPr>
          <a:xfrm>
            <a:off x="3305761" y="162588"/>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Data preprocessing</a:t>
            </a:r>
          </a:p>
        </p:txBody>
      </p:sp>
      <p:cxnSp>
        <p:nvCxnSpPr>
          <p:cNvPr id="11" name="Conector drept cu săgeată 10">
            <a:extLst>
              <a:ext uri="{FF2B5EF4-FFF2-40B4-BE49-F238E27FC236}">
                <a16:creationId xmlns:a16="http://schemas.microsoft.com/office/drawing/2014/main" id="{9BD9B51D-A16B-3502-F4B0-D9BF5819C898}"/>
              </a:ext>
            </a:extLst>
          </p:cNvPr>
          <p:cNvCxnSpPr>
            <a:cxnSpLocks/>
          </p:cNvCxnSpPr>
          <p:nvPr/>
        </p:nvCxnSpPr>
        <p:spPr>
          <a:xfrm>
            <a:off x="5214652" y="1198397"/>
            <a:ext cx="122241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2" name="Grafic 11" descr="Gears outline">
            <a:extLst>
              <a:ext uri="{FF2B5EF4-FFF2-40B4-BE49-F238E27FC236}">
                <a16:creationId xmlns:a16="http://schemas.microsoft.com/office/drawing/2014/main" id="{8E1FBAD0-0370-217B-8708-ECA59B6B4D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37063" y="562542"/>
            <a:ext cx="1271710" cy="1271710"/>
          </a:xfrm>
          <a:prstGeom prst="rect">
            <a:avLst/>
          </a:prstGeom>
        </p:spPr>
      </p:pic>
      <p:pic>
        <p:nvPicPr>
          <p:cNvPr id="13" name="Grafic 12" descr="Database outline">
            <a:extLst>
              <a:ext uri="{FF2B5EF4-FFF2-40B4-BE49-F238E27FC236}">
                <a16:creationId xmlns:a16="http://schemas.microsoft.com/office/drawing/2014/main" id="{CD2FEC2E-6F9A-E3F5-C890-9A3FA36C55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92857" y="1826391"/>
            <a:ext cx="1790847" cy="1790847"/>
          </a:xfrm>
          <a:prstGeom prst="rect">
            <a:avLst/>
          </a:prstGeom>
        </p:spPr>
      </p:pic>
      <p:sp>
        <p:nvSpPr>
          <p:cNvPr id="14" name="CasetăText 13">
            <a:extLst>
              <a:ext uri="{FF2B5EF4-FFF2-40B4-BE49-F238E27FC236}">
                <a16:creationId xmlns:a16="http://schemas.microsoft.com/office/drawing/2014/main" id="{58B21289-9731-25FB-9DD9-8351856F2F0A}"/>
              </a:ext>
            </a:extLst>
          </p:cNvPr>
          <p:cNvSpPr txBox="1"/>
          <p:nvPr/>
        </p:nvSpPr>
        <p:spPr>
          <a:xfrm>
            <a:off x="6452951" y="162588"/>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Embeddings</a:t>
            </a:r>
          </a:p>
        </p:txBody>
      </p:sp>
      <p:cxnSp>
        <p:nvCxnSpPr>
          <p:cNvPr id="18" name="Conector drept cu săgeată 17">
            <a:extLst>
              <a:ext uri="{FF2B5EF4-FFF2-40B4-BE49-F238E27FC236}">
                <a16:creationId xmlns:a16="http://schemas.microsoft.com/office/drawing/2014/main" id="{415B536B-AFFF-4D36-0960-E72F47127720}"/>
              </a:ext>
            </a:extLst>
          </p:cNvPr>
          <p:cNvCxnSpPr>
            <a:cxnSpLocks/>
          </p:cNvCxnSpPr>
          <p:nvPr/>
        </p:nvCxnSpPr>
        <p:spPr>
          <a:xfrm>
            <a:off x="9889493" y="3664858"/>
            <a:ext cx="0" cy="8931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1" name="Grafic 20" descr="Search Inventory outline">
            <a:extLst>
              <a:ext uri="{FF2B5EF4-FFF2-40B4-BE49-F238E27FC236}">
                <a16:creationId xmlns:a16="http://schemas.microsoft.com/office/drawing/2014/main" id="{9A99867A-A2E9-B1D5-B6EE-57A1638F241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44871" y="4927364"/>
            <a:ext cx="1557951" cy="1557951"/>
          </a:xfrm>
          <a:prstGeom prst="rect">
            <a:avLst/>
          </a:prstGeom>
        </p:spPr>
      </p:pic>
      <p:sp>
        <p:nvSpPr>
          <p:cNvPr id="22" name="CasetăText 21">
            <a:extLst>
              <a:ext uri="{FF2B5EF4-FFF2-40B4-BE49-F238E27FC236}">
                <a16:creationId xmlns:a16="http://schemas.microsoft.com/office/drawing/2014/main" id="{3708717A-8EAA-009D-4008-DB60AC9B4FA5}"/>
              </a:ext>
            </a:extLst>
          </p:cNvPr>
          <p:cNvSpPr txBox="1"/>
          <p:nvPr/>
        </p:nvSpPr>
        <p:spPr>
          <a:xfrm>
            <a:off x="8787527" y="4655310"/>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Retrieved Context</a:t>
            </a:r>
          </a:p>
        </p:txBody>
      </p:sp>
      <p:cxnSp>
        <p:nvCxnSpPr>
          <p:cNvPr id="23" name="Conector drept cu săgeată 22">
            <a:extLst>
              <a:ext uri="{FF2B5EF4-FFF2-40B4-BE49-F238E27FC236}">
                <a16:creationId xmlns:a16="http://schemas.microsoft.com/office/drawing/2014/main" id="{FF3BFDAB-B50F-C28D-1042-BDE4AF469F64}"/>
              </a:ext>
            </a:extLst>
          </p:cNvPr>
          <p:cNvCxnSpPr>
            <a:cxnSpLocks/>
          </p:cNvCxnSpPr>
          <p:nvPr/>
        </p:nvCxnSpPr>
        <p:spPr>
          <a:xfrm flipH="1">
            <a:off x="7457466" y="5654799"/>
            <a:ext cx="13556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2" name="Grafic 31" descr="Monitor outline">
            <a:extLst>
              <a:ext uri="{FF2B5EF4-FFF2-40B4-BE49-F238E27FC236}">
                <a16:creationId xmlns:a16="http://schemas.microsoft.com/office/drawing/2014/main" id="{376B3F7C-FC12-DA6F-907C-8069FEBEBF6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59263" y="5007237"/>
            <a:ext cx="1557951" cy="1557951"/>
          </a:xfrm>
          <a:prstGeom prst="rect">
            <a:avLst/>
          </a:prstGeom>
        </p:spPr>
      </p:pic>
      <p:sp>
        <p:nvSpPr>
          <p:cNvPr id="33" name="Față zâmbitoare 32">
            <a:extLst>
              <a:ext uri="{FF2B5EF4-FFF2-40B4-BE49-F238E27FC236}">
                <a16:creationId xmlns:a16="http://schemas.microsoft.com/office/drawing/2014/main" id="{9B10361A-479B-DE5B-29E0-C40BBF9556EA}"/>
              </a:ext>
            </a:extLst>
          </p:cNvPr>
          <p:cNvSpPr/>
          <p:nvPr/>
        </p:nvSpPr>
        <p:spPr>
          <a:xfrm>
            <a:off x="6548678" y="5413425"/>
            <a:ext cx="579120" cy="583720"/>
          </a:xfrm>
          <a:prstGeom prst="smileyFac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34" name="CasetăText 33">
            <a:extLst>
              <a:ext uri="{FF2B5EF4-FFF2-40B4-BE49-F238E27FC236}">
                <a16:creationId xmlns:a16="http://schemas.microsoft.com/office/drawing/2014/main" id="{2572FB19-F322-0D4B-5F13-0B8A9E51C50B}"/>
              </a:ext>
            </a:extLst>
          </p:cNvPr>
          <p:cNvSpPr txBox="1"/>
          <p:nvPr/>
        </p:nvSpPr>
        <p:spPr>
          <a:xfrm>
            <a:off x="6548678" y="4742698"/>
            <a:ext cx="78241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LLM</a:t>
            </a:r>
          </a:p>
        </p:txBody>
      </p:sp>
      <p:sp>
        <p:nvSpPr>
          <p:cNvPr id="35" name="Balon text: oval 34">
            <a:extLst>
              <a:ext uri="{FF2B5EF4-FFF2-40B4-BE49-F238E27FC236}">
                <a16:creationId xmlns:a16="http://schemas.microsoft.com/office/drawing/2014/main" id="{B34C0711-5118-D392-EF9E-A4C192E0FF52}"/>
              </a:ext>
            </a:extLst>
          </p:cNvPr>
          <p:cNvSpPr/>
          <p:nvPr/>
        </p:nvSpPr>
        <p:spPr>
          <a:xfrm>
            <a:off x="3809355" y="4906888"/>
            <a:ext cx="1920240" cy="912101"/>
          </a:xfrm>
          <a:prstGeom prst="wedgeEllipseCallout">
            <a:avLst>
              <a:gd name="adj1" fmla="val 60450"/>
              <a:gd name="adj2" fmla="val 4265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Response</a:t>
            </a:r>
          </a:p>
        </p:txBody>
      </p:sp>
      <p:sp>
        <p:nvSpPr>
          <p:cNvPr id="37" name="Față zâmbitoare 36">
            <a:extLst>
              <a:ext uri="{FF2B5EF4-FFF2-40B4-BE49-F238E27FC236}">
                <a16:creationId xmlns:a16="http://schemas.microsoft.com/office/drawing/2014/main" id="{4A3937D2-981C-8381-0AC8-0DABD6E21E01}"/>
              </a:ext>
            </a:extLst>
          </p:cNvPr>
          <p:cNvSpPr/>
          <p:nvPr/>
        </p:nvSpPr>
        <p:spPr>
          <a:xfrm>
            <a:off x="2005027" y="3142973"/>
            <a:ext cx="772158" cy="709180"/>
          </a:xfrm>
          <a:prstGeom prst="smileyFac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38" name="Balon text: oval 37">
            <a:extLst>
              <a:ext uri="{FF2B5EF4-FFF2-40B4-BE49-F238E27FC236}">
                <a16:creationId xmlns:a16="http://schemas.microsoft.com/office/drawing/2014/main" id="{AF4298A7-AD16-22CC-D29A-2FF1C0958717}"/>
              </a:ext>
            </a:extLst>
          </p:cNvPr>
          <p:cNvSpPr/>
          <p:nvPr/>
        </p:nvSpPr>
        <p:spPr>
          <a:xfrm>
            <a:off x="2849235" y="2537219"/>
            <a:ext cx="1920240" cy="912101"/>
          </a:xfrm>
          <a:prstGeom prst="wedgeEllipseCallout">
            <a:avLst>
              <a:gd name="adj1" fmla="val -52248"/>
              <a:gd name="adj2" fmla="val 3930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Query</a:t>
            </a:r>
          </a:p>
        </p:txBody>
      </p:sp>
      <p:cxnSp>
        <p:nvCxnSpPr>
          <p:cNvPr id="40" name="Conector: cotit 39">
            <a:extLst>
              <a:ext uri="{FF2B5EF4-FFF2-40B4-BE49-F238E27FC236}">
                <a16:creationId xmlns:a16="http://schemas.microsoft.com/office/drawing/2014/main" id="{1FB73908-5C86-D39F-D355-D25320D2CB51}"/>
              </a:ext>
            </a:extLst>
          </p:cNvPr>
          <p:cNvCxnSpPr>
            <a:cxnSpLocks/>
            <a:stCxn id="38" idx="4"/>
            <a:endCxn id="34" idx="0"/>
          </p:cNvCxnSpPr>
          <p:nvPr/>
        </p:nvCxnSpPr>
        <p:spPr>
          <a:xfrm rot="16200000" flipH="1">
            <a:off x="4727930" y="2530745"/>
            <a:ext cx="1293378" cy="313052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41" name="Conector drept cu săgeată 40">
            <a:extLst>
              <a:ext uri="{FF2B5EF4-FFF2-40B4-BE49-F238E27FC236}">
                <a16:creationId xmlns:a16="http://schemas.microsoft.com/office/drawing/2014/main" id="{485B4F1B-0877-82FB-21CB-AF0D6F1CCE52}"/>
              </a:ext>
            </a:extLst>
          </p:cNvPr>
          <p:cNvCxnSpPr>
            <a:cxnSpLocks/>
          </p:cNvCxnSpPr>
          <p:nvPr/>
        </p:nvCxnSpPr>
        <p:spPr>
          <a:xfrm>
            <a:off x="4861380" y="2926610"/>
            <a:ext cx="9813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43" name="Grafic 42" descr="Gears outline">
            <a:extLst>
              <a:ext uri="{FF2B5EF4-FFF2-40B4-BE49-F238E27FC236}">
                <a16:creationId xmlns:a16="http://schemas.microsoft.com/office/drawing/2014/main" id="{FB099644-5468-95AF-5789-D5595F81A0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65251" y="2345528"/>
            <a:ext cx="1271710" cy="1271710"/>
          </a:xfrm>
          <a:prstGeom prst="rect">
            <a:avLst/>
          </a:prstGeom>
        </p:spPr>
      </p:pic>
      <p:cxnSp>
        <p:nvCxnSpPr>
          <p:cNvPr id="44" name="Conector drept cu săgeată 43">
            <a:extLst>
              <a:ext uri="{FF2B5EF4-FFF2-40B4-BE49-F238E27FC236}">
                <a16:creationId xmlns:a16="http://schemas.microsoft.com/office/drawing/2014/main" id="{9DD06808-8818-F60F-B489-A6C22B78E139}"/>
              </a:ext>
            </a:extLst>
          </p:cNvPr>
          <p:cNvCxnSpPr>
            <a:cxnSpLocks/>
          </p:cNvCxnSpPr>
          <p:nvPr/>
        </p:nvCxnSpPr>
        <p:spPr>
          <a:xfrm flipV="1">
            <a:off x="7029636" y="2926610"/>
            <a:ext cx="1901548" cy="10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Conector: cotit 49">
            <a:extLst>
              <a:ext uri="{FF2B5EF4-FFF2-40B4-BE49-F238E27FC236}">
                <a16:creationId xmlns:a16="http://schemas.microsoft.com/office/drawing/2014/main" id="{1E172EA7-4AD9-F859-9F95-2E1CEB5119D5}"/>
              </a:ext>
            </a:extLst>
          </p:cNvPr>
          <p:cNvCxnSpPr>
            <a:cxnSpLocks/>
            <a:endCxn id="56" idx="0"/>
          </p:cNvCxnSpPr>
          <p:nvPr/>
        </p:nvCxnSpPr>
        <p:spPr>
          <a:xfrm>
            <a:off x="7773174" y="1051125"/>
            <a:ext cx="2170457" cy="50861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55" name="CasetăText 54">
            <a:extLst>
              <a:ext uri="{FF2B5EF4-FFF2-40B4-BE49-F238E27FC236}">
                <a16:creationId xmlns:a16="http://schemas.microsoft.com/office/drawing/2014/main" id="{BAC0D6A5-5FFE-719B-FAFC-A3C0C1206A3A}"/>
              </a:ext>
            </a:extLst>
          </p:cNvPr>
          <p:cNvSpPr txBox="1"/>
          <p:nvPr/>
        </p:nvSpPr>
        <p:spPr>
          <a:xfrm>
            <a:off x="5793369" y="2043121"/>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Embeddings</a:t>
            </a:r>
          </a:p>
        </p:txBody>
      </p:sp>
      <p:sp>
        <p:nvSpPr>
          <p:cNvPr id="56" name="CasetăText 55">
            <a:extLst>
              <a:ext uri="{FF2B5EF4-FFF2-40B4-BE49-F238E27FC236}">
                <a16:creationId xmlns:a16="http://schemas.microsoft.com/office/drawing/2014/main" id="{0EBBFC03-3330-49DC-A576-759D36E19E87}"/>
              </a:ext>
            </a:extLst>
          </p:cNvPr>
          <p:cNvSpPr txBox="1"/>
          <p:nvPr/>
        </p:nvSpPr>
        <p:spPr>
          <a:xfrm>
            <a:off x="8992857" y="1559742"/>
            <a:ext cx="190154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Vector Database</a:t>
            </a:r>
          </a:p>
        </p:txBody>
      </p:sp>
    </p:spTree>
    <p:extLst>
      <p:ext uri="{BB962C8B-B14F-4D97-AF65-F5344CB8AC3E}">
        <p14:creationId xmlns:p14="http://schemas.microsoft.com/office/powerpoint/2010/main" val="2695302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u 1">
            <a:extLst>
              <a:ext uri="{FF2B5EF4-FFF2-40B4-BE49-F238E27FC236}">
                <a16:creationId xmlns:a16="http://schemas.microsoft.com/office/drawing/2014/main" id="{5F6ECBC6-ED33-300C-CBEB-5C9F917035E3}"/>
              </a:ext>
            </a:extLst>
          </p:cNvPr>
          <p:cNvSpPr>
            <a:spLocks noGrp="1"/>
          </p:cNvSpPr>
          <p:nvPr>
            <p:ph type="title"/>
          </p:nvPr>
        </p:nvSpPr>
        <p:spPr>
          <a:xfrm>
            <a:off x="838200" y="365125"/>
            <a:ext cx="10515600" cy="1325563"/>
          </a:xfrm>
        </p:spPr>
        <p:txBody>
          <a:bodyPr>
            <a:normAutofit/>
          </a:bodyPr>
          <a:lstStyle/>
          <a:p>
            <a:r>
              <a:rPr lang="en-US" sz="3200" dirty="0">
                <a:latin typeface="Times New Roman" panose="02020603050405020304" pitchFamily="18" charset="0"/>
                <a:cs typeface="Times New Roman" panose="02020603050405020304" pitchFamily="18" charset="0"/>
              </a:rPr>
              <a:t>1. Documents</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External Knowledge Sources</a:t>
            </a:r>
            <a:endParaRPr lang="en-US" sz="3200" dirty="0"/>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Substituent conținut 2">
            <a:extLst>
              <a:ext uri="{FF2B5EF4-FFF2-40B4-BE49-F238E27FC236}">
                <a16:creationId xmlns:a16="http://schemas.microsoft.com/office/drawing/2014/main" id="{BCEFF18A-B8E3-E3A5-0472-559611A5EE7A}"/>
              </a:ext>
            </a:extLst>
          </p:cNvPr>
          <p:cNvSpPr>
            <a:spLocks noGrp="1"/>
          </p:cNvSpPr>
          <p:nvPr>
            <p:ph idx="1"/>
          </p:nvPr>
        </p:nvSpPr>
        <p:spPr>
          <a:xfrm>
            <a:off x="838200" y="1929223"/>
            <a:ext cx="10515600" cy="2808720"/>
          </a:xfrm>
        </p:spPr>
        <p:txBody>
          <a:bodyPr>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You can use:</a:t>
            </a:r>
          </a:p>
          <a:p>
            <a:pPr lvl="2"/>
            <a:r>
              <a:rPr lang="en-US" sz="1800" dirty="0">
                <a:latin typeface="Times New Roman" panose="02020603050405020304" pitchFamily="18" charset="0"/>
                <a:cs typeface="Times New Roman" panose="02020603050405020304" pitchFamily="18" charset="0"/>
              </a:rPr>
              <a:t>PDFs</a:t>
            </a:r>
          </a:p>
          <a:p>
            <a:pPr lvl="2"/>
            <a:r>
              <a:rPr lang="en-US" sz="1800" dirty="0">
                <a:latin typeface="Times New Roman" panose="02020603050405020304" pitchFamily="18" charset="0"/>
                <a:cs typeface="Times New Roman" panose="02020603050405020304" pitchFamily="18" charset="0"/>
              </a:rPr>
              <a:t>Word/Text files</a:t>
            </a:r>
          </a:p>
          <a:p>
            <a:pPr lvl="2"/>
            <a:r>
              <a:rPr lang="en-US" sz="1800" dirty="0">
                <a:latin typeface="Times New Roman" panose="02020603050405020304" pitchFamily="18" charset="0"/>
                <a:cs typeface="Times New Roman" panose="02020603050405020304" pitchFamily="18" charset="0"/>
              </a:rPr>
              <a:t>JSON/XML files</a:t>
            </a:r>
          </a:p>
          <a:p>
            <a:pPr lvl="2"/>
            <a:r>
              <a:rPr lang="en-US" sz="1800" dirty="0">
                <a:latin typeface="Times New Roman" panose="02020603050405020304" pitchFamily="18" charset="0"/>
                <a:cs typeface="Times New Roman" panose="02020603050405020304" pitchFamily="18" charset="0"/>
              </a:rPr>
              <a:t>Web pages or scraped content</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They can be </a:t>
            </a:r>
            <a:r>
              <a:rPr lang="en-US" i="1" dirty="0">
                <a:latin typeface="Times New Roman" panose="02020603050405020304" pitchFamily="18" charset="0"/>
                <a:cs typeface="Times New Roman" panose="02020603050405020304" pitchFamily="18" charset="0"/>
              </a:rPr>
              <a:t>structured</a:t>
            </a:r>
            <a:r>
              <a:rPr lang="en-US" dirty="0">
                <a:latin typeface="Times New Roman" panose="02020603050405020304" pitchFamily="18" charset="0"/>
                <a:cs typeface="Times New Roman" panose="02020603050405020304" pitchFamily="18" charset="0"/>
              </a:rPr>
              <a:t> or </a:t>
            </a:r>
            <a:r>
              <a:rPr lang="en-US" i="1" dirty="0">
                <a:latin typeface="Times New Roman" panose="02020603050405020304" pitchFamily="18" charset="0"/>
                <a:cs typeface="Times New Roman" panose="02020603050405020304" pitchFamily="18" charset="0"/>
              </a:rPr>
              <a:t>unstructured</a:t>
            </a:r>
          </a:p>
          <a:p>
            <a:pPr>
              <a:buFont typeface="Wingdings" panose="05000000000000000000" pitchFamily="2" charset="2"/>
              <a:buChar char="Ø"/>
            </a:pPr>
            <a:r>
              <a:rPr lang="en-US" i="1" dirty="0">
                <a:latin typeface="Times New Roman" panose="02020603050405020304" pitchFamily="18" charset="0"/>
                <a:cs typeface="Times New Roman" panose="02020603050405020304" pitchFamily="18" charset="0"/>
              </a:rPr>
              <a:t> Avoid</a:t>
            </a:r>
            <a:r>
              <a:rPr lang="en-US" dirty="0">
                <a:latin typeface="Times New Roman" panose="02020603050405020304" pitchFamily="18" charset="0"/>
                <a:cs typeface="Times New Roman" panose="02020603050405020304" pitchFamily="18" charset="0"/>
              </a:rPr>
              <a:t> scanned pages/handwriting</a:t>
            </a:r>
          </a:p>
        </p:txBody>
      </p:sp>
    </p:spTree>
    <p:extLst>
      <p:ext uri="{BB962C8B-B14F-4D97-AF65-F5344CB8AC3E}">
        <p14:creationId xmlns:p14="http://schemas.microsoft.com/office/powerpoint/2010/main" val="1882848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06872C3E-1EA9-2921-CA78-53C7EE7E1439}"/>
              </a:ext>
            </a:extLst>
          </p:cNvPr>
          <p:cNvSpPr>
            <a:spLocks noGrp="1"/>
          </p:cNvSpPr>
          <p:nvPr>
            <p:ph type="title"/>
          </p:nvPr>
        </p:nvSpPr>
        <p:spPr>
          <a:xfrm>
            <a:off x="838200" y="270509"/>
            <a:ext cx="10515600" cy="766128"/>
          </a:xfrm>
        </p:spPr>
        <p:txBody>
          <a:bodyPr>
            <a:normAutofit/>
          </a:bodyPr>
          <a:lstStyle/>
          <a:p>
            <a:r>
              <a:rPr lang="en-US" sz="3200" dirty="0">
                <a:latin typeface="Times New Roman" panose="02020603050405020304" pitchFamily="18" charset="0"/>
                <a:cs typeface="Times New Roman" panose="02020603050405020304" pitchFamily="18" charset="0"/>
              </a:rPr>
              <a:t>2. Data Preprocessing</a:t>
            </a:r>
          </a:p>
        </p:txBody>
      </p:sp>
      <p:sp>
        <p:nvSpPr>
          <p:cNvPr id="3" name="Substituent conținut 2">
            <a:extLst>
              <a:ext uri="{FF2B5EF4-FFF2-40B4-BE49-F238E27FC236}">
                <a16:creationId xmlns:a16="http://schemas.microsoft.com/office/drawing/2014/main" id="{7690F1E7-7ECE-99B6-9352-818B4C4B7C30}"/>
              </a:ext>
            </a:extLst>
          </p:cNvPr>
          <p:cNvSpPr>
            <a:spLocks noGrp="1"/>
          </p:cNvSpPr>
          <p:nvPr>
            <p:ph idx="1"/>
          </p:nvPr>
        </p:nvSpPr>
        <p:spPr>
          <a:xfrm>
            <a:off x="838200" y="1182552"/>
            <a:ext cx="11007436" cy="5167789"/>
          </a:xfrm>
        </p:spPr>
        <p:txBody>
          <a:bodyPr>
            <a:normAutofit fontScale="92500" lnSpcReduction="10000"/>
          </a:bodyPr>
          <a:lstStyle/>
          <a:p>
            <a:pPr marL="0" indent="0">
              <a:buNone/>
            </a:pPr>
            <a:r>
              <a:rPr lang="en-US" sz="2400" dirty="0">
                <a:latin typeface="Times New Roman" panose="02020603050405020304" pitchFamily="18" charset="0"/>
                <a:cs typeface="Times New Roman" panose="02020603050405020304" pitchFamily="18" charset="0"/>
              </a:rPr>
              <a:t>Raw documents (PDF, JSON, text, etc.) often contain large blocks of text, formatting artifacts, and irrelevant data.</a:t>
            </a:r>
          </a:p>
          <a:p>
            <a:pPr marL="0" indent="0">
              <a:buNone/>
            </a:pPr>
            <a:r>
              <a:rPr lang="en-US" sz="2400" b="1" dirty="0">
                <a:latin typeface="Times New Roman" panose="02020603050405020304" pitchFamily="18" charset="0"/>
                <a:cs typeface="Times New Roman" panose="02020603050405020304" pitchFamily="18" charset="0"/>
              </a:rPr>
              <a:t>Step 1 - Chunking</a:t>
            </a:r>
            <a:r>
              <a:rPr lang="en-US" sz="2400" dirty="0">
                <a:latin typeface="Times New Roman" panose="02020603050405020304" pitchFamily="18" charset="0"/>
                <a:cs typeface="Times New Roman" panose="02020603050405020304" pitchFamily="18" charset="0"/>
              </a:rPr>
              <a:t>: Split the text into smaller, manageable chunks (e.g., 100-500 words) so they can fit in the </a:t>
            </a:r>
            <a:r>
              <a:rPr lang="en-US" sz="2400" b="1" dirty="0">
                <a:latin typeface="Times New Roman" panose="02020603050405020304" pitchFamily="18" charset="0"/>
                <a:cs typeface="Times New Roman" panose="02020603050405020304" pitchFamily="18" charset="0"/>
              </a:rPr>
              <a:t>LLM's prompt window</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Step 2 - Cleaning: </a:t>
            </a:r>
            <a:r>
              <a:rPr lang="en-US" sz="2400" dirty="0">
                <a:latin typeface="Times New Roman" panose="02020603050405020304" pitchFamily="18" charset="0"/>
                <a:cs typeface="Times New Roman" panose="02020603050405020304" pitchFamily="18" charset="0"/>
              </a:rPr>
              <a:t>Remove extra spaces, headers/footers, HTML tags, and any noise that might confuse the model.</a:t>
            </a:r>
          </a:p>
          <a:p>
            <a:pPr marL="0" indent="0">
              <a:buNone/>
            </a:pPr>
            <a:r>
              <a:rPr lang="en-US" sz="2400" b="1" dirty="0">
                <a:latin typeface="Times New Roman" panose="02020603050405020304" pitchFamily="18" charset="0"/>
                <a:cs typeface="Times New Roman" panose="02020603050405020304" pitchFamily="18" charset="0"/>
              </a:rPr>
              <a:t>Step 3: Metadata (optional)</a:t>
            </a:r>
          </a:p>
          <a:p>
            <a:pPr marL="0" indent="0">
              <a:buNone/>
            </a:pPr>
            <a:r>
              <a:rPr lang="en-US" sz="2400" dirty="0">
                <a:latin typeface="Times New Roman" panose="02020603050405020304" pitchFamily="18" charset="0"/>
                <a:cs typeface="Times New Roman" panose="02020603050405020304" pitchFamily="18" charset="0"/>
              </a:rPr>
              <a:t>Store useful information like:</a:t>
            </a:r>
          </a:p>
          <a:p>
            <a:r>
              <a:rPr lang="en-US" sz="2400" dirty="0">
                <a:latin typeface="Times New Roman" panose="02020603050405020304" pitchFamily="18" charset="0"/>
                <a:cs typeface="Times New Roman" panose="02020603050405020304" pitchFamily="18" charset="0"/>
              </a:rPr>
              <a:t>Document title</a:t>
            </a:r>
          </a:p>
          <a:p>
            <a:r>
              <a:rPr lang="en-US" sz="2400" dirty="0">
                <a:latin typeface="Times New Roman" panose="02020603050405020304" pitchFamily="18" charset="0"/>
                <a:cs typeface="Times New Roman" panose="02020603050405020304" pitchFamily="18" charset="0"/>
              </a:rPr>
              <a:t>Page number</a:t>
            </a:r>
          </a:p>
          <a:p>
            <a:r>
              <a:rPr lang="en-US" sz="2400" dirty="0">
                <a:latin typeface="Times New Roman" panose="02020603050405020304" pitchFamily="18" charset="0"/>
                <a:cs typeface="Times New Roman" panose="02020603050405020304" pitchFamily="18" charset="0"/>
              </a:rPr>
              <a:t>Section name</a:t>
            </a:r>
          </a:p>
          <a:p>
            <a:r>
              <a:rPr lang="en-US" sz="2400" dirty="0">
                <a:latin typeface="Times New Roman" panose="02020603050405020304" pitchFamily="18" charset="0"/>
                <a:cs typeface="Times New Roman" panose="02020603050405020304" pitchFamily="18" charset="0"/>
              </a:rPr>
              <a:t>This helps with traceability when showing the source of an answer.</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Result: A list of clean text chunks.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380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8BBEEE6-3FF7-1B9D-CAFF-928F711E83EB}"/>
              </a:ext>
            </a:extLst>
          </p:cNvPr>
          <p:cNvSpPr>
            <a:spLocks noGrp="1"/>
          </p:cNvSpPr>
          <p:nvPr>
            <p:ph type="title"/>
          </p:nvPr>
        </p:nvSpPr>
        <p:spPr>
          <a:xfrm>
            <a:off x="838200" y="213361"/>
            <a:ext cx="10515600" cy="715328"/>
          </a:xfrm>
        </p:spPr>
        <p:txBody>
          <a:bodyPr>
            <a:normAutofit/>
          </a:bodyPr>
          <a:lstStyle/>
          <a:p>
            <a:r>
              <a:rPr lang="en-US" sz="3200" dirty="0">
                <a:latin typeface="Times New Roman" panose="02020603050405020304" pitchFamily="18" charset="0"/>
                <a:cs typeface="Times New Roman" panose="02020603050405020304" pitchFamily="18" charset="0"/>
              </a:rPr>
              <a:t>3. Embeddings</a:t>
            </a:r>
          </a:p>
        </p:txBody>
      </p:sp>
      <p:sp>
        <p:nvSpPr>
          <p:cNvPr id="3" name="Substituent conținut 2">
            <a:extLst>
              <a:ext uri="{FF2B5EF4-FFF2-40B4-BE49-F238E27FC236}">
                <a16:creationId xmlns:a16="http://schemas.microsoft.com/office/drawing/2014/main" id="{512F27E7-7068-C671-C92F-458B610EC327}"/>
              </a:ext>
            </a:extLst>
          </p:cNvPr>
          <p:cNvSpPr>
            <a:spLocks noGrp="1"/>
          </p:cNvSpPr>
          <p:nvPr>
            <p:ph idx="1"/>
          </p:nvPr>
        </p:nvSpPr>
        <p:spPr>
          <a:xfrm>
            <a:off x="838200" y="1130498"/>
            <a:ext cx="10866120" cy="4813102"/>
          </a:xfrm>
        </p:spPr>
        <p:txBody>
          <a:bodyPr>
            <a:normAutofit lnSpcReduction="10000"/>
          </a:bodyPr>
          <a:lstStyle/>
          <a:p>
            <a:pPr marL="0" indent="0">
              <a:buNone/>
            </a:pPr>
            <a:r>
              <a:rPr lang="en-US" sz="2000" dirty="0">
                <a:latin typeface="Times New Roman" panose="02020603050405020304" pitchFamily="18" charset="0"/>
                <a:cs typeface="Times New Roman" panose="02020603050405020304" pitchFamily="18" charset="0"/>
              </a:rPr>
              <a:t>An </a:t>
            </a:r>
            <a:r>
              <a:rPr lang="en-US" sz="2000" b="1" dirty="0">
                <a:latin typeface="Times New Roman" panose="02020603050405020304" pitchFamily="18" charset="0"/>
                <a:cs typeface="Times New Roman" panose="02020603050405020304" pitchFamily="18" charset="0"/>
              </a:rPr>
              <a:t>embedding</a:t>
            </a:r>
            <a:r>
              <a:rPr lang="en-US" sz="2000" dirty="0">
                <a:latin typeface="Times New Roman" panose="02020603050405020304" pitchFamily="18" charset="0"/>
                <a:cs typeface="Times New Roman" panose="02020603050405020304" pitchFamily="18" charset="0"/>
              </a:rPr>
              <a:t> is a </a:t>
            </a:r>
            <a:r>
              <a:rPr lang="en-US" sz="2000" b="1" dirty="0">
                <a:latin typeface="Times New Roman" panose="02020603050405020304" pitchFamily="18" charset="0"/>
                <a:cs typeface="Times New Roman" panose="02020603050405020304" pitchFamily="18" charset="0"/>
              </a:rPr>
              <a:t>numerical vector </a:t>
            </a:r>
            <a:r>
              <a:rPr lang="en-US" sz="2000" dirty="0">
                <a:latin typeface="Times New Roman" panose="02020603050405020304" pitchFamily="18" charset="0"/>
                <a:cs typeface="Times New Roman" panose="02020603050405020304" pitchFamily="18" charset="0"/>
              </a:rPr>
              <a:t>that captures the </a:t>
            </a:r>
            <a:r>
              <a:rPr lang="en-US" sz="2000" b="1" dirty="0">
                <a:latin typeface="Times New Roman" panose="02020603050405020304" pitchFamily="18" charset="0"/>
                <a:cs typeface="Times New Roman" panose="02020603050405020304" pitchFamily="18" charset="0"/>
              </a:rPr>
              <a:t>semantic meaning</a:t>
            </a:r>
            <a:r>
              <a:rPr lang="en-US" sz="2000" dirty="0">
                <a:latin typeface="Times New Roman" panose="02020603050405020304" pitchFamily="18" charset="0"/>
                <a:cs typeface="Times New Roman" panose="02020603050405020304" pitchFamily="18" charset="0"/>
              </a:rPr>
              <a:t> of a piece of text.</a:t>
            </a:r>
          </a:p>
          <a:p>
            <a:r>
              <a:rPr lang="en-US" sz="2000" dirty="0">
                <a:latin typeface="Times New Roman" panose="02020603050405020304" pitchFamily="18" charset="0"/>
                <a:cs typeface="Times New Roman" panose="02020603050405020304" pitchFamily="18" charset="0"/>
              </a:rPr>
              <a:t>Once tokenized, each token is passed through an </a:t>
            </a:r>
            <a:r>
              <a:rPr lang="en-US" sz="2000" b="1" dirty="0">
                <a:latin typeface="Times New Roman" panose="02020603050405020304" pitchFamily="18" charset="0"/>
                <a:cs typeface="Times New Roman" panose="02020603050405020304" pitchFamily="18" charset="0"/>
              </a:rPr>
              <a:t>embedding layer</a:t>
            </a:r>
          </a:p>
          <a:p>
            <a:r>
              <a:rPr lang="en-US" sz="2000" dirty="0">
                <a:latin typeface="Times New Roman" panose="02020603050405020304" pitchFamily="18" charset="0"/>
                <a:cs typeface="Times New Roman" panose="02020603050405020304" pitchFamily="18" charset="0"/>
              </a:rPr>
              <a:t>The model assigns a vector to each token (a meaning)</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=&gt; Each chunk is passed through a </a:t>
            </a:r>
            <a:r>
              <a:rPr lang="en-US" sz="2000" b="1" dirty="0">
                <a:latin typeface="Times New Roman" panose="02020603050405020304" pitchFamily="18" charset="0"/>
                <a:cs typeface="Times New Roman" panose="02020603050405020304" pitchFamily="18" charset="0"/>
              </a:rPr>
              <a:t>pre-trained model</a:t>
            </a:r>
            <a:r>
              <a:rPr lang="en-US" sz="2000" dirty="0">
                <a:latin typeface="Times New Roman" panose="02020603050405020304" pitchFamily="18" charset="0"/>
                <a:cs typeface="Times New Roman" panose="02020603050405020304" pitchFamily="18" charset="0"/>
              </a:rPr>
              <a:t> to generate a high-dimensional vector. </a:t>
            </a:r>
          </a:p>
          <a:p>
            <a:pPr marL="0" indent="0">
              <a:buNone/>
            </a:pPr>
            <a:endParaRPr lang="en-US" sz="2000" dirty="0">
              <a:latin typeface="Consolas" panose="020B0609020204030204" pitchFamily="49" charset="0"/>
              <a:cs typeface="Times New Roman" panose="02020603050405020304" pitchFamily="18" charset="0"/>
            </a:endParaRPr>
          </a:p>
          <a:p>
            <a:pPr marL="0" indent="0">
              <a:buNone/>
            </a:pPr>
            <a:endParaRPr lang="en-US" sz="2000" dirty="0">
              <a:latin typeface="Consolas" panose="020B0609020204030204" pitchFamily="49"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Why embeddings matter:</a:t>
            </a:r>
          </a:p>
          <a:p>
            <a:r>
              <a:rPr lang="en-US" sz="2000" dirty="0">
                <a:latin typeface="Times New Roman" panose="02020603050405020304" pitchFamily="18" charset="0"/>
                <a:cs typeface="Times New Roman" panose="02020603050405020304" pitchFamily="18" charset="0"/>
              </a:rPr>
              <a:t>The model is learning </a:t>
            </a:r>
            <a:r>
              <a:rPr lang="en-US" sz="2000" b="1" dirty="0">
                <a:latin typeface="Times New Roman" panose="02020603050405020304" pitchFamily="18" charset="0"/>
                <a:cs typeface="Times New Roman" panose="02020603050405020304" pitchFamily="18" charset="0"/>
              </a:rPr>
              <a:t>how tokens relate to each other contextually</a:t>
            </a:r>
          </a:p>
          <a:p>
            <a:r>
              <a:rPr lang="en-US" sz="2000" dirty="0">
                <a:latin typeface="Times New Roman" panose="02020603050405020304" pitchFamily="18" charset="0"/>
                <a:cs typeface="Times New Roman" panose="02020603050405020304" pitchFamily="18" charset="0"/>
              </a:rPr>
              <a:t>Similar meanings = similar vectors</a:t>
            </a:r>
          </a:p>
          <a:p>
            <a:r>
              <a:rPr lang="en-US" sz="2000" dirty="0">
                <a:latin typeface="Times New Roman" panose="02020603050405020304" pitchFamily="18" charset="0"/>
                <a:cs typeface="Times New Roman" panose="02020603050405020304" pitchFamily="18" charset="0"/>
              </a:rPr>
              <a:t>Words with similar meanings are positioned close to each other</a:t>
            </a:r>
          </a:p>
          <a:p>
            <a:r>
              <a:rPr lang="en-US" sz="2000" dirty="0">
                <a:latin typeface="Times New Roman" panose="02020603050405020304" pitchFamily="18" charset="0"/>
                <a:cs typeface="Times New Roman" panose="02020603050405020304" pitchFamily="18" charset="0"/>
              </a:rPr>
              <a:t>Enables </a:t>
            </a:r>
            <a:r>
              <a:rPr lang="en-US" sz="2000" b="1" dirty="0">
                <a:latin typeface="Times New Roman" panose="02020603050405020304" pitchFamily="18" charset="0"/>
                <a:cs typeface="Times New Roman" panose="02020603050405020304" pitchFamily="18" charset="0"/>
              </a:rPr>
              <a:t>semantic search</a:t>
            </a:r>
            <a:r>
              <a:rPr lang="en-US" sz="2000" dirty="0">
                <a:latin typeface="Times New Roman" panose="02020603050405020304" pitchFamily="18" charset="0"/>
                <a:cs typeface="Times New Roman" panose="02020603050405020304" pitchFamily="18" charset="0"/>
              </a:rPr>
              <a:t> (not just keyword matching)</a:t>
            </a:r>
          </a:p>
          <a:p>
            <a:r>
              <a:rPr lang="en-US" sz="2000" dirty="0">
                <a:latin typeface="Times New Roman" panose="02020603050405020304" pitchFamily="18" charset="0"/>
                <a:cs typeface="Times New Roman" panose="02020603050405020304" pitchFamily="18" charset="0"/>
              </a:rPr>
              <a:t>Both </a:t>
            </a:r>
            <a:r>
              <a:rPr lang="en-US" sz="2000" b="1" dirty="0">
                <a:latin typeface="Times New Roman" panose="02020603050405020304" pitchFamily="18" charset="0"/>
                <a:cs typeface="Times New Roman" panose="02020603050405020304" pitchFamily="18" charset="0"/>
              </a:rPr>
              <a:t>document chunks </a:t>
            </a:r>
            <a:r>
              <a:rPr lang="en-US" sz="2000" dirty="0">
                <a:latin typeface="Times New Roman" panose="02020603050405020304" pitchFamily="18" charset="0"/>
                <a:cs typeface="Times New Roman" panose="02020603050405020304" pitchFamily="18" charset="0"/>
              </a:rPr>
              <a:t>and</a:t>
            </a:r>
            <a:r>
              <a:rPr lang="en-US" sz="2000" b="1" dirty="0">
                <a:latin typeface="Times New Roman" panose="02020603050405020304" pitchFamily="18" charset="0"/>
                <a:cs typeface="Times New Roman" panose="02020603050405020304" pitchFamily="18" charset="0"/>
              </a:rPr>
              <a:t> user queries</a:t>
            </a:r>
            <a:r>
              <a:rPr lang="en-US" sz="2000" dirty="0">
                <a:latin typeface="Times New Roman" panose="02020603050405020304" pitchFamily="18" charset="0"/>
                <a:cs typeface="Times New Roman" panose="02020603050405020304" pitchFamily="18" charset="0"/>
              </a:rPr>
              <a:t> are embedded the same way</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4098" name="Picture 2" descr="undefined">
            <a:extLst>
              <a:ext uri="{FF2B5EF4-FFF2-40B4-BE49-F238E27FC236}">
                <a16:creationId xmlns:a16="http://schemas.microsoft.com/office/drawing/2014/main" id="{D93629AC-5B3E-3C42-9DC8-5D3D53F2C9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1840" y="3243302"/>
            <a:ext cx="3643052" cy="3401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574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1">
            <a:extLst>
              <a:ext uri="{FF2B5EF4-FFF2-40B4-BE49-F238E27FC236}">
                <a16:creationId xmlns:a16="http://schemas.microsoft.com/office/drawing/2014/main" id="{E019F3E1-BF63-DEDD-B137-C143B1F17779}"/>
              </a:ext>
            </a:extLst>
          </p:cNvPr>
          <p:cNvSpPr txBox="1">
            <a:spLocks/>
          </p:cNvSpPr>
          <p:nvPr/>
        </p:nvSpPr>
        <p:spPr>
          <a:xfrm>
            <a:off x="838200" y="213361"/>
            <a:ext cx="10515600" cy="715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3. Embeddings - Example</a:t>
            </a:r>
          </a:p>
        </p:txBody>
      </p:sp>
      <mc:AlternateContent xmlns:mc="http://schemas.openxmlformats.org/markup-compatibility/2006" xmlns:a14="http://schemas.microsoft.com/office/drawing/2010/main">
        <mc:Choice Requires="a14">
          <p:sp>
            <p:nvSpPr>
              <p:cNvPr id="6" name="CasetăText 5">
                <a:extLst>
                  <a:ext uri="{FF2B5EF4-FFF2-40B4-BE49-F238E27FC236}">
                    <a16:creationId xmlns:a16="http://schemas.microsoft.com/office/drawing/2014/main" id="{DC262442-8E5B-84C2-3AC2-33BB1759CB12}"/>
                  </a:ext>
                </a:extLst>
              </p:cNvPr>
              <p:cNvSpPr txBox="1"/>
              <p:nvPr/>
            </p:nvSpPr>
            <p:spPr>
              <a:xfrm>
                <a:off x="0" y="1112981"/>
                <a:ext cx="7518400" cy="5170646"/>
              </a:xfrm>
              <a:prstGeom prst="rect">
                <a:avLst/>
              </a:prstGeom>
              <a:noFill/>
            </p:spPr>
            <p:txBody>
              <a:bodyPr wrap="square">
                <a:spAutoFit/>
              </a:bodyPr>
              <a:lstStyle/>
              <a:p>
                <a:pPr algn="l" fontAlgn="base">
                  <a:lnSpc>
                    <a:spcPts val="1800"/>
                  </a:lnSpc>
                  <a:buNone/>
                </a:pPr>
                <a:r>
                  <a:rPr lang="en-US" sz="2000" b="0" i="0" dirty="0">
                    <a:solidFill>
                      <a:srgbClr val="161616"/>
                    </a:solidFill>
                    <a:effectLst/>
                    <a:latin typeface="Times New Roman" panose="02020603050405020304" pitchFamily="18" charset="0"/>
                    <a:cs typeface="Times New Roman" panose="02020603050405020304" pitchFamily="18" charset="0"/>
                  </a:rPr>
                  <a:t>Here is how two words, “dad” and “mom” would be represented as vectors:</a:t>
                </a:r>
              </a:p>
              <a:p>
                <a:pPr algn="l" fontAlgn="base">
                  <a:lnSpc>
                    <a:spcPts val="1800"/>
                  </a:lnSpc>
                  <a:buNone/>
                </a:pPr>
                <a:endParaRPr lang="en-US" sz="2000" b="0" i="0" dirty="0">
                  <a:solidFill>
                    <a:srgbClr val="161616"/>
                  </a:solidFill>
                  <a:effectLst/>
                  <a:latin typeface="Times New Roman" panose="02020603050405020304" pitchFamily="18" charset="0"/>
                  <a:cs typeface="Times New Roman" panose="02020603050405020304" pitchFamily="18" charset="0"/>
                </a:endParaRPr>
              </a:p>
              <a:p>
                <a:pPr algn="ctr" fontAlgn="base">
                  <a:lnSpc>
                    <a:spcPts val="1800"/>
                  </a:lnSpc>
                  <a:buNone/>
                </a:pPr>
                <a:r>
                  <a:rPr lang="en-US" sz="2000" b="0" i="0" dirty="0">
                    <a:solidFill>
                      <a:srgbClr val="161616"/>
                    </a:solidFill>
                    <a:effectLst/>
                    <a:latin typeface="Times New Roman" panose="02020603050405020304" pitchFamily="18" charset="0"/>
                    <a:cs typeface="Times New Roman" panose="02020603050405020304" pitchFamily="18" charset="0"/>
                  </a:rPr>
                  <a:t> </a:t>
                </a:r>
                <a14:m>
                  <m:oMath xmlns:m="http://schemas.openxmlformats.org/officeDocument/2006/math">
                    <m:r>
                      <a:rPr lang="en-US" sz="2000">
                        <a:latin typeface="Cambria Math" panose="02040503050406030204" pitchFamily="18" charset="0"/>
                      </a:rPr>
                      <m:t>“</m:t>
                    </m:r>
                    <m:r>
                      <a:rPr lang="en-US" sz="2000" i="1">
                        <a:latin typeface="Cambria Math" panose="02040503050406030204" pitchFamily="18" charset="0"/>
                      </a:rPr>
                      <m:t>𝑑𝑎𝑑</m:t>
                    </m:r>
                    <m:r>
                      <a:rPr lang="en-US" sz="2000" i="0">
                        <a:latin typeface="Cambria Math" panose="02040503050406030204" pitchFamily="18" charset="0"/>
                      </a:rPr>
                      <m:t>”</m:t>
                    </m:r>
                    <m:r>
                      <a:rPr lang="en-US" sz="2000" b="0" i="1" smtClean="0">
                        <a:latin typeface="Cambria Math" panose="02040503050406030204" pitchFamily="18" charset="0"/>
                      </a:rPr>
                      <m:t>=</m:t>
                    </m:r>
                    <m:d>
                      <m:dPr>
                        <m:begChr m:val="["/>
                        <m:endChr m:val="]"/>
                        <m:sepChr m:val=","/>
                        <m:ctrlPr>
                          <a:rPr lang="ar-AE" sz="2000" i="1">
                            <a:latin typeface="Cambria Math" panose="02040503050406030204" pitchFamily="18" charset="0"/>
                          </a:rPr>
                        </m:ctrlPr>
                      </m:dPr>
                      <m:e>
                        <m:r>
                          <a:rPr lang="ar-AE" sz="2000" i="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1548</m:t>
                        </m:r>
                      </m:e>
                      <m:e>
                        <m:r>
                          <a:rPr lang="ar-AE" sz="2000" i="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4848</m:t>
                        </m:r>
                      </m:e>
                      <m:e>
                        <m:r>
                          <a:rPr lang="ar-AE" sz="2000" i="0">
                            <a:latin typeface="Cambria Math" panose="02040503050406030204" pitchFamily="18" charset="0"/>
                          </a:rPr>
                          <m:t>…</m:t>
                        </m:r>
                      </m:e>
                      <m:e>
                        <m:r>
                          <a:rPr lang="ar-AE" sz="2000" i="0">
                            <a:latin typeface="Cambria Math" panose="02040503050406030204" pitchFamily="18" charset="0"/>
                          </a:rPr>
                          <m:t>1</m:t>
                        </m:r>
                        <m:r>
                          <a:rPr lang="ar-AE" sz="2000" i="0">
                            <a:latin typeface="Cambria Math" panose="02040503050406030204" pitchFamily="18" charset="0"/>
                          </a:rPr>
                          <m:t>.</m:t>
                        </m:r>
                        <m:r>
                          <a:rPr lang="ar-AE" sz="2000" i="0">
                            <a:latin typeface="Cambria Math" panose="02040503050406030204" pitchFamily="18" charset="0"/>
                          </a:rPr>
                          <m:t>864</m:t>
                        </m:r>
                      </m:e>
                    </m:d>
                  </m:oMath>
                </a14:m>
                <a:r>
                  <a:rPr lang="ar-AE" sz="2000" b="0" i="0" dirty="0">
                    <a:solidFill>
                      <a:srgbClr val="161616"/>
                    </a:solidFill>
                    <a:effectLst/>
                    <a:latin typeface="Times New Roman" panose="02020603050405020304" pitchFamily="18" charset="0"/>
                    <a:cs typeface="Times New Roman" panose="02020603050405020304" pitchFamily="18" charset="0"/>
                  </a:rPr>
                  <a:t> </a:t>
                </a:r>
                <a:endParaRPr lang="en-US" sz="2000" b="0" i="0" dirty="0">
                  <a:solidFill>
                    <a:srgbClr val="161616"/>
                  </a:solidFill>
                  <a:effectLst/>
                  <a:latin typeface="Times New Roman" panose="02020603050405020304" pitchFamily="18" charset="0"/>
                  <a:cs typeface="Times New Roman" panose="02020603050405020304" pitchFamily="18" charset="0"/>
                </a:endParaRPr>
              </a:p>
              <a:p>
                <a:pPr algn="ctr" fontAlgn="base">
                  <a:lnSpc>
                    <a:spcPts val="1800"/>
                  </a:lnSpc>
                  <a:buNone/>
                </a:pPr>
                <a:endParaRPr lang="ar-AE" sz="2000" b="0" i="0" dirty="0">
                  <a:solidFill>
                    <a:srgbClr val="161616"/>
                  </a:solidFill>
                  <a:effectLst/>
                  <a:latin typeface="Times New Roman" panose="02020603050405020304" pitchFamily="18" charset="0"/>
                  <a:cs typeface="Times New Roman" panose="02020603050405020304" pitchFamily="18" charset="0"/>
                </a:endParaRPr>
              </a:p>
              <a:p>
                <a:pPr algn="ctr" fontAlgn="base">
                  <a:lnSpc>
                    <a:spcPts val="1800"/>
                  </a:lnSpc>
                  <a:buNone/>
                </a:pPr>
                <a:r>
                  <a:rPr lang="ar-AE" sz="2000" b="0" i="0" dirty="0">
                    <a:solidFill>
                      <a:srgbClr val="161616"/>
                    </a:solidFill>
                    <a:effectLst/>
                    <a:latin typeface="Times New Roman" panose="02020603050405020304" pitchFamily="18" charset="0"/>
                    <a:cs typeface="Times New Roman" panose="02020603050405020304" pitchFamily="18" charset="0"/>
                  </a:rPr>
                  <a:t> </a:t>
                </a:r>
                <a14:m>
                  <m:oMath xmlns:m="http://schemas.openxmlformats.org/officeDocument/2006/math">
                    <m:r>
                      <a:rPr lang="ar-AE" sz="2000">
                        <a:latin typeface="Cambria Math" panose="02040503050406030204" pitchFamily="18" charset="0"/>
                      </a:rPr>
                      <m:t>“</m:t>
                    </m:r>
                    <m:r>
                      <a:rPr lang="ar-AE" sz="2000" i="1">
                        <a:latin typeface="Cambria Math" panose="02040503050406030204" pitchFamily="18" charset="0"/>
                      </a:rPr>
                      <m:t>𝑚𝑜𝑚</m:t>
                    </m:r>
                    <m:r>
                      <a:rPr lang="ar-AE" sz="2000" i="0">
                        <a:latin typeface="Cambria Math" panose="02040503050406030204" pitchFamily="18" charset="0"/>
                      </a:rPr>
                      <m:t>”</m:t>
                    </m:r>
                    <m:r>
                      <a:rPr lang="ar-AE" sz="2000" i="0">
                        <a:latin typeface="Cambria Math" panose="02040503050406030204" pitchFamily="18" charset="0"/>
                      </a:rPr>
                      <m:t>=</m:t>
                    </m:r>
                    <m:d>
                      <m:dPr>
                        <m:begChr m:val="["/>
                        <m:endChr m:val="]"/>
                        <m:sepChr m:val=","/>
                        <m:ctrlPr>
                          <a:rPr lang="ar-AE" sz="2000" i="1">
                            <a:latin typeface="Cambria Math" panose="02040503050406030204" pitchFamily="18" charset="0"/>
                          </a:rPr>
                        </m:ctrlPr>
                      </m:dPr>
                      <m:e>
                        <m:r>
                          <a:rPr lang="ar-AE" sz="2000" i="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8785</m:t>
                        </m:r>
                      </m:e>
                      <m:e>
                        <m:r>
                          <a:rPr lang="ar-AE" sz="2000" i="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8974</m:t>
                        </m:r>
                      </m:e>
                      <m:e>
                        <m:r>
                          <a:rPr lang="ar-AE" sz="2000" i="0">
                            <a:latin typeface="Cambria Math" panose="02040503050406030204" pitchFamily="18" charset="0"/>
                          </a:rPr>
                          <m:t>…</m:t>
                        </m:r>
                      </m:e>
                      <m:e>
                        <m:r>
                          <a:rPr lang="ar-AE" sz="2000" i="0">
                            <a:latin typeface="Cambria Math" panose="02040503050406030204" pitchFamily="18" charset="0"/>
                          </a:rPr>
                          <m:t>2</m:t>
                        </m:r>
                        <m:r>
                          <a:rPr lang="ar-AE" sz="2000" i="0">
                            <a:latin typeface="Cambria Math" panose="02040503050406030204" pitchFamily="18" charset="0"/>
                          </a:rPr>
                          <m:t>.</m:t>
                        </m:r>
                        <m:r>
                          <a:rPr lang="ar-AE" sz="2000" i="0">
                            <a:latin typeface="Cambria Math" panose="02040503050406030204" pitchFamily="18" charset="0"/>
                          </a:rPr>
                          <m:t>794</m:t>
                        </m:r>
                      </m:e>
                    </m:d>
                  </m:oMath>
                </a14:m>
                <a:r>
                  <a:rPr lang="ar-AE" sz="2000" b="0" i="0" dirty="0">
                    <a:solidFill>
                      <a:srgbClr val="161616"/>
                    </a:solidFill>
                    <a:effectLst/>
                    <a:latin typeface="Times New Roman" panose="02020603050405020304" pitchFamily="18" charset="0"/>
                    <a:cs typeface="Times New Roman" panose="02020603050405020304" pitchFamily="18" charset="0"/>
                  </a:rPr>
                  <a:t> </a:t>
                </a:r>
                <a:endParaRPr lang="en-US" sz="2000" b="0" i="0" dirty="0">
                  <a:solidFill>
                    <a:srgbClr val="161616"/>
                  </a:solidFill>
                  <a:effectLst/>
                  <a:latin typeface="Times New Roman" panose="02020603050405020304" pitchFamily="18" charset="0"/>
                  <a:cs typeface="Times New Roman" panose="02020603050405020304" pitchFamily="18" charset="0"/>
                </a:endParaRPr>
              </a:p>
              <a:p>
                <a:pPr algn="l" fontAlgn="base">
                  <a:buNone/>
                </a:pPr>
                <a:endParaRPr lang="en-US" sz="2000" dirty="0">
                  <a:solidFill>
                    <a:srgbClr val="161616"/>
                  </a:solidFill>
                  <a:latin typeface="Times New Roman" panose="02020603050405020304" pitchFamily="18" charset="0"/>
                  <a:cs typeface="Times New Roman" panose="02020603050405020304" pitchFamily="18" charset="0"/>
                </a:endParaRPr>
              </a:p>
              <a:p>
                <a:pPr algn="l" fontAlgn="base">
                  <a:buNone/>
                </a:pPr>
                <a:r>
                  <a:rPr lang="en-US" sz="2000" dirty="0">
                    <a:solidFill>
                      <a:srgbClr val="161616"/>
                    </a:solidFill>
                    <a:latin typeface="Times New Roman" panose="02020603050405020304" pitchFamily="18" charset="0"/>
                    <a:cs typeface="Times New Roman" panose="02020603050405020304" pitchFamily="18" charset="0"/>
                  </a:rPr>
                  <a:t>If we look at…</a:t>
                </a:r>
              </a:p>
              <a:p>
                <a:pPr algn="ctr" fontAlgn="base"/>
                <a:r>
                  <a:rPr lang="en-US" sz="2000" dirty="0">
                    <a:solidFill>
                      <a:srgbClr val="161616"/>
                    </a:solidFill>
                    <a:latin typeface="Times New Roman" panose="02020603050405020304" pitchFamily="18" charset="0"/>
                    <a:cs typeface="Times New Roman" panose="02020603050405020304" pitchFamily="18" charset="0"/>
                  </a:rPr>
                  <a:t>"banana" = [0.13,  0.77, -0.34, ..., -0.25]</a:t>
                </a:r>
              </a:p>
              <a:p>
                <a:r>
                  <a:rPr lang="en-US" sz="2000" dirty="0">
                    <a:latin typeface="Times New Roman" panose="02020603050405020304" pitchFamily="18" charset="0"/>
                    <a:cs typeface="Times New Roman" panose="02020603050405020304" pitchFamily="18" charset="0"/>
                  </a:rPr>
                  <a:t>In vector space:</a:t>
                </a:r>
              </a:p>
              <a:p>
                <a:r>
                  <a:rPr lang="en-US" sz="2000" dirty="0">
                    <a:latin typeface="Times New Roman" panose="02020603050405020304" pitchFamily="18" charset="0"/>
                    <a:cs typeface="Times New Roman" panose="02020603050405020304" pitchFamily="18" charset="0"/>
                  </a:rPr>
                  <a:t>"nurse" and "doctor" are </a:t>
                </a:r>
                <a:r>
                  <a:rPr lang="en-US" sz="2000" b="1" dirty="0">
                    <a:latin typeface="Times New Roman" panose="02020603050405020304" pitchFamily="18" charset="0"/>
                    <a:cs typeface="Times New Roman" panose="02020603050405020304" pitchFamily="18" charset="0"/>
                  </a:rPr>
                  <a:t>very close together</a:t>
                </a:r>
                <a:r>
                  <a:rPr lang="en-US" sz="2000" dirty="0">
                    <a:latin typeface="Times New Roman" panose="02020603050405020304" pitchFamily="18" charset="0"/>
                    <a:cs typeface="Times New Roman" panose="02020603050405020304" pitchFamily="18" charset="0"/>
                  </a:rPr>
                  <a:t> =&gt;  similar meaning</a:t>
                </a:r>
              </a:p>
              <a:p>
                <a:r>
                  <a:rPr lang="en-US" sz="2000" dirty="0">
                    <a:latin typeface="Times New Roman" panose="02020603050405020304" pitchFamily="18" charset="0"/>
                    <a:cs typeface="Times New Roman" panose="02020603050405020304" pitchFamily="18" charset="0"/>
                  </a:rPr>
                  <a:t>"banana" is </a:t>
                </a:r>
                <a:r>
                  <a:rPr lang="en-US" sz="2000" b="1" dirty="0">
                    <a:latin typeface="Times New Roman" panose="02020603050405020304" pitchFamily="18" charset="0"/>
                    <a:cs typeface="Times New Roman" panose="02020603050405020304" pitchFamily="18" charset="0"/>
                  </a:rPr>
                  <a:t>far away</a:t>
                </a:r>
                <a:r>
                  <a:rPr lang="en-US" sz="2000" dirty="0">
                    <a:latin typeface="Times New Roman" panose="02020603050405020304" pitchFamily="18" charset="0"/>
                    <a:cs typeface="Times New Roman" panose="02020603050405020304" pitchFamily="18" charset="0"/>
                  </a:rPr>
                  <a:t> =&gt; unrelated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Two similar words point in similar directions in vector space.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That’s why their </a:t>
                </a:r>
                <a:r>
                  <a:rPr lang="en-US" sz="2000" b="1" dirty="0">
                    <a:latin typeface="Times New Roman" panose="02020603050405020304" pitchFamily="18" charset="0"/>
                    <a:cs typeface="Times New Roman" panose="02020603050405020304" pitchFamily="18" charset="0"/>
                  </a:rPr>
                  <a:t>dot product is high</a:t>
                </a:r>
                <a:r>
                  <a:rPr lang="en-US" sz="2000" dirty="0">
                    <a:latin typeface="Times New Roman" panose="02020603050405020304" pitchFamily="18" charset="0"/>
                    <a:cs typeface="Times New Roman" panose="02020603050405020304" pitchFamily="18" charset="0"/>
                  </a:rPr>
                  <a:t>, and they’re considered semantically close.</a:t>
                </a:r>
              </a:p>
              <a:p>
                <a:endParaRPr lang="en-US" sz="2000" dirty="0">
                  <a:latin typeface="Times New Roman" panose="02020603050405020304" pitchFamily="18" charset="0"/>
                  <a:cs typeface="Times New Roman" panose="02020603050405020304" pitchFamily="18" charset="0"/>
                </a:endParaRPr>
              </a:p>
              <a:p>
                <a:pPr algn="ctr" fontAlgn="base"/>
                <a:endParaRPr lang="en-US" sz="2000" b="0" i="0" dirty="0">
                  <a:solidFill>
                    <a:srgbClr val="161616"/>
                  </a:solidFill>
                  <a:effectLst/>
                  <a:latin typeface="Times New Roman" panose="02020603050405020304" pitchFamily="18" charset="0"/>
                  <a:cs typeface="Times New Roman" panose="02020603050405020304" pitchFamily="18" charset="0"/>
                </a:endParaRPr>
              </a:p>
            </p:txBody>
          </p:sp>
        </mc:Choice>
        <mc:Fallback xmlns="">
          <p:sp>
            <p:nvSpPr>
              <p:cNvPr id="6" name="CasetăText 5">
                <a:extLst>
                  <a:ext uri="{FF2B5EF4-FFF2-40B4-BE49-F238E27FC236}">
                    <a16:creationId xmlns:a16="http://schemas.microsoft.com/office/drawing/2014/main" id="{DC262442-8E5B-84C2-3AC2-33BB1759CB12}"/>
                  </a:ext>
                </a:extLst>
              </p:cNvPr>
              <p:cNvSpPr txBox="1">
                <a:spLocks noRot="1" noChangeAspect="1" noMove="1" noResize="1" noEditPoints="1" noAdjustHandles="1" noChangeArrowheads="1" noChangeShapeType="1" noTextEdit="1"/>
              </p:cNvSpPr>
              <p:nvPr/>
            </p:nvSpPr>
            <p:spPr>
              <a:xfrm>
                <a:off x="0" y="1112981"/>
                <a:ext cx="7518400" cy="5170646"/>
              </a:xfrm>
              <a:prstGeom prst="rect">
                <a:avLst/>
              </a:prstGeom>
              <a:blipFill>
                <a:blip r:embed="rId3"/>
                <a:stretch>
                  <a:fillRect l="-811" t="-2123"/>
                </a:stretch>
              </a:blipFill>
            </p:spPr>
            <p:txBody>
              <a:bodyPr/>
              <a:lstStyle/>
              <a:p>
                <a:r>
                  <a:rPr lang="en-US">
                    <a:noFill/>
                  </a:rPr>
                  <a:t> </a:t>
                </a:r>
              </a:p>
            </p:txBody>
          </p:sp>
        </mc:Fallback>
      </mc:AlternateContent>
      <p:pic>
        <p:nvPicPr>
          <p:cNvPr id="5122" name="Picture 2" descr="visualization">
            <a:extLst>
              <a:ext uri="{FF2B5EF4-FFF2-40B4-BE49-F238E27FC236}">
                <a16:creationId xmlns:a16="http://schemas.microsoft.com/office/drawing/2014/main" id="{BDBB7ACD-E5E6-F3D3-C44D-FF22095289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8965" y="547315"/>
            <a:ext cx="4717275" cy="4819921"/>
          </a:xfrm>
          <a:prstGeom prst="rect">
            <a:avLst/>
          </a:prstGeom>
          <a:noFill/>
          <a:extLst>
            <a:ext uri="{909E8E84-426E-40DD-AFC4-6F175D3DCCD1}">
              <a14:hiddenFill xmlns:a14="http://schemas.microsoft.com/office/drawing/2010/main">
                <a:solidFill>
                  <a:srgbClr val="FFFFFF"/>
                </a:solidFill>
              </a14:hiddenFill>
            </a:ext>
          </a:extLst>
        </p:spPr>
      </p:pic>
      <p:sp>
        <p:nvSpPr>
          <p:cNvPr id="10" name="CasetăText 9">
            <a:extLst>
              <a:ext uri="{FF2B5EF4-FFF2-40B4-BE49-F238E27FC236}">
                <a16:creationId xmlns:a16="http://schemas.microsoft.com/office/drawing/2014/main" id="{32A24105-539A-6662-2B3B-E6FAB2FE980B}"/>
              </a:ext>
            </a:extLst>
          </p:cNvPr>
          <p:cNvSpPr txBox="1"/>
          <p:nvPr/>
        </p:nvSpPr>
        <p:spPr>
          <a:xfrm>
            <a:off x="6816864" y="5387355"/>
            <a:ext cx="5301475" cy="923330"/>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The above image - 3 dimensional vectors - is simplified </a:t>
            </a:r>
          </a:p>
          <a:p>
            <a:r>
              <a:rPr lang="en-US" b="0" i="0" dirty="0">
                <a:effectLst/>
                <a:latin typeface="Times New Roman" panose="02020603050405020304" pitchFamily="18" charset="0"/>
                <a:cs typeface="Times New Roman" panose="02020603050405020304" pitchFamily="18" charset="0"/>
              </a:rPr>
              <a:t>In practice, a vector can be anywhere from 100 to 4000 dimensions.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8506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u 1">
            <a:extLst>
              <a:ext uri="{FF2B5EF4-FFF2-40B4-BE49-F238E27FC236}">
                <a16:creationId xmlns:a16="http://schemas.microsoft.com/office/drawing/2014/main" id="{F903E395-5A60-4807-CD99-8F235573ABB7}"/>
              </a:ext>
            </a:extLst>
          </p:cNvPr>
          <p:cNvSpPr txBox="1">
            <a:spLocks/>
          </p:cNvSpPr>
          <p:nvPr/>
        </p:nvSpPr>
        <p:spPr>
          <a:xfrm>
            <a:off x="838200" y="213361"/>
            <a:ext cx="10515600" cy="715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4. Vector Database</a:t>
            </a:r>
          </a:p>
        </p:txBody>
      </p:sp>
      <p:sp>
        <p:nvSpPr>
          <p:cNvPr id="7" name="CasetăText 6">
            <a:extLst>
              <a:ext uri="{FF2B5EF4-FFF2-40B4-BE49-F238E27FC236}">
                <a16:creationId xmlns:a16="http://schemas.microsoft.com/office/drawing/2014/main" id="{0AB53951-74B8-0EBA-D9CC-7F29B20979F9}"/>
              </a:ext>
            </a:extLst>
          </p:cNvPr>
          <p:cNvSpPr txBox="1"/>
          <p:nvPr/>
        </p:nvSpPr>
        <p:spPr>
          <a:xfrm>
            <a:off x="838200" y="956453"/>
            <a:ext cx="10662920" cy="5324535"/>
          </a:xfrm>
          <a:prstGeom prst="rect">
            <a:avLst/>
          </a:prstGeom>
          <a:noFill/>
        </p:spPr>
        <p:txBody>
          <a:bodyPr wrap="square">
            <a:spAutoFit/>
          </a:bodyPr>
          <a:lstStyle/>
          <a:p>
            <a:pPr fontAlgn="base"/>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vector database</a:t>
            </a:r>
            <a:r>
              <a:rPr lang="en-US" sz="2000" dirty="0">
                <a:latin typeface="Times New Roman" panose="02020603050405020304" pitchFamily="18" charset="0"/>
                <a:cs typeface="Times New Roman" panose="02020603050405020304" pitchFamily="18" charset="0"/>
              </a:rPr>
              <a:t> stores all the embeddings (numeric vectors) for the text chunks.</a:t>
            </a:r>
          </a:p>
          <a:p>
            <a:pPr fontAlgn="base"/>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When a user submits a query:</a:t>
            </a:r>
          </a:p>
          <a:p>
            <a:pPr>
              <a:buFont typeface="+mj-lt"/>
              <a:buAutoNum type="arabicPeriod"/>
            </a:pPr>
            <a:r>
              <a:rPr lang="en-US" sz="2000" dirty="0">
                <a:latin typeface="Times New Roman" panose="02020603050405020304" pitchFamily="18" charset="0"/>
                <a:cs typeface="Times New Roman" panose="02020603050405020304" pitchFamily="18" charset="0"/>
              </a:rPr>
              <a:t> Embed the query into a vector</a:t>
            </a:r>
          </a:p>
          <a:p>
            <a:pPr>
              <a:buFont typeface="+mj-lt"/>
              <a:buAutoNum type="arabicPeriod"/>
            </a:pPr>
            <a:r>
              <a:rPr lang="en-US" sz="2000" dirty="0">
                <a:latin typeface="Times New Roman" panose="02020603050405020304" pitchFamily="18" charset="0"/>
                <a:cs typeface="Times New Roman" panose="02020603050405020304" pitchFamily="18" charset="0"/>
              </a:rPr>
              <a:t> Search the vector database</a:t>
            </a:r>
          </a:p>
          <a:p>
            <a:pPr>
              <a:buFont typeface="+mj-lt"/>
              <a:buAutoNum type="arabicPeriod"/>
            </a:pPr>
            <a:r>
              <a:rPr lang="en-US" sz="2000" dirty="0">
                <a:latin typeface="Times New Roman" panose="02020603050405020304" pitchFamily="18" charset="0"/>
                <a:cs typeface="Times New Roman" panose="02020603050405020304" pitchFamily="18" charset="0"/>
              </a:rPr>
              <a:t> Find the </a:t>
            </a:r>
            <a:r>
              <a:rPr lang="en-US" sz="2000" b="1" dirty="0">
                <a:latin typeface="Times New Roman" panose="02020603050405020304" pitchFamily="18" charset="0"/>
                <a:cs typeface="Times New Roman" panose="02020603050405020304" pitchFamily="18" charset="0"/>
              </a:rPr>
              <a:t>most similar document chunks</a:t>
            </a:r>
            <a:r>
              <a:rPr lang="en-US" sz="2000" dirty="0">
                <a:latin typeface="Times New Roman" panose="02020603050405020304" pitchFamily="18" charset="0"/>
                <a:cs typeface="Times New Roman" panose="02020603050405020304" pitchFamily="18" charset="0"/>
              </a:rPr>
              <a:t> using metrics like:</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L2 distance (Euclidian distance): Measures the </a:t>
            </a:r>
            <a:r>
              <a:rPr lang="en-US" sz="2000" i="1" dirty="0">
                <a:latin typeface="Times New Roman" panose="02020603050405020304" pitchFamily="18" charset="0"/>
                <a:cs typeface="Times New Roman" panose="02020603050405020304" pitchFamily="18" charset="0"/>
              </a:rPr>
              <a:t>actual distance</a:t>
            </a:r>
            <a:r>
              <a:rPr lang="en-US" sz="2000" dirty="0">
                <a:latin typeface="Times New Roman" panose="02020603050405020304" pitchFamily="18" charset="0"/>
                <a:cs typeface="Times New Roman" panose="02020603050405020304" pitchFamily="18" charset="0"/>
              </a:rPr>
              <a:t> between two vectors in space.</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Cosine Similarity: Measures </a:t>
            </a:r>
            <a:r>
              <a:rPr lang="en-US" sz="2000" i="1" dirty="0">
                <a:latin typeface="Times New Roman" panose="02020603050405020304" pitchFamily="18" charset="0"/>
                <a:cs typeface="Times New Roman" panose="02020603050405020304" pitchFamily="18" charset="0"/>
              </a:rPr>
              <a:t>the angle</a:t>
            </a:r>
            <a:r>
              <a:rPr lang="en-US" sz="2000" dirty="0">
                <a:latin typeface="Times New Roman" panose="02020603050405020304" pitchFamily="18" charset="0"/>
                <a:cs typeface="Times New Roman" panose="02020603050405020304" pitchFamily="18" charset="0"/>
              </a:rPr>
              <a:t> (directional alignment) between vectors.</a:t>
            </a:r>
          </a:p>
          <a:p>
            <a:pPr lvl="6"/>
            <a:r>
              <a:rPr lang="en-US" sz="2000" dirty="0">
                <a:latin typeface="Times New Roman" panose="02020603050405020304" pitchFamily="18" charset="0"/>
                <a:cs typeface="Times New Roman" panose="02020603050405020304" pitchFamily="18" charset="0"/>
              </a:rPr>
              <a:t>Closer to 1 = more similar (same meaning, even if length differs)</a:t>
            </a: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Commonly used:</a:t>
            </a: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ChromaDB</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FAISS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Facebook AI Similarity Search)</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Goal: </a:t>
            </a:r>
            <a:r>
              <a:rPr lang="en-US" sz="2000" dirty="0">
                <a:latin typeface="Times New Roman" panose="02020603050405020304" pitchFamily="18" charset="0"/>
                <a:cs typeface="Times New Roman" panose="02020603050405020304" pitchFamily="18" charset="0"/>
              </a:rPr>
              <a:t>Return the top-k relevant chunks to use as </a:t>
            </a:r>
            <a:r>
              <a:rPr lang="en-US" sz="2000" b="1" dirty="0">
                <a:latin typeface="Times New Roman" panose="02020603050405020304" pitchFamily="18" charset="0"/>
                <a:cs typeface="Times New Roman" panose="02020603050405020304" pitchFamily="18" charset="0"/>
              </a:rPr>
              <a:t>context</a:t>
            </a:r>
            <a:r>
              <a:rPr lang="en-US" sz="2000" dirty="0">
                <a:latin typeface="Times New Roman" panose="02020603050405020304" pitchFamily="18" charset="0"/>
                <a:cs typeface="Times New Roman" panose="02020603050405020304" pitchFamily="18" charset="0"/>
              </a:rPr>
              <a:t> for the LLM.</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fontAlgn="base"/>
            <a:endParaRPr lang="en-US" sz="2000" b="0" i="0" dirty="0">
              <a:solidFill>
                <a:srgbClr val="161616"/>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9519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1">
            <a:extLst>
              <a:ext uri="{FF2B5EF4-FFF2-40B4-BE49-F238E27FC236}">
                <a16:creationId xmlns:a16="http://schemas.microsoft.com/office/drawing/2014/main" id="{B2B9798B-95AA-1AFA-C94C-A8D14E096C3F}"/>
              </a:ext>
            </a:extLst>
          </p:cNvPr>
          <p:cNvSpPr txBox="1">
            <a:spLocks/>
          </p:cNvSpPr>
          <p:nvPr/>
        </p:nvSpPr>
        <p:spPr>
          <a:xfrm>
            <a:off x="838200" y="213361"/>
            <a:ext cx="10515600" cy="715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5. Retrieved Context</a:t>
            </a:r>
          </a:p>
        </p:txBody>
      </p:sp>
      <p:sp>
        <p:nvSpPr>
          <p:cNvPr id="7" name="CasetăText 6">
            <a:extLst>
              <a:ext uri="{FF2B5EF4-FFF2-40B4-BE49-F238E27FC236}">
                <a16:creationId xmlns:a16="http://schemas.microsoft.com/office/drawing/2014/main" id="{D0CF9EEF-1BF5-B995-3448-416D157121EA}"/>
              </a:ext>
            </a:extLst>
          </p:cNvPr>
          <p:cNvSpPr txBox="1"/>
          <p:nvPr/>
        </p:nvSpPr>
        <p:spPr>
          <a:xfrm>
            <a:off x="838200" y="956453"/>
            <a:ext cx="10662920" cy="5632311"/>
          </a:xfrm>
          <a:prstGeom prst="rect">
            <a:avLst/>
          </a:prstGeom>
          <a:noFill/>
        </p:spPr>
        <p:txBody>
          <a:bodyPr wrap="square">
            <a:spAutoFit/>
          </a:bodyPr>
          <a:lstStyle/>
          <a:p>
            <a:pPr fontAlgn="base"/>
            <a:r>
              <a:rPr lang="en-US" sz="2000" dirty="0">
                <a:latin typeface="Times New Roman" panose="02020603050405020304" pitchFamily="18" charset="0"/>
                <a:cs typeface="Times New Roman" panose="02020603050405020304" pitchFamily="18" charset="0"/>
              </a:rPr>
              <a:t>What happens when a user asks a question? </a:t>
            </a:r>
          </a:p>
          <a:p>
            <a:pPr fontAlgn="base"/>
            <a:r>
              <a:rPr lang="en-US" sz="2000" dirty="0">
                <a:latin typeface="Times New Roman" panose="02020603050405020304" pitchFamily="18" charset="0"/>
                <a:cs typeface="Times New Roman" panose="02020603050405020304" pitchFamily="18" charset="0"/>
              </a:rPr>
              <a:t>“What are the safety requirements for aircraft maintenance?”</a:t>
            </a:r>
          </a:p>
          <a:p>
            <a:pPr marL="457200" indent="-457200" fontAlgn="base">
              <a:buAutoNum type="arabicPeriod"/>
            </a:pPr>
            <a:r>
              <a:rPr lang="en-US" sz="2000" dirty="0">
                <a:latin typeface="Times New Roman" panose="02020603050405020304" pitchFamily="18" charset="0"/>
                <a:cs typeface="Times New Roman" panose="02020603050405020304" pitchFamily="18" charset="0"/>
              </a:rPr>
              <a:t>The question is embedded using the </a:t>
            </a:r>
            <a:r>
              <a:rPr lang="en-US" sz="2000" b="1" dirty="0">
                <a:latin typeface="Times New Roman" panose="02020603050405020304" pitchFamily="18" charset="0"/>
                <a:cs typeface="Times New Roman" panose="02020603050405020304" pitchFamily="18" charset="0"/>
              </a:rPr>
              <a:t>same model</a:t>
            </a:r>
            <a:r>
              <a:rPr lang="en-US" sz="2000" dirty="0">
                <a:latin typeface="Times New Roman" panose="02020603050405020304" pitchFamily="18" charset="0"/>
                <a:cs typeface="Times New Roman" panose="02020603050405020304" pitchFamily="18" charset="0"/>
              </a:rPr>
              <a:t> used for the document chunks</a:t>
            </a:r>
          </a:p>
          <a:p>
            <a:pPr marL="457200" indent="-457200" fontAlgn="base">
              <a:buAutoNum type="arabicPeriod"/>
            </a:pPr>
            <a:r>
              <a:rPr lang="en-US" sz="2000" dirty="0">
                <a:latin typeface="Times New Roman" panose="02020603050405020304" pitchFamily="18" charset="0"/>
                <a:cs typeface="Times New Roman" panose="02020603050405020304" pitchFamily="18" charset="0"/>
              </a:rPr>
              <a:t>This gives a vector that lives in the </a:t>
            </a:r>
            <a:r>
              <a:rPr lang="en-US" sz="2000" b="1" dirty="0">
                <a:latin typeface="Times New Roman" panose="02020603050405020304" pitchFamily="18" charset="0"/>
                <a:cs typeface="Times New Roman" panose="02020603050405020304" pitchFamily="18" charset="0"/>
              </a:rPr>
              <a:t>same semantic space</a:t>
            </a:r>
          </a:p>
          <a:p>
            <a:pPr marL="457200" indent="-457200" fontAlgn="base">
              <a:buAutoNum type="arabicPeriod"/>
            </a:pPr>
            <a:r>
              <a:rPr lang="en-US" sz="2000" dirty="0">
                <a:latin typeface="Times New Roman" panose="02020603050405020304" pitchFamily="18" charset="0"/>
                <a:cs typeface="Times New Roman" panose="02020603050405020304" pitchFamily="18" charset="0"/>
              </a:rPr>
              <a:t>Comparison of the query against all chunk embeddings and retrieve the most relevant ones</a:t>
            </a:r>
          </a:p>
          <a:p>
            <a:pPr marL="457200" indent="-457200" fontAlgn="base">
              <a:buAutoNum type="arabicPeriod"/>
            </a:pPr>
            <a:r>
              <a:rPr lang="en-US" sz="2000" dirty="0">
                <a:latin typeface="Times New Roman" panose="02020603050405020304" pitchFamily="18" charset="0"/>
                <a:cs typeface="Times New Roman" panose="02020603050405020304" pitchFamily="18" charset="0"/>
              </a:rPr>
              <a:t>Uses cosine similarity or L2 distance to find the top-k most similar chunks:</a:t>
            </a:r>
          </a:p>
          <a:p>
            <a:pPr marL="1371600" lvl="2" indent="-45720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Rank the chunks by similarity (cosine similarity or L2 distance)</a:t>
            </a:r>
          </a:p>
          <a:p>
            <a:pPr marL="1371600" lvl="2" indent="-45720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Select top-k (usually 3–10 chunks)</a:t>
            </a:r>
          </a:p>
          <a:p>
            <a:pPr marL="1371600" lvl="2" indent="-457200" fontAlgn="base">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Output:</a:t>
            </a:r>
          </a:p>
          <a:p>
            <a:r>
              <a:rPr lang="en-US" sz="2000" dirty="0">
                <a:latin typeface="Times New Roman" panose="02020603050405020304" pitchFamily="18" charset="0"/>
                <a:cs typeface="Times New Roman" panose="02020603050405020304" pitchFamily="18" charset="0"/>
              </a:rPr>
              <a:t>A small list of semantically relevant chunks that will be </a:t>
            </a:r>
            <a:r>
              <a:rPr lang="en-US" sz="2000" b="1" dirty="0">
                <a:latin typeface="Times New Roman" panose="02020603050405020304" pitchFamily="18" charset="0"/>
                <a:cs typeface="Times New Roman" panose="02020603050405020304" pitchFamily="18" charset="0"/>
              </a:rPr>
              <a:t>used as context</a:t>
            </a:r>
            <a:r>
              <a:rPr lang="en-US" sz="2000" dirty="0">
                <a:latin typeface="Times New Roman" panose="02020603050405020304" pitchFamily="18" charset="0"/>
                <a:cs typeface="Times New Roman" panose="02020603050405020304" pitchFamily="18" charset="0"/>
              </a:rPr>
              <a:t> for the LLM.</a:t>
            </a:r>
          </a:p>
          <a:p>
            <a:pPr fontAlgn="base"/>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Example:</a:t>
            </a:r>
          </a:p>
          <a:p>
            <a:r>
              <a:rPr lang="en-US" sz="2000" dirty="0">
                <a:latin typeface="Times New Roman" panose="02020603050405020304" pitchFamily="18" charset="0"/>
                <a:cs typeface="Times New Roman" panose="02020603050405020304" pitchFamily="18" charset="0"/>
              </a:rPr>
              <a:t>Top-k retrieved chunks:</a:t>
            </a:r>
          </a:p>
          <a:p>
            <a:r>
              <a:rPr lang="en-US" sz="2000" dirty="0">
                <a:latin typeface="Times New Roman" panose="02020603050405020304" pitchFamily="18" charset="0"/>
                <a:cs typeface="Times New Roman" panose="02020603050405020304" pitchFamily="18" charset="0"/>
              </a:rPr>
              <a:t>1. “Aircraft must be inspected every 500 hours.”</a:t>
            </a:r>
          </a:p>
          <a:p>
            <a:r>
              <a:rPr lang="en-US" sz="2000" dirty="0">
                <a:latin typeface="Times New Roman" panose="02020603050405020304" pitchFamily="18" charset="0"/>
                <a:cs typeface="Times New Roman" panose="02020603050405020304" pitchFamily="18" charset="0"/>
              </a:rPr>
              <a:t>2. “Maintenance logs must be updated after each inspection.”</a:t>
            </a:r>
          </a:p>
          <a:p>
            <a:r>
              <a:rPr lang="en-US" sz="2000" dirty="0">
                <a:latin typeface="Times New Roman" panose="02020603050405020304" pitchFamily="18" charset="0"/>
                <a:cs typeface="Times New Roman" panose="02020603050405020304" pitchFamily="18" charset="0"/>
              </a:rPr>
              <a:t>3. “Critical systems require pre-flight verification.”</a:t>
            </a:r>
          </a:p>
          <a:p>
            <a:pPr fontAlgn="base"/>
            <a:endParaRPr lang="en-US" sz="2000" b="0" i="0" dirty="0">
              <a:solidFill>
                <a:srgbClr val="161616"/>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210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stituent conținut 2">
            <a:extLst>
              <a:ext uri="{FF2B5EF4-FFF2-40B4-BE49-F238E27FC236}">
                <a16:creationId xmlns:a16="http://schemas.microsoft.com/office/drawing/2014/main" id="{BA94B9B3-30CE-9BBE-741C-469636D6653F}"/>
              </a:ext>
            </a:extLst>
          </p:cNvPr>
          <p:cNvSpPr>
            <a:spLocks noGrp="1"/>
          </p:cNvSpPr>
          <p:nvPr>
            <p:ph idx="1"/>
          </p:nvPr>
        </p:nvSpPr>
        <p:spPr>
          <a:xfrm>
            <a:off x="838200" y="928689"/>
            <a:ext cx="10515600" cy="5509894"/>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A prompt</a:t>
            </a:r>
            <a:r>
              <a:rPr lang="en-US" sz="2000" dirty="0">
                <a:latin typeface="Times New Roman" panose="02020603050405020304" pitchFamily="18" charset="0"/>
                <a:cs typeface="Times New Roman" panose="02020603050405020304" pitchFamily="18" charset="0"/>
              </a:rPr>
              <a:t> that includes:</a:t>
            </a:r>
          </a:p>
          <a:p>
            <a:r>
              <a:rPr lang="en-US" sz="2000" dirty="0">
                <a:latin typeface="Times New Roman" panose="02020603050405020304" pitchFamily="18" charset="0"/>
                <a:cs typeface="Times New Roman" panose="02020603050405020304" pitchFamily="18" charset="0"/>
              </a:rPr>
              <a:t>The user’s original </a:t>
            </a:r>
            <a:r>
              <a:rPr lang="en-US" sz="2000" b="1" dirty="0">
                <a:latin typeface="Times New Roman" panose="02020603050405020304" pitchFamily="18" charset="0"/>
                <a:cs typeface="Times New Roman" panose="02020603050405020304" pitchFamily="18" charset="0"/>
              </a:rPr>
              <a:t>question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retrieved context chunks</a:t>
            </a:r>
            <a:r>
              <a:rPr lang="en-US" sz="2000" dirty="0">
                <a:latin typeface="Times New Roman" panose="02020603050405020304" pitchFamily="18" charset="0"/>
                <a:cs typeface="Times New Roman" panose="02020603050405020304" pitchFamily="18" charset="0"/>
              </a:rPr>
              <a:t> from the database</a:t>
            </a:r>
          </a:p>
          <a:p>
            <a:pPr marL="0" indent="0">
              <a:buNone/>
            </a:pPr>
            <a:r>
              <a:rPr lang="en-US" sz="2000" dirty="0">
                <a:latin typeface="Times New Roman" panose="02020603050405020304" pitchFamily="18" charset="0"/>
                <a:cs typeface="Times New Roman" panose="02020603050405020304" pitchFamily="18" charset="0"/>
              </a:rPr>
              <a:t>This combined prompt is sent to the LLM for answer generation.</a:t>
            </a:r>
          </a:p>
          <a:p>
            <a:pPr marL="0" indent="0">
              <a:buNone/>
            </a:pPr>
            <a:r>
              <a:rPr lang="en-US" sz="1400" dirty="0">
                <a:latin typeface="Consolas" panose="020B0609020204030204" pitchFamily="49" charset="0"/>
                <a:cs typeface="Times New Roman" panose="02020603050405020304" pitchFamily="18" charset="0"/>
              </a:rPr>
              <a:t>Context:</a:t>
            </a:r>
          </a:p>
          <a:p>
            <a:pPr marL="0" indent="0">
              <a:buNone/>
            </a:pPr>
            <a:r>
              <a:rPr lang="en-US" sz="1400" dirty="0">
                <a:latin typeface="Consolas" panose="020B0609020204030204" pitchFamily="49" charset="0"/>
                <a:cs typeface="Times New Roman" panose="02020603050405020304" pitchFamily="18" charset="0"/>
              </a:rPr>
              <a:t>1. Aircraft must be inspected every 500 hours.</a:t>
            </a:r>
          </a:p>
          <a:p>
            <a:pPr marL="0" indent="0">
              <a:buNone/>
            </a:pPr>
            <a:r>
              <a:rPr lang="en-US" sz="1400" dirty="0">
                <a:latin typeface="Consolas" panose="020B0609020204030204" pitchFamily="49" charset="0"/>
                <a:cs typeface="Times New Roman" panose="02020603050405020304" pitchFamily="18" charset="0"/>
              </a:rPr>
              <a:t>2. Maintenance logs must be updated after each inspection.</a:t>
            </a:r>
          </a:p>
          <a:p>
            <a:pPr marL="0" indent="0">
              <a:buNone/>
            </a:pPr>
            <a:r>
              <a:rPr lang="en-US" sz="1400" dirty="0">
                <a:latin typeface="Consolas" panose="020B0609020204030204" pitchFamily="49" charset="0"/>
                <a:cs typeface="Times New Roman" panose="02020603050405020304" pitchFamily="18" charset="0"/>
              </a:rPr>
              <a:t>3. Critical systems require pre-flight verification.</a:t>
            </a:r>
          </a:p>
          <a:p>
            <a:pPr marL="0" indent="0">
              <a:buNone/>
            </a:pPr>
            <a:r>
              <a:rPr lang="en-US" sz="1400" dirty="0">
                <a:latin typeface="Consolas" panose="020B0609020204030204" pitchFamily="49" charset="0"/>
                <a:cs typeface="Times New Roman" panose="02020603050405020304" pitchFamily="18" charset="0"/>
              </a:rPr>
              <a:t>Question:</a:t>
            </a:r>
          </a:p>
          <a:p>
            <a:pPr marL="0" indent="0">
              <a:buNone/>
            </a:pPr>
            <a:r>
              <a:rPr lang="en-US" sz="1400" dirty="0">
                <a:latin typeface="Consolas" panose="020B0609020204030204" pitchFamily="49" charset="0"/>
                <a:cs typeface="Times New Roman" panose="02020603050405020304" pitchFamily="18" charset="0"/>
              </a:rPr>
              <a:t>When does an aircraft need to be inspected?</a:t>
            </a:r>
          </a:p>
          <a:p>
            <a:pPr marL="0" indent="0">
              <a:buNone/>
            </a:pPr>
            <a:r>
              <a:rPr lang="en-US" sz="1400" dirty="0">
                <a:latin typeface="Consolas" panose="020B0609020204030204" pitchFamily="49" charset="0"/>
                <a:cs typeface="Times New Roman" panose="02020603050405020304" pitchFamily="18" charset="0"/>
              </a:rPr>
              <a:t>Answer:</a:t>
            </a:r>
          </a:p>
        </p:txBody>
      </p:sp>
      <p:sp>
        <p:nvSpPr>
          <p:cNvPr id="4" name="Titlu 1">
            <a:extLst>
              <a:ext uri="{FF2B5EF4-FFF2-40B4-BE49-F238E27FC236}">
                <a16:creationId xmlns:a16="http://schemas.microsoft.com/office/drawing/2014/main" id="{EEF8D816-0160-1C94-DA1F-81F0B89093BC}"/>
              </a:ext>
            </a:extLst>
          </p:cNvPr>
          <p:cNvSpPr txBox="1">
            <a:spLocks/>
          </p:cNvSpPr>
          <p:nvPr/>
        </p:nvSpPr>
        <p:spPr>
          <a:xfrm>
            <a:off x="838200" y="213361"/>
            <a:ext cx="10515600" cy="715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6. Prompt Construction (LLM Input)</a:t>
            </a:r>
          </a:p>
        </p:txBody>
      </p:sp>
      <p:sp>
        <p:nvSpPr>
          <p:cNvPr id="6" name="CasetăText 5">
            <a:extLst>
              <a:ext uri="{FF2B5EF4-FFF2-40B4-BE49-F238E27FC236}">
                <a16:creationId xmlns:a16="http://schemas.microsoft.com/office/drawing/2014/main" id="{67E19BB0-6C61-591F-DB78-0D5FEBDC2D8A}"/>
              </a:ext>
            </a:extLst>
          </p:cNvPr>
          <p:cNvSpPr txBox="1"/>
          <p:nvPr/>
        </p:nvSpPr>
        <p:spPr>
          <a:xfrm>
            <a:off x="838200" y="4961255"/>
            <a:ext cx="11099800" cy="120032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Why this works:</a:t>
            </a:r>
          </a:p>
          <a:p>
            <a:r>
              <a:rPr lang="en-US" dirty="0">
                <a:latin typeface="Times New Roman" panose="02020603050405020304" pitchFamily="18" charset="0"/>
                <a:cs typeface="Times New Roman" panose="02020603050405020304" pitchFamily="18" charset="0"/>
              </a:rPr>
              <a:t>LLMs don’t know the documents</a:t>
            </a:r>
          </a:p>
          <a:p>
            <a:r>
              <a:rPr lang="en-US" dirty="0">
                <a:latin typeface="Times New Roman" panose="02020603050405020304" pitchFamily="18" charset="0"/>
                <a:cs typeface="Times New Roman" panose="02020603050405020304" pitchFamily="18" charset="0"/>
              </a:rPr>
              <a:t>But by giving them </a:t>
            </a:r>
            <a:r>
              <a:rPr lang="en-US" b="1" dirty="0">
                <a:latin typeface="Times New Roman" panose="02020603050405020304" pitchFamily="18" charset="0"/>
                <a:cs typeface="Times New Roman" panose="02020603050405020304" pitchFamily="18" charset="0"/>
              </a:rPr>
              <a:t>context in the prompt</a:t>
            </a:r>
            <a:r>
              <a:rPr lang="en-US" dirty="0">
                <a:latin typeface="Times New Roman" panose="02020603050405020304" pitchFamily="18" charset="0"/>
                <a:cs typeface="Times New Roman" panose="02020603050405020304" pitchFamily="18" charset="0"/>
              </a:rPr>
              <a:t>, they can generate accurate answers</a:t>
            </a:r>
          </a:p>
          <a:p>
            <a:r>
              <a:rPr lang="en-US" dirty="0">
                <a:latin typeface="Times New Roman" panose="02020603050405020304" pitchFamily="18" charset="0"/>
                <a:cs typeface="Times New Roman" panose="02020603050405020304" pitchFamily="18" charset="0"/>
              </a:rPr>
              <a:t>This avoids hallucination and keeps answers up to date</a:t>
            </a:r>
          </a:p>
        </p:txBody>
      </p:sp>
    </p:spTree>
    <p:extLst>
      <p:ext uri="{BB962C8B-B14F-4D97-AF65-F5344CB8AC3E}">
        <p14:creationId xmlns:p14="http://schemas.microsoft.com/office/powerpoint/2010/main" val="888147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1">
            <a:extLst>
              <a:ext uri="{FF2B5EF4-FFF2-40B4-BE49-F238E27FC236}">
                <a16:creationId xmlns:a16="http://schemas.microsoft.com/office/drawing/2014/main" id="{87FADD0D-5B9B-36DD-111E-C13A96BF1BCB}"/>
              </a:ext>
            </a:extLst>
          </p:cNvPr>
          <p:cNvSpPr txBox="1">
            <a:spLocks/>
          </p:cNvSpPr>
          <p:nvPr/>
        </p:nvSpPr>
        <p:spPr>
          <a:xfrm>
            <a:off x="838200" y="213361"/>
            <a:ext cx="10515600" cy="7153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7. Response Generation</a:t>
            </a:r>
          </a:p>
        </p:txBody>
      </p:sp>
      <p:sp>
        <p:nvSpPr>
          <p:cNvPr id="7" name="CasetăText 6">
            <a:extLst>
              <a:ext uri="{FF2B5EF4-FFF2-40B4-BE49-F238E27FC236}">
                <a16:creationId xmlns:a16="http://schemas.microsoft.com/office/drawing/2014/main" id="{9D52C135-C3C9-48C6-4305-DC6011E833C9}"/>
              </a:ext>
            </a:extLst>
          </p:cNvPr>
          <p:cNvSpPr txBox="1"/>
          <p:nvPr/>
        </p:nvSpPr>
        <p:spPr>
          <a:xfrm>
            <a:off x="838200" y="1371297"/>
            <a:ext cx="11170920" cy="2739211"/>
          </a:xfrm>
          <a:prstGeom prst="rect">
            <a:avLst/>
          </a:prstGeom>
          <a:noFill/>
        </p:spPr>
        <p:txBody>
          <a:bodyPr wrap="square">
            <a:spAutoFit/>
          </a:bodyPr>
          <a:lstStyle/>
          <a:p>
            <a:pPr fontAlgn="base"/>
            <a:r>
              <a:rPr lang="en-US" sz="2000" b="0" i="0" dirty="0">
                <a:solidFill>
                  <a:srgbClr val="161616"/>
                </a:solidFill>
                <a:effectLst/>
                <a:latin typeface="Times New Roman" panose="02020603050405020304" pitchFamily="18" charset="0"/>
                <a:cs typeface="Times New Roman" panose="02020603050405020304" pitchFamily="18" charset="0"/>
              </a:rPr>
              <a:t>The LLM receives the full prompt:</a:t>
            </a:r>
          </a:p>
          <a:p>
            <a:pPr marL="342900" indent="-342900" fontAlgn="base">
              <a:buFont typeface="Arial" panose="020B0604020202020204" pitchFamily="34" charset="0"/>
              <a:buChar char="•"/>
            </a:pPr>
            <a:r>
              <a:rPr lang="en-US" sz="2000" b="0" i="0" dirty="0">
                <a:solidFill>
                  <a:srgbClr val="161616"/>
                </a:solidFill>
                <a:effectLst/>
                <a:latin typeface="Times New Roman" panose="02020603050405020304" pitchFamily="18" charset="0"/>
                <a:cs typeface="Times New Roman" panose="02020603050405020304" pitchFamily="18" charset="0"/>
              </a:rPr>
              <a:t>Retrieved document chunks (context)</a:t>
            </a:r>
          </a:p>
          <a:p>
            <a:pPr marL="342900" indent="-342900" fontAlgn="base">
              <a:buFont typeface="Arial" panose="020B0604020202020204" pitchFamily="34" charset="0"/>
              <a:buChar char="•"/>
            </a:pPr>
            <a:r>
              <a:rPr lang="en-US" sz="2000" b="0" i="0" dirty="0">
                <a:solidFill>
                  <a:srgbClr val="161616"/>
                </a:solidFill>
                <a:effectLst/>
                <a:latin typeface="Times New Roman" panose="02020603050405020304" pitchFamily="18" charset="0"/>
                <a:cs typeface="Times New Roman" panose="02020603050405020304" pitchFamily="18" charset="0"/>
              </a:rPr>
              <a:t>User’s original question</a:t>
            </a:r>
          </a:p>
          <a:p>
            <a:pPr fontAlgn="base"/>
            <a:r>
              <a:rPr lang="en-US" sz="2000" b="0" i="0" dirty="0">
                <a:solidFill>
                  <a:srgbClr val="161616"/>
                </a:solidFill>
                <a:effectLst/>
                <a:latin typeface="Times New Roman" panose="02020603050405020304" pitchFamily="18" charset="0"/>
                <a:cs typeface="Times New Roman" panose="02020603050405020304" pitchFamily="18" charset="0"/>
              </a:rPr>
              <a:t>It then generates a response based on both.</a:t>
            </a:r>
          </a:p>
          <a:p>
            <a:pPr fontAlgn="base"/>
            <a:endParaRPr lang="en-US" sz="2000" dirty="0">
              <a:solidFill>
                <a:srgbClr val="161616"/>
              </a:solidFill>
              <a:latin typeface="Times New Roman" panose="02020603050405020304" pitchFamily="18" charset="0"/>
              <a:cs typeface="Times New Roman" panose="02020603050405020304" pitchFamily="18" charset="0"/>
            </a:endParaRPr>
          </a:p>
          <a:p>
            <a:pPr fontAlgn="base"/>
            <a:r>
              <a:rPr lang="en-US" dirty="0">
                <a:solidFill>
                  <a:srgbClr val="161616"/>
                </a:solidFill>
                <a:latin typeface="Consolas" panose="020B0609020204030204" pitchFamily="49" charset="0"/>
                <a:cs typeface="Times New Roman" panose="02020603050405020304" pitchFamily="18" charset="0"/>
              </a:rPr>
              <a:t>Example</a:t>
            </a:r>
          </a:p>
          <a:p>
            <a:pPr fontAlgn="base"/>
            <a:r>
              <a:rPr lang="en-US" dirty="0">
                <a:solidFill>
                  <a:srgbClr val="161616"/>
                </a:solidFill>
                <a:latin typeface="Consolas" panose="020B0609020204030204" pitchFamily="49" charset="0"/>
                <a:cs typeface="Times New Roman" panose="02020603050405020304" pitchFamily="18" charset="0"/>
              </a:rPr>
              <a:t>Answer:</a:t>
            </a:r>
          </a:p>
          <a:p>
            <a:pPr fontAlgn="base"/>
            <a:r>
              <a:rPr lang="en-US" dirty="0">
                <a:solidFill>
                  <a:srgbClr val="161616"/>
                </a:solidFill>
                <a:latin typeface="Consolas" panose="020B0609020204030204" pitchFamily="49" charset="0"/>
                <a:cs typeface="Times New Roman" panose="02020603050405020304" pitchFamily="18" charset="0"/>
              </a:rPr>
              <a:t>An aircraft must be inspected every 500 hours, and critical systems must be verified before each flight. Maintenance logs should be updated after each inspection.</a:t>
            </a:r>
            <a:endParaRPr lang="en-US" b="0" i="0" dirty="0">
              <a:solidFill>
                <a:srgbClr val="161616"/>
              </a:solidFill>
              <a:effectLst/>
              <a:latin typeface="Consolas" panose="020B0609020204030204" pitchFamily="49" charset="0"/>
              <a:cs typeface="Times New Roman" panose="02020603050405020304" pitchFamily="18" charset="0"/>
            </a:endParaRPr>
          </a:p>
        </p:txBody>
      </p:sp>
    </p:spTree>
    <p:extLst>
      <p:ext uri="{BB962C8B-B14F-4D97-AF65-F5344CB8AC3E}">
        <p14:creationId xmlns:p14="http://schemas.microsoft.com/office/powerpoint/2010/main" val="531493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65E04-8DC1-CB37-5FA5-C18B8F1944D5}"/>
            </a:ext>
          </a:extLst>
        </p:cNvPr>
        <p:cNvGrpSpPr/>
        <p:nvPr/>
      </p:nvGrpSpPr>
      <p:grpSpPr>
        <a:xfrm>
          <a:off x="0" y="0"/>
          <a:ext cx="0" cy="0"/>
          <a:chOff x="0" y="0"/>
          <a:chExt cx="0" cy="0"/>
        </a:xfrm>
      </p:grpSpPr>
      <p:sp>
        <p:nvSpPr>
          <p:cNvPr id="6" name="Sul: vertical 5">
            <a:extLst>
              <a:ext uri="{FF2B5EF4-FFF2-40B4-BE49-F238E27FC236}">
                <a16:creationId xmlns:a16="http://schemas.microsoft.com/office/drawing/2014/main" id="{8771E642-A981-2A6C-595D-40C2A1E31205}"/>
              </a:ext>
            </a:extLst>
          </p:cNvPr>
          <p:cNvSpPr/>
          <p:nvPr/>
        </p:nvSpPr>
        <p:spPr>
          <a:xfrm>
            <a:off x="746066" y="367560"/>
            <a:ext cx="1790847" cy="1673860"/>
          </a:xfrm>
          <a:prstGeom prst="vertic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Documents</a:t>
            </a:r>
          </a:p>
          <a:p>
            <a:pPr algn="ctr"/>
            <a:r>
              <a:rPr lang="en-US" sz="2000" dirty="0">
                <a:solidFill>
                  <a:schemeClr val="tx1"/>
                </a:solidFill>
                <a:latin typeface="Times New Roman" panose="02020603050405020304" pitchFamily="18" charset="0"/>
                <a:cs typeface="Times New Roman" panose="02020603050405020304" pitchFamily="18" charset="0"/>
              </a:rPr>
              <a:t>PDFs</a:t>
            </a:r>
          </a:p>
          <a:p>
            <a:pPr algn="ctr"/>
            <a:r>
              <a:rPr lang="en-US" sz="2000" dirty="0">
                <a:solidFill>
                  <a:schemeClr val="tx1"/>
                </a:solidFill>
                <a:latin typeface="Times New Roman" panose="02020603050405020304" pitchFamily="18" charset="0"/>
                <a:cs typeface="Times New Roman" panose="02020603050405020304" pitchFamily="18" charset="0"/>
              </a:rPr>
              <a:t>JSON files</a:t>
            </a:r>
          </a:p>
          <a:p>
            <a:pPr algn="ctr"/>
            <a:r>
              <a:rPr lang="en-US" sz="2000" dirty="0">
                <a:solidFill>
                  <a:schemeClr val="tx1"/>
                </a:solidFill>
                <a:latin typeface="Times New Roman" panose="02020603050405020304" pitchFamily="18" charset="0"/>
                <a:cs typeface="Times New Roman" panose="02020603050405020304" pitchFamily="18" charset="0"/>
              </a:rPr>
              <a:t>Etc.</a:t>
            </a:r>
          </a:p>
        </p:txBody>
      </p:sp>
      <p:cxnSp>
        <p:nvCxnSpPr>
          <p:cNvPr id="7" name="Conector drept cu săgeată 6">
            <a:extLst>
              <a:ext uri="{FF2B5EF4-FFF2-40B4-BE49-F238E27FC236}">
                <a16:creationId xmlns:a16="http://schemas.microsoft.com/office/drawing/2014/main" id="{E65CE3A2-101A-09DB-95B0-76CDE8FAE7C6}"/>
              </a:ext>
            </a:extLst>
          </p:cNvPr>
          <p:cNvCxnSpPr>
            <a:cxnSpLocks/>
            <a:stCxn id="6" idx="3"/>
          </p:cNvCxnSpPr>
          <p:nvPr/>
        </p:nvCxnSpPr>
        <p:spPr>
          <a:xfrm>
            <a:off x="2327681" y="1204490"/>
            <a:ext cx="9813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9" name="Grafic 8" descr="Shredder outline">
            <a:extLst>
              <a:ext uri="{FF2B5EF4-FFF2-40B4-BE49-F238E27FC236}">
                <a16:creationId xmlns:a16="http://schemas.microsoft.com/office/drawing/2014/main" id="{61F7CA77-E9A6-9094-7F36-0450D0F190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61328" y="427828"/>
            <a:ext cx="1553324" cy="1553324"/>
          </a:xfrm>
          <a:prstGeom prst="rect">
            <a:avLst/>
          </a:prstGeom>
        </p:spPr>
      </p:pic>
      <p:sp>
        <p:nvSpPr>
          <p:cNvPr id="10" name="CasetăText 9">
            <a:extLst>
              <a:ext uri="{FF2B5EF4-FFF2-40B4-BE49-F238E27FC236}">
                <a16:creationId xmlns:a16="http://schemas.microsoft.com/office/drawing/2014/main" id="{091D0623-78DD-8EF8-6BA4-6E9F345DAD7D}"/>
              </a:ext>
            </a:extLst>
          </p:cNvPr>
          <p:cNvSpPr txBox="1"/>
          <p:nvPr/>
        </p:nvSpPr>
        <p:spPr>
          <a:xfrm>
            <a:off x="3305761" y="162588"/>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Data preprocessing</a:t>
            </a:r>
          </a:p>
        </p:txBody>
      </p:sp>
      <p:cxnSp>
        <p:nvCxnSpPr>
          <p:cNvPr id="11" name="Conector drept cu săgeată 10">
            <a:extLst>
              <a:ext uri="{FF2B5EF4-FFF2-40B4-BE49-F238E27FC236}">
                <a16:creationId xmlns:a16="http://schemas.microsoft.com/office/drawing/2014/main" id="{6B483101-007D-F7EA-7C09-42CBE77A31FF}"/>
              </a:ext>
            </a:extLst>
          </p:cNvPr>
          <p:cNvCxnSpPr>
            <a:cxnSpLocks/>
          </p:cNvCxnSpPr>
          <p:nvPr/>
        </p:nvCxnSpPr>
        <p:spPr>
          <a:xfrm>
            <a:off x="5214652" y="1198397"/>
            <a:ext cx="122241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2" name="Grafic 11" descr="Gears outline">
            <a:extLst>
              <a:ext uri="{FF2B5EF4-FFF2-40B4-BE49-F238E27FC236}">
                <a16:creationId xmlns:a16="http://schemas.microsoft.com/office/drawing/2014/main" id="{4FEC63EF-17D9-F238-193C-C7A6743BAC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37063" y="562542"/>
            <a:ext cx="1271710" cy="1271710"/>
          </a:xfrm>
          <a:prstGeom prst="rect">
            <a:avLst/>
          </a:prstGeom>
        </p:spPr>
      </p:pic>
      <p:pic>
        <p:nvPicPr>
          <p:cNvPr id="13" name="Grafic 12" descr="Database outline">
            <a:extLst>
              <a:ext uri="{FF2B5EF4-FFF2-40B4-BE49-F238E27FC236}">
                <a16:creationId xmlns:a16="http://schemas.microsoft.com/office/drawing/2014/main" id="{B8E23B12-FCF3-9FD3-8ADF-E163BDDB81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92857" y="1826391"/>
            <a:ext cx="1790847" cy="1790847"/>
          </a:xfrm>
          <a:prstGeom prst="rect">
            <a:avLst/>
          </a:prstGeom>
        </p:spPr>
      </p:pic>
      <p:sp>
        <p:nvSpPr>
          <p:cNvPr id="14" name="CasetăText 13">
            <a:extLst>
              <a:ext uri="{FF2B5EF4-FFF2-40B4-BE49-F238E27FC236}">
                <a16:creationId xmlns:a16="http://schemas.microsoft.com/office/drawing/2014/main" id="{0334480E-BAFD-ACF2-F9B8-CD2C442F5362}"/>
              </a:ext>
            </a:extLst>
          </p:cNvPr>
          <p:cNvSpPr txBox="1"/>
          <p:nvPr/>
        </p:nvSpPr>
        <p:spPr>
          <a:xfrm>
            <a:off x="6452951" y="162588"/>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Embeddings</a:t>
            </a:r>
          </a:p>
        </p:txBody>
      </p:sp>
      <p:cxnSp>
        <p:nvCxnSpPr>
          <p:cNvPr id="18" name="Conector drept cu săgeată 17">
            <a:extLst>
              <a:ext uri="{FF2B5EF4-FFF2-40B4-BE49-F238E27FC236}">
                <a16:creationId xmlns:a16="http://schemas.microsoft.com/office/drawing/2014/main" id="{2EF407A9-8C7D-1835-82C3-1776C38641E1}"/>
              </a:ext>
            </a:extLst>
          </p:cNvPr>
          <p:cNvCxnSpPr>
            <a:cxnSpLocks/>
          </p:cNvCxnSpPr>
          <p:nvPr/>
        </p:nvCxnSpPr>
        <p:spPr>
          <a:xfrm>
            <a:off x="9889493" y="3664858"/>
            <a:ext cx="0" cy="8931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1" name="Grafic 20" descr="Search Inventory outline">
            <a:extLst>
              <a:ext uri="{FF2B5EF4-FFF2-40B4-BE49-F238E27FC236}">
                <a16:creationId xmlns:a16="http://schemas.microsoft.com/office/drawing/2014/main" id="{1176C362-0588-CE30-AD32-15A850D3ADF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944871" y="4927364"/>
            <a:ext cx="1557951" cy="1557951"/>
          </a:xfrm>
          <a:prstGeom prst="rect">
            <a:avLst/>
          </a:prstGeom>
        </p:spPr>
      </p:pic>
      <p:sp>
        <p:nvSpPr>
          <p:cNvPr id="22" name="CasetăText 21">
            <a:extLst>
              <a:ext uri="{FF2B5EF4-FFF2-40B4-BE49-F238E27FC236}">
                <a16:creationId xmlns:a16="http://schemas.microsoft.com/office/drawing/2014/main" id="{6676BCB2-D4A8-55F2-6A4A-891B50063BC9}"/>
              </a:ext>
            </a:extLst>
          </p:cNvPr>
          <p:cNvSpPr txBox="1"/>
          <p:nvPr/>
        </p:nvSpPr>
        <p:spPr>
          <a:xfrm>
            <a:off x="8787527" y="4655310"/>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Retrieved Context</a:t>
            </a:r>
          </a:p>
        </p:txBody>
      </p:sp>
      <p:cxnSp>
        <p:nvCxnSpPr>
          <p:cNvPr id="23" name="Conector drept cu săgeată 22">
            <a:extLst>
              <a:ext uri="{FF2B5EF4-FFF2-40B4-BE49-F238E27FC236}">
                <a16:creationId xmlns:a16="http://schemas.microsoft.com/office/drawing/2014/main" id="{F4EFFAAE-C730-664A-6765-E16FBC3DDAB3}"/>
              </a:ext>
            </a:extLst>
          </p:cNvPr>
          <p:cNvCxnSpPr>
            <a:cxnSpLocks/>
          </p:cNvCxnSpPr>
          <p:nvPr/>
        </p:nvCxnSpPr>
        <p:spPr>
          <a:xfrm flipH="1">
            <a:off x="7457466" y="5654799"/>
            <a:ext cx="13556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2" name="Grafic 31" descr="Monitor outline">
            <a:extLst>
              <a:ext uri="{FF2B5EF4-FFF2-40B4-BE49-F238E27FC236}">
                <a16:creationId xmlns:a16="http://schemas.microsoft.com/office/drawing/2014/main" id="{7F7685C2-C01F-A7CB-26DE-86C65FA37CB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59263" y="5007237"/>
            <a:ext cx="1557951" cy="1557951"/>
          </a:xfrm>
          <a:prstGeom prst="rect">
            <a:avLst/>
          </a:prstGeom>
        </p:spPr>
      </p:pic>
      <p:sp>
        <p:nvSpPr>
          <p:cNvPr id="33" name="Față zâmbitoare 32">
            <a:extLst>
              <a:ext uri="{FF2B5EF4-FFF2-40B4-BE49-F238E27FC236}">
                <a16:creationId xmlns:a16="http://schemas.microsoft.com/office/drawing/2014/main" id="{8EE4F02B-C5CA-936B-A036-50059AEA730D}"/>
              </a:ext>
            </a:extLst>
          </p:cNvPr>
          <p:cNvSpPr/>
          <p:nvPr/>
        </p:nvSpPr>
        <p:spPr>
          <a:xfrm>
            <a:off x="6548678" y="5362939"/>
            <a:ext cx="579120" cy="583720"/>
          </a:xfrm>
          <a:prstGeom prst="smileyFac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34" name="CasetăText 33">
            <a:extLst>
              <a:ext uri="{FF2B5EF4-FFF2-40B4-BE49-F238E27FC236}">
                <a16:creationId xmlns:a16="http://schemas.microsoft.com/office/drawing/2014/main" id="{997B7F88-CC95-401A-C13D-AE7C80559ABB}"/>
              </a:ext>
            </a:extLst>
          </p:cNvPr>
          <p:cNvSpPr txBox="1"/>
          <p:nvPr/>
        </p:nvSpPr>
        <p:spPr>
          <a:xfrm>
            <a:off x="6548678" y="4742698"/>
            <a:ext cx="78241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LLM</a:t>
            </a:r>
          </a:p>
        </p:txBody>
      </p:sp>
      <p:sp>
        <p:nvSpPr>
          <p:cNvPr id="35" name="Balon text: oval 34">
            <a:extLst>
              <a:ext uri="{FF2B5EF4-FFF2-40B4-BE49-F238E27FC236}">
                <a16:creationId xmlns:a16="http://schemas.microsoft.com/office/drawing/2014/main" id="{59D77BC3-48AF-B363-B424-3959CBFD1F93}"/>
              </a:ext>
            </a:extLst>
          </p:cNvPr>
          <p:cNvSpPr/>
          <p:nvPr/>
        </p:nvSpPr>
        <p:spPr>
          <a:xfrm>
            <a:off x="3809355" y="4906888"/>
            <a:ext cx="1920240" cy="912101"/>
          </a:xfrm>
          <a:prstGeom prst="wedgeEllipseCallout">
            <a:avLst>
              <a:gd name="adj1" fmla="val 60450"/>
              <a:gd name="adj2" fmla="val 4265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Response</a:t>
            </a:r>
          </a:p>
        </p:txBody>
      </p:sp>
      <p:sp>
        <p:nvSpPr>
          <p:cNvPr id="37" name="Față zâmbitoare 36">
            <a:extLst>
              <a:ext uri="{FF2B5EF4-FFF2-40B4-BE49-F238E27FC236}">
                <a16:creationId xmlns:a16="http://schemas.microsoft.com/office/drawing/2014/main" id="{D0CBC9E5-4BBE-4A74-2571-C46E2F59F9A6}"/>
              </a:ext>
            </a:extLst>
          </p:cNvPr>
          <p:cNvSpPr/>
          <p:nvPr/>
        </p:nvSpPr>
        <p:spPr>
          <a:xfrm>
            <a:off x="2005027" y="3142972"/>
            <a:ext cx="772158" cy="792477"/>
          </a:xfrm>
          <a:prstGeom prst="smileyFace">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38" name="Balon text: oval 37">
            <a:extLst>
              <a:ext uri="{FF2B5EF4-FFF2-40B4-BE49-F238E27FC236}">
                <a16:creationId xmlns:a16="http://schemas.microsoft.com/office/drawing/2014/main" id="{76281E7C-E434-8720-AC04-D0A83696F500}"/>
              </a:ext>
            </a:extLst>
          </p:cNvPr>
          <p:cNvSpPr/>
          <p:nvPr/>
        </p:nvSpPr>
        <p:spPr>
          <a:xfrm>
            <a:off x="2849235" y="2537219"/>
            <a:ext cx="1920240" cy="912101"/>
          </a:xfrm>
          <a:prstGeom prst="wedgeEllipseCallout">
            <a:avLst>
              <a:gd name="adj1" fmla="val -52248"/>
              <a:gd name="adj2" fmla="val 3930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Query</a:t>
            </a:r>
          </a:p>
        </p:txBody>
      </p:sp>
      <p:cxnSp>
        <p:nvCxnSpPr>
          <p:cNvPr id="40" name="Conector: cotit 39">
            <a:extLst>
              <a:ext uri="{FF2B5EF4-FFF2-40B4-BE49-F238E27FC236}">
                <a16:creationId xmlns:a16="http://schemas.microsoft.com/office/drawing/2014/main" id="{08B1B873-7123-1CDF-4FC9-FEF3BCB2ABA6}"/>
              </a:ext>
            </a:extLst>
          </p:cNvPr>
          <p:cNvCxnSpPr>
            <a:cxnSpLocks/>
            <a:stCxn id="38" idx="4"/>
            <a:endCxn id="34" idx="0"/>
          </p:cNvCxnSpPr>
          <p:nvPr/>
        </p:nvCxnSpPr>
        <p:spPr>
          <a:xfrm rot="16200000" flipH="1">
            <a:off x="4727930" y="2530745"/>
            <a:ext cx="1293378" cy="313052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41" name="Conector drept cu săgeată 40">
            <a:extLst>
              <a:ext uri="{FF2B5EF4-FFF2-40B4-BE49-F238E27FC236}">
                <a16:creationId xmlns:a16="http://schemas.microsoft.com/office/drawing/2014/main" id="{D479FD49-4FDE-8CA7-A565-1D5D8445C0E3}"/>
              </a:ext>
            </a:extLst>
          </p:cNvPr>
          <p:cNvCxnSpPr>
            <a:cxnSpLocks/>
          </p:cNvCxnSpPr>
          <p:nvPr/>
        </p:nvCxnSpPr>
        <p:spPr>
          <a:xfrm>
            <a:off x="4861380" y="2926610"/>
            <a:ext cx="9813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43" name="Grafic 42" descr="Gears outline">
            <a:extLst>
              <a:ext uri="{FF2B5EF4-FFF2-40B4-BE49-F238E27FC236}">
                <a16:creationId xmlns:a16="http://schemas.microsoft.com/office/drawing/2014/main" id="{6B647D2F-E56C-1A1A-AF94-6BF60D56961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65251" y="2345528"/>
            <a:ext cx="1271710" cy="1271710"/>
          </a:xfrm>
          <a:prstGeom prst="rect">
            <a:avLst/>
          </a:prstGeom>
        </p:spPr>
      </p:pic>
      <p:cxnSp>
        <p:nvCxnSpPr>
          <p:cNvPr id="44" name="Conector drept cu săgeată 43">
            <a:extLst>
              <a:ext uri="{FF2B5EF4-FFF2-40B4-BE49-F238E27FC236}">
                <a16:creationId xmlns:a16="http://schemas.microsoft.com/office/drawing/2014/main" id="{7A857189-1BDE-260D-DAAA-92DA2501D4AA}"/>
              </a:ext>
            </a:extLst>
          </p:cNvPr>
          <p:cNvCxnSpPr>
            <a:cxnSpLocks/>
          </p:cNvCxnSpPr>
          <p:nvPr/>
        </p:nvCxnSpPr>
        <p:spPr>
          <a:xfrm flipV="1">
            <a:off x="7029636" y="2926610"/>
            <a:ext cx="1901548" cy="106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Conector: cotit 49">
            <a:extLst>
              <a:ext uri="{FF2B5EF4-FFF2-40B4-BE49-F238E27FC236}">
                <a16:creationId xmlns:a16="http://schemas.microsoft.com/office/drawing/2014/main" id="{36417CF3-F2D5-CBAE-8FB3-E65E51C6CA00}"/>
              </a:ext>
            </a:extLst>
          </p:cNvPr>
          <p:cNvCxnSpPr>
            <a:cxnSpLocks/>
            <a:endCxn id="56" idx="0"/>
          </p:cNvCxnSpPr>
          <p:nvPr/>
        </p:nvCxnSpPr>
        <p:spPr>
          <a:xfrm>
            <a:off x="7773174" y="1051125"/>
            <a:ext cx="2170457" cy="508617"/>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55" name="CasetăText 54">
            <a:extLst>
              <a:ext uri="{FF2B5EF4-FFF2-40B4-BE49-F238E27FC236}">
                <a16:creationId xmlns:a16="http://schemas.microsoft.com/office/drawing/2014/main" id="{3252A6B0-78BC-F5D8-C7AA-122AE0D6B91E}"/>
              </a:ext>
            </a:extLst>
          </p:cNvPr>
          <p:cNvSpPr txBox="1"/>
          <p:nvPr/>
        </p:nvSpPr>
        <p:spPr>
          <a:xfrm>
            <a:off x="5793369" y="2043121"/>
            <a:ext cx="220150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Embeddings</a:t>
            </a:r>
          </a:p>
        </p:txBody>
      </p:sp>
      <p:sp>
        <p:nvSpPr>
          <p:cNvPr id="56" name="CasetăText 55">
            <a:extLst>
              <a:ext uri="{FF2B5EF4-FFF2-40B4-BE49-F238E27FC236}">
                <a16:creationId xmlns:a16="http://schemas.microsoft.com/office/drawing/2014/main" id="{8511295E-3FF3-5650-11F5-6CCDBFE20E84}"/>
              </a:ext>
            </a:extLst>
          </p:cNvPr>
          <p:cNvSpPr txBox="1"/>
          <p:nvPr/>
        </p:nvSpPr>
        <p:spPr>
          <a:xfrm>
            <a:off x="8992857" y="1559742"/>
            <a:ext cx="190154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Vector Database</a:t>
            </a:r>
          </a:p>
        </p:txBody>
      </p:sp>
    </p:spTree>
    <p:extLst>
      <p:ext uri="{BB962C8B-B14F-4D97-AF65-F5344CB8AC3E}">
        <p14:creationId xmlns:p14="http://schemas.microsoft.com/office/powerpoint/2010/main" val="3605181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u 1">
            <a:extLst>
              <a:ext uri="{FF2B5EF4-FFF2-40B4-BE49-F238E27FC236}">
                <a16:creationId xmlns:a16="http://schemas.microsoft.com/office/drawing/2014/main" id="{110A2311-DA35-9C63-B85F-3CD803486AA9}"/>
              </a:ext>
            </a:extLst>
          </p:cNvPr>
          <p:cNvSpPr>
            <a:spLocks noGrp="1"/>
          </p:cNvSpPr>
          <p:nvPr>
            <p:ph type="title"/>
          </p:nvPr>
        </p:nvSpPr>
        <p:spPr>
          <a:xfrm>
            <a:off x="838200" y="0"/>
            <a:ext cx="10515600" cy="1325563"/>
          </a:xfrm>
        </p:spPr>
        <p:txBody>
          <a:bodyPr>
            <a:normAutofit/>
          </a:bodyPr>
          <a:lstStyle/>
          <a:p>
            <a:r>
              <a:rPr lang="en-US" sz="3200" dirty="0">
                <a:latin typeface="Times New Roman" panose="02020603050405020304" pitchFamily="18" charset="0"/>
                <a:cs typeface="Times New Roman" panose="02020603050405020304" pitchFamily="18" charset="0"/>
              </a:rPr>
              <a:t>Let’s Take a Closer Look…</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Why RAG and not just use Fine-tuning?</a:t>
            </a:r>
          </a:p>
        </p:txBody>
      </p:sp>
      <p:graphicFrame>
        <p:nvGraphicFramePr>
          <p:cNvPr id="9" name="Substituent conținut 3">
            <a:extLst>
              <a:ext uri="{FF2B5EF4-FFF2-40B4-BE49-F238E27FC236}">
                <a16:creationId xmlns:a16="http://schemas.microsoft.com/office/drawing/2014/main" id="{82C3B015-5191-A619-260C-AC8BD47E544A}"/>
              </a:ext>
            </a:extLst>
          </p:cNvPr>
          <p:cNvGraphicFramePr>
            <a:graphicFrameLocks noGrp="1"/>
          </p:cNvGraphicFramePr>
          <p:nvPr>
            <p:ph idx="1"/>
            <p:extLst>
              <p:ext uri="{D42A27DB-BD31-4B8C-83A1-F6EECF244321}">
                <p14:modId xmlns:p14="http://schemas.microsoft.com/office/powerpoint/2010/main" val="2142812351"/>
              </p:ext>
            </p:extLst>
          </p:nvPr>
        </p:nvGraphicFramePr>
        <p:xfrm>
          <a:off x="712551" y="1325563"/>
          <a:ext cx="10766898" cy="4852656"/>
        </p:xfrm>
        <a:graphic>
          <a:graphicData uri="http://schemas.openxmlformats.org/drawingml/2006/table">
            <a:tbl>
              <a:tblPr firstRow="1" bandRow="1">
                <a:tableStyleId>{5C22544A-7EE6-4342-B048-85BDC9FD1C3A}</a:tableStyleId>
              </a:tblPr>
              <a:tblGrid>
                <a:gridCol w="3588966">
                  <a:extLst>
                    <a:ext uri="{9D8B030D-6E8A-4147-A177-3AD203B41FA5}">
                      <a16:colId xmlns:a16="http://schemas.microsoft.com/office/drawing/2014/main" val="403622530"/>
                    </a:ext>
                  </a:extLst>
                </a:gridCol>
                <a:gridCol w="3588966">
                  <a:extLst>
                    <a:ext uri="{9D8B030D-6E8A-4147-A177-3AD203B41FA5}">
                      <a16:colId xmlns:a16="http://schemas.microsoft.com/office/drawing/2014/main" val="1803080411"/>
                    </a:ext>
                  </a:extLst>
                </a:gridCol>
                <a:gridCol w="3588966">
                  <a:extLst>
                    <a:ext uri="{9D8B030D-6E8A-4147-A177-3AD203B41FA5}">
                      <a16:colId xmlns:a16="http://schemas.microsoft.com/office/drawing/2014/main" val="4248179088"/>
                    </a:ext>
                  </a:extLst>
                </a:gridCol>
              </a:tblGrid>
              <a:tr h="656376">
                <a:tc>
                  <a:txBody>
                    <a:bodyPr/>
                    <a:lstStyle/>
                    <a:p>
                      <a:pPr algn="ctr"/>
                      <a:r>
                        <a:rPr lang="en-US" b="0" dirty="0">
                          <a:latin typeface="Times New Roman" panose="02020603050405020304" pitchFamily="18" charset="0"/>
                          <a:cs typeface="Times New Roman" panose="02020603050405020304" pitchFamily="18" charset="0"/>
                        </a:rPr>
                        <a:t>Feature Comparison</a:t>
                      </a:r>
                    </a:p>
                  </a:txBody>
                  <a:tcP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Fine-Tuning</a:t>
                      </a:r>
                    </a:p>
                  </a:txBody>
                  <a:tcPr/>
                </a:tc>
                <a:tc>
                  <a:txBody>
                    <a:bodyPr/>
                    <a:lstStyle/>
                    <a:p>
                      <a:pPr algn="ctr"/>
                      <a:r>
                        <a:rPr lang="en-US" dirty="0">
                          <a:latin typeface="Times New Roman" panose="02020603050405020304" pitchFamily="18" charset="0"/>
                          <a:cs typeface="Times New Roman" panose="02020603050405020304" pitchFamily="18" charset="0"/>
                        </a:rPr>
                        <a:t>RAG</a:t>
                      </a:r>
                    </a:p>
                  </a:txBody>
                  <a:tcPr/>
                </a:tc>
                <a:extLst>
                  <a:ext uri="{0D108BD9-81ED-4DB2-BD59-A6C34878D82A}">
                    <a16:rowId xmlns:a16="http://schemas.microsoft.com/office/drawing/2014/main" val="76011029"/>
                  </a:ext>
                </a:extLst>
              </a:tr>
              <a:tr h="656376">
                <a:tc>
                  <a:txBody>
                    <a:bodyPr/>
                    <a:lstStyle/>
                    <a:p>
                      <a:pPr algn="ctr"/>
                      <a:r>
                        <a:rPr lang="en-US" sz="2000" dirty="0">
                          <a:latin typeface="Times New Roman" panose="02020603050405020304" pitchFamily="18" charset="0"/>
                          <a:cs typeface="Times New Roman" panose="02020603050405020304" pitchFamily="18" charset="0"/>
                        </a:rPr>
                        <a:t>Knowledge</a:t>
                      </a:r>
                    </a:p>
                  </a:txBody>
                  <a:tcP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Internalized during training</a:t>
                      </a:r>
                    </a:p>
                  </a:txBody>
                  <a:tcPr/>
                </a:tc>
                <a:tc>
                  <a:txBody>
                    <a:bodyPr/>
                    <a:lstStyle/>
                    <a:p>
                      <a:pPr algn="ctr"/>
                      <a:r>
                        <a:rPr lang="en-US" dirty="0">
                          <a:latin typeface="Times New Roman" panose="02020603050405020304" pitchFamily="18" charset="0"/>
                          <a:cs typeface="Times New Roman" panose="02020603050405020304" pitchFamily="18" charset="0"/>
                        </a:rPr>
                        <a:t>External knowledge, databases</a:t>
                      </a:r>
                    </a:p>
                  </a:txBody>
                  <a:tcPr/>
                </a:tc>
                <a:extLst>
                  <a:ext uri="{0D108BD9-81ED-4DB2-BD59-A6C34878D82A}">
                    <a16:rowId xmlns:a16="http://schemas.microsoft.com/office/drawing/2014/main" val="2624183628"/>
                  </a:ext>
                </a:extLst>
              </a:tr>
              <a:tr h="6563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Knowledge Updates</a:t>
                      </a:r>
                    </a:p>
                  </a:txBody>
                  <a:tcP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Requires retraining for new data</a:t>
                      </a:r>
                    </a:p>
                  </a:txBody>
                  <a:tcPr/>
                </a:tc>
                <a:tc>
                  <a:txBody>
                    <a:bodyPr/>
                    <a:lstStyle/>
                    <a:p>
                      <a:pPr algn="ctr"/>
                      <a:r>
                        <a:rPr lang="en-US" dirty="0">
                          <a:latin typeface="Times New Roman" panose="02020603050405020304" pitchFamily="18" charset="0"/>
                          <a:cs typeface="Times New Roman" panose="02020603050405020304" pitchFamily="18" charset="0"/>
                        </a:rPr>
                        <a:t>Easy, only the data is updated, no retraining needed</a:t>
                      </a:r>
                    </a:p>
                  </a:txBody>
                  <a:tcPr/>
                </a:tc>
                <a:extLst>
                  <a:ext uri="{0D108BD9-81ED-4DB2-BD59-A6C34878D82A}">
                    <a16:rowId xmlns:a16="http://schemas.microsoft.com/office/drawing/2014/main" val="4058766126"/>
                  </a:ext>
                </a:extLst>
              </a:tr>
              <a:tr h="656376">
                <a:tc>
                  <a:txBody>
                    <a:bodyPr/>
                    <a:lstStyle/>
                    <a:p>
                      <a:pPr algn="ctr"/>
                      <a:r>
                        <a:rPr lang="en-US" sz="2000" dirty="0">
                          <a:latin typeface="Times New Roman" panose="02020603050405020304" pitchFamily="18" charset="0"/>
                          <a:cs typeface="Times New Roman" panose="02020603050405020304" pitchFamily="18" charset="0"/>
                        </a:rPr>
                        <a:t>Model Customization</a:t>
                      </a:r>
                    </a:p>
                  </a:txBody>
                  <a:tcP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Allows adjustments to model behavior and style of writing</a:t>
                      </a:r>
                    </a:p>
                  </a:txBody>
                  <a:tcPr/>
                </a:tc>
                <a:tc>
                  <a:txBody>
                    <a:bodyPr/>
                    <a:lstStyle/>
                    <a:p>
                      <a:pPr algn="ctr"/>
                      <a:r>
                        <a:rPr lang="en-US" dirty="0">
                          <a:latin typeface="Times New Roman" panose="02020603050405020304" pitchFamily="18" charset="0"/>
                          <a:cs typeface="Times New Roman" panose="02020603050405020304" pitchFamily="18" charset="0"/>
                        </a:rPr>
                        <a:t>Not fully customizable on writing style</a:t>
                      </a:r>
                    </a:p>
                  </a:txBody>
                  <a:tcPr/>
                </a:tc>
                <a:extLst>
                  <a:ext uri="{0D108BD9-81ED-4DB2-BD59-A6C34878D82A}">
                    <a16:rowId xmlns:a16="http://schemas.microsoft.com/office/drawing/2014/main" val="888235500"/>
                  </a:ext>
                </a:extLst>
              </a:tr>
              <a:tr h="656376">
                <a:tc>
                  <a:txBody>
                    <a:bodyPr/>
                    <a:lstStyle/>
                    <a:p>
                      <a:pPr algn="ctr"/>
                      <a:r>
                        <a:rPr lang="en-US" sz="2000" dirty="0">
                          <a:latin typeface="Times New Roman" panose="02020603050405020304" pitchFamily="18" charset="0"/>
                          <a:cs typeface="Times New Roman" panose="02020603050405020304" pitchFamily="18" charset="0"/>
                        </a:rPr>
                        <a:t>Interpretability</a:t>
                      </a:r>
                    </a:p>
                  </a:txBody>
                  <a:tcP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Reasoning is hidden, therefore answers can seem “out-of-nowhere”</a:t>
                      </a:r>
                    </a:p>
                  </a:txBody>
                  <a:tcPr/>
                </a:tc>
                <a:tc>
                  <a:txBody>
                    <a:bodyPr/>
                    <a:lstStyle/>
                    <a:p>
                      <a:pPr algn="ctr"/>
                      <a:r>
                        <a:rPr lang="en-US" dirty="0">
                          <a:latin typeface="Times New Roman" panose="02020603050405020304" pitchFamily="18" charset="0"/>
                          <a:cs typeface="Times New Roman" panose="02020603050405020304" pitchFamily="18" charset="0"/>
                        </a:rPr>
                        <a:t>Sources are easily identified when an answer is given</a:t>
                      </a:r>
                    </a:p>
                  </a:txBody>
                  <a:tcPr/>
                </a:tc>
                <a:extLst>
                  <a:ext uri="{0D108BD9-81ED-4DB2-BD59-A6C34878D82A}">
                    <a16:rowId xmlns:a16="http://schemas.microsoft.com/office/drawing/2014/main" val="635449098"/>
                  </a:ext>
                </a:extLst>
              </a:tr>
              <a:tr h="656376">
                <a:tc>
                  <a:txBody>
                    <a:bodyPr/>
                    <a:lstStyle/>
                    <a:p>
                      <a:pPr algn="ctr"/>
                      <a:r>
                        <a:rPr lang="en-US" sz="2000" dirty="0">
                          <a:latin typeface="Times New Roman" panose="02020603050405020304" pitchFamily="18" charset="0"/>
                          <a:cs typeface="Times New Roman" panose="02020603050405020304" pitchFamily="18" charset="0"/>
                        </a:rPr>
                        <a:t>Hallucination Risk</a:t>
                      </a:r>
                    </a:p>
                  </a:txBody>
                  <a:tcP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Higher, depends on the training</a:t>
                      </a:r>
                    </a:p>
                  </a:txBody>
                  <a:tcPr/>
                </a:tc>
                <a:tc>
                  <a:txBody>
                    <a:bodyPr/>
                    <a:lstStyle/>
                    <a:p>
                      <a:pPr algn="ctr"/>
                      <a:r>
                        <a:rPr lang="en-US" dirty="0">
                          <a:latin typeface="Times New Roman" panose="02020603050405020304" pitchFamily="18" charset="0"/>
                          <a:cs typeface="Times New Roman" panose="02020603050405020304" pitchFamily="18" charset="0"/>
                        </a:rPr>
                        <a:t>Lower, grounded in real documents</a:t>
                      </a:r>
                    </a:p>
                  </a:txBody>
                  <a:tcPr/>
                </a:tc>
                <a:extLst>
                  <a:ext uri="{0D108BD9-81ED-4DB2-BD59-A6C34878D82A}">
                    <a16:rowId xmlns:a16="http://schemas.microsoft.com/office/drawing/2014/main" val="1220342309"/>
                  </a:ext>
                </a:extLst>
              </a:tr>
              <a:tr h="6563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Computational Resources</a:t>
                      </a:r>
                    </a:p>
                    <a:p>
                      <a:pPr algn="ctr"/>
                      <a:endParaRPr lang="en-US" sz="2000" dirty="0">
                        <a:latin typeface="Times New Roman" panose="02020603050405020304" pitchFamily="18" charset="0"/>
                        <a:cs typeface="Times New Roman" panose="02020603050405020304" pitchFamily="18" charset="0"/>
                      </a:endParaRPr>
                    </a:p>
                  </a:txBody>
                  <a:tcPr>
                    <a:solidFill>
                      <a:schemeClr val="bg1"/>
                    </a:solidFill>
                  </a:tcPr>
                </a:tc>
                <a:tc>
                  <a:txBody>
                    <a:bodyPr/>
                    <a:lstStyle/>
                    <a:p>
                      <a:pPr algn="ctr"/>
                      <a:r>
                        <a:rPr lang="en-US" dirty="0">
                          <a:latin typeface="Times New Roman" panose="02020603050405020304" pitchFamily="18" charset="0"/>
                          <a:cs typeface="Times New Roman" panose="02020603050405020304" pitchFamily="18" charset="0"/>
                        </a:rPr>
                        <a:t>High – preparation of high-quality training dataset, defining fine-tuning objectives, resource intensive</a:t>
                      </a:r>
                    </a:p>
                  </a:txBody>
                  <a:tcPr/>
                </a:tc>
                <a:tc>
                  <a:txBody>
                    <a:bodyPr/>
                    <a:lstStyle/>
                    <a:p>
                      <a:pPr algn="ctr"/>
                      <a:r>
                        <a:rPr lang="en-US" dirty="0">
                          <a:latin typeface="Times New Roman" panose="02020603050405020304" pitchFamily="18" charset="0"/>
                          <a:cs typeface="Times New Roman" panose="02020603050405020304" pitchFamily="18" charset="0"/>
                        </a:rPr>
                        <a:t>Low – requires maintenance of the external source, data  integration and updates</a:t>
                      </a:r>
                    </a:p>
                  </a:txBody>
                  <a:tcPr/>
                </a:tc>
                <a:extLst>
                  <a:ext uri="{0D108BD9-81ED-4DB2-BD59-A6C34878D82A}">
                    <a16:rowId xmlns:a16="http://schemas.microsoft.com/office/drawing/2014/main" val="2535957748"/>
                  </a:ext>
                </a:extLst>
              </a:tr>
            </a:tbl>
          </a:graphicData>
        </a:graphic>
      </p:graphicFrame>
    </p:spTree>
    <p:extLst>
      <p:ext uri="{BB962C8B-B14F-4D97-AF65-F5344CB8AC3E}">
        <p14:creationId xmlns:p14="http://schemas.microsoft.com/office/powerpoint/2010/main" val="3631340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u 1">
            <a:extLst>
              <a:ext uri="{FF2B5EF4-FFF2-40B4-BE49-F238E27FC236}">
                <a16:creationId xmlns:a16="http://schemas.microsoft.com/office/drawing/2014/main" id="{9BE9A669-D0D1-C34C-AE67-CAE1C7375139}"/>
              </a:ext>
            </a:extLst>
          </p:cNvPr>
          <p:cNvSpPr>
            <a:spLocks noGrp="1"/>
          </p:cNvSpPr>
          <p:nvPr>
            <p:ph type="title"/>
          </p:nvPr>
        </p:nvSpPr>
        <p:spPr>
          <a:xfrm>
            <a:off x="644056" y="296792"/>
            <a:ext cx="9718111" cy="1576446"/>
          </a:xfrm>
        </p:spPr>
        <p:txBody>
          <a:bodyPr anchor="ctr">
            <a:normAutofit/>
          </a:bodyPr>
          <a:lstStyle/>
          <a:p>
            <a:r>
              <a:rPr lang="en-US" dirty="0">
                <a:solidFill>
                  <a:srgbClr val="FFFFFF"/>
                </a:solidFill>
                <a:latin typeface="Times New Roman" panose="02020603050405020304" pitchFamily="18" charset="0"/>
                <a:cs typeface="Times New Roman" panose="02020603050405020304" pitchFamily="18" charset="0"/>
              </a:rPr>
              <a:t>To sum it up…</a:t>
            </a:r>
          </a:p>
        </p:txBody>
      </p:sp>
      <p:graphicFrame>
        <p:nvGraphicFramePr>
          <p:cNvPr id="27" name="Substituent conținut 2">
            <a:extLst>
              <a:ext uri="{FF2B5EF4-FFF2-40B4-BE49-F238E27FC236}">
                <a16:creationId xmlns:a16="http://schemas.microsoft.com/office/drawing/2014/main" id="{D6959165-3201-E796-8EF6-6083A2DA8ED3}"/>
              </a:ext>
            </a:extLst>
          </p:cNvPr>
          <p:cNvGraphicFramePr>
            <a:graphicFrameLocks noGrp="1"/>
          </p:cNvGraphicFramePr>
          <p:nvPr>
            <p:ph idx="1"/>
            <p:extLst>
              <p:ext uri="{D42A27DB-BD31-4B8C-83A1-F6EECF244321}">
                <p14:modId xmlns:p14="http://schemas.microsoft.com/office/powerpoint/2010/main" val="2480091236"/>
              </p:ext>
            </p:extLst>
          </p:nvPr>
        </p:nvGraphicFramePr>
        <p:xfrm>
          <a:off x="632085" y="2275511"/>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2411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stituent conținut 2">
            <a:extLst>
              <a:ext uri="{FF2B5EF4-FFF2-40B4-BE49-F238E27FC236}">
                <a16:creationId xmlns:a16="http://schemas.microsoft.com/office/drawing/2014/main" id="{F98506D4-B690-0E58-7259-BE187AE595C0}"/>
              </a:ext>
            </a:extLst>
          </p:cNvPr>
          <p:cNvSpPr>
            <a:spLocks noGrp="1"/>
          </p:cNvSpPr>
          <p:nvPr>
            <p:ph idx="1"/>
          </p:nvPr>
        </p:nvSpPr>
        <p:spPr>
          <a:xfrm>
            <a:off x="225357" y="379379"/>
            <a:ext cx="10515600" cy="535021"/>
          </a:xfrm>
        </p:spPr>
        <p:txBody>
          <a:bodyPr>
            <a:normAutofit/>
          </a:bodyPr>
          <a:lstStyle/>
          <a:p>
            <a:pPr>
              <a:buNone/>
            </a:pPr>
            <a:r>
              <a:rPr lang="en-US" sz="3200" dirty="0">
                <a:latin typeface="Times New Roman" panose="02020603050405020304" pitchFamily="18" charset="0"/>
                <a:cs typeface="Times New Roman" panose="02020603050405020304" pitchFamily="18" charset="0"/>
              </a:rPr>
              <a:t>Overview of Steps</a:t>
            </a:r>
          </a:p>
          <a:p>
            <a:pPr marL="0" indent="0">
              <a:buNone/>
            </a:pPr>
            <a:endParaRPr lang="en-US" sz="3200" dirty="0">
              <a:latin typeface="Times New Roman" panose="02020603050405020304" pitchFamily="18" charset="0"/>
              <a:cs typeface="Times New Roman" panose="02020603050405020304" pitchFamily="18" charset="0"/>
            </a:endParaRPr>
          </a:p>
        </p:txBody>
      </p:sp>
      <p:graphicFrame>
        <p:nvGraphicFramePr>
          <p:cNvPr id="4" name="Nomogramă 3">
            <a:extLst>
              <a:ext uri="{FF2B5EF4-FFF2-40B4-BE49-F238E27FC236}">
                <a16:creationId xmlns:a16="http://schemas.microsoft.com/office/drawing/2014/main" id="{D41AC7E6-411B-E421-6190-7B7441C4066D}"/>
              </a:ext>
            </a:extLst>
          </p:cNvPr>
          <p:cNvGraphicFramePr/>
          <p:nvPr>
            <p:extLst>
              <p:ext uri="{D42A27DB-BD31-4B8C-83A1-F6EECF244321}">
                <p14:modId xmlns:p14="http://schemas.microsoft.com/office/powerpoint/2010/main" val="383577611"/>
              </p:ext>
            </p:extLst>
          </p:nvPr>
        </p:nvGraphicFramePr>
        <p:xfrm>
          <a:off x="0" y="991860"/>
          <a:ext cx="11761821"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2374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DAC7C-E917-A1C9-CD45-B0EB0A8B82C6}"/>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7E12ED34-7342-3AC6-7E5A-3BBD385ED853}"/>
              </a:ext>
            </a:extLst>
          </p:cNvPr>
          <p:cNvSpPr>
            <a:spLocks noGrp="1"/>
          </p:cNvSpPr>
          <p:nvPr>
            <p:ph type="title"/>
          </p:nvPr>
        </p:nvSpPr>
        <p:spPr>
          <a:xfrm>
            <a:off x="838200" y="425855"/>
            <a:ext cx="10515600" cy="510364"/>
          </a:xfrm>
        </p:spPr>
        <p:txBody>
          <a:bodyPr>
            <a:normAutofit fontScale="90000"/>
          </a:bodyPr>
          <a:lstStyle/>
          <a:p>
            <a:r>
              <a:rPr lang="en-US" sz="3600" dirty="0">
                <a:latin typeface="Times New Roman" panose="02020603050405020304" pitchFamily="18" charset="0"/>
                <a:cs typeface="Times New Roman" panose="02020603050405020304" pitchFamily="18" charset="0"/>
              </a:rPr>
              <a:t>1. Environment</a:t>
            </a:r>
            <a:r>
              <a:rPr lang="en-US" dirty="0"/>
              <a:t> </a:t>
            </a:r>
          </a:p>
        </p:txBody>
      </p:sp>
      <p:sp>
        <p:nvSpPr>
          <p:cNvPr id="3" name="Substituent conținut 2">
            <a:extLst>
              <a:ext uri="{FF2B5EF4-FFF2-40B4-BE49-F238E27FC236}">
                <a16:creationId xmlns:a16="http://schemas.microsoft.com/office/drawing/2014/main" id="{E1996514-BE76-A1D8-99CC-F90D09FA88F8}"/>
              </a:ext>
            </a:extLst>
          </p:cNvPr>
          <p:cNvSpPr>
            <a:spLocks noGrp="1"/>
          </p:cNvSpPr>
          <p:nvPr>
            <p:ph idx="1"/>
          </p:nvPr>
        </p:nvSpPr>
        <p:spPr>
          <a:xfrm>
            <a:off x="838200" y="1186773"/>
            <a:ext cx="10515600" cy="4990189"/>
          </a:xfrm>
        </p:spPr>
        <p:txBody>
          <a:bodyPr>
            <a:normAutofit/>
          </a:bodyPr>
          <a:lstStyle/>
          <a:p>
            <a:r>
              <a:rPr lang="en-US" sz="2000" dirty="0">
                <a:latin typeface="Times New Roman" panose="02020603050405020304" pitchFamily="18" charset="0"/>
                <a:cs typeface="Times New Roman" panose="02020603050405020304" pitchFamily="18" charset="0"/>
              </a:rPr>
              <a:t>Google </a:t>
            </a:r>
            <a:r>
              <a:rPr lang="en-US" sz="2000" dirty="0" err="1">
                <a:latin typeface="Times New Roman" panose="02020603050405020304" pitchFamily="18" charset="0"/>
                <a:cs typeface="Times New Roman" panose="02020603050405020304" pitchFamily="18" charset="0"/>
              </a:rPr>
              <a:t>Colab</a:t>
            </a:r>
            <a:r>
              <a:rPr lang="en-US" sz="2000" dirty="0">
                <a:latin typeface="Times New Roman" panose="02020603050405020304" pitchFamily="18" charset="0"/>
                <a:cs typeface="Times New Roman" panose="02020603050405020304" pitchFamily="18" charset="0"/>
              </a:rPr>
              <a:t> Notebook link:</a:t>
            </a:r>
          </a:p>
          <a:p>
            <a:endParaRPr lang="en-US" sz="1800" dirty="0">
              <a:latin typeface="Times New Roman" panose="02020603050405020304" pitchFamily="18" charset="0"/>
              <a:cs typeface="Times New Roman" panose="02020603050405020304" pitchFamily="18" charset="0"/>
            </a:endParaRPr>
          </a:p>
          <a:p>
            <a:pPr marL="0" indent="0">
              <a:buNone/>
            </a:pPr>
            <a:endParaRPr lang="fr-FR" sz="1800" dirty="0">
              <a:latin typeface="Consolas" panose="020B0609020204030204" pitchFamily="49" charset="0"/>
              <a:cs typeface="Times New Roman" panose="02020603050405020304" pitchFamily="18" charset="0"/>
            </a:endParaRPr>
          </a:p>
          <a:p>
            <a:pPr marL="0" indent="0">
              <a:buNone/>
            </a:pPr>
            <a:endParaRPr lang="en-US" sz="1800" b="1" dirty="0">
              <a:latin typeface="Consolas" panose="020B0609020204030204" pitchFamily="49"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5" name="Imagine 4">
            <a:extLst>
              <a:ext uri="{FF2B5EF4-FFF2-40B4-BE49-F238E27FC236}">
                <a16:creationId xmlns:a16="http://schemas.microsoft.com/office/drawing/2014/main" id="{6511CB0F-0B69-1D12-81F6-A91FBD2DD024}"/>
              </a:ext>
            </a:extLst>
          </p:cNvPr>
          <p:cNvPicPr>
            <a:picLocks noChangeAspect="1"/>
          </p:cNvPicPr>
          <p:nvPr/>
        </p:nvPicPr>
        <p:blipFill>
          <a:blip r:embed="rId2"/>
          <a:stretch>
            <a:fillRect/>
          </a:stretch>
        </p:blipFill>
        <p:spPr>
          <a:xfrm>
            <a:off x="838200" y="2522872"/>
            <a:ext cx="8819481" cy="572693"/>
          </a:xfrm>
          <a:prstGeom prst="rect">
            <a:avLst/>
          </a:prstGeom>
        </p:spPr>
      </p:pic>
      <p:pic>
        <p:nvPicPr>
          <p:cNvPr id="7" name="Imagine 6">
            <a:extLst>
              <a:ext uri="{FF2B5EF4-FFF2-40B4-BE49-F238E27FC236}">
                <a16:creationId xmlns:a16="http://schemas.microsoft.com/office/drawing/2014/main" id="{DFB686A8-75C3-E1DC-251E-CB5172349DA8}"/>
              </a:ext>
            </a:extLst>
          </p:cNvPr>
          <p:cNvPicPr>
            <a:picLocks noChangeAspect="1"/>
          </p:cNvPicPr>
          <p:nvPr/>
        </p:nvPicPr>
        <p:blipFill>
          <a:blip r:embed="rId3"/>
          <a:stretch>
            <a:fillRect/>
          </a:stretch>
        </p:blipFill>
        <p:spPr>
          <a:xfrm>
            <a:off x="838200" y="3095565"/>
            <a:ext cx="7529344" cy="2028740"/>
          </a:xfrm>
          <a:prstGeom prst="rect">
            <a:avLst/>
          </a:prstGeom>
        </p:spPr>
      </p:pic>
      <p:sp>
        <p:nvSpPr>
          <p:cNvPr id="8" name="Oval 7">
            <a:extLst>
              <a:ext uri="{FF2B5EF4-FFF2-40B4-BE49-F238E27FC236}">
                <a16:creationId xmlns:a16="http://schemas.microsoft.com/office/drawing/2014/main" id="{F2B3303A-D964-8D29-50EC-CF9C72B90FFC}"/>
              </a:ext>
            </a:extLst>
          </p:cNvPr>
          <p:cNvSpPr/>
          <p:nvPr/>
        </p:nvSpPr>
        <p:spPr>
          <a:xfrm>
            <a:off x="3074796" y="2602169"/>
            <a:ext cx="1266092" cy="4933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42A637B-4E55-014A-A5C7-E04CDE9683C7}"/>
              </a:ext>
            </a:extLst>
          </p:cNvPr>
          <p:cNvSpPr/>
          <p:nvPr/>
        </p:nvSpPr>
        <p:spPr>
          <a:xfrm>
            <a:off x="8367544" y="2562521"/>
            <a:ext cx="1266092" cy="4933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B9131EF-0061-AE50-A4EF-DD493D1804BF}"/>
              </a:ext>
            </a:extLst>
          </p:cNvPr>
          <p:cNvSpPr/>
          <p:nvPr/>
        </p:nvSpPr>
        <p:spPr>
          <a:xfrm>
            <a:off x="4340888" y="2577089"/>
            <a:ext cx="2565750" cy="4933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setăText 11">
            <a:extLst>
              <a:ext uri="{FF2B5EF4-FFF2-40B4-BE49-F238E27FC236}">
                <a16:creationId xmlns:a16="http://schemas.microsoft.com/office/drawing/2014/main" id="{3961999F-7634-6D77-42F1-42C298BC697C}"/>
              </a:ext>
            </a:extLst>
          </p:cNvPr>
          <p:cNvSpPr txBox="1"/>
          <p:nvPr/>
        </p:nvSpPr>
        <p:spPr>
          <a:xfrm>
            <a:off x="838200" y="1549512"/>
            <a:ext cx="10669621" cy="369332"/>
          </a:xfrm>
          <a:prstGeom prst="rect">
            <a:avLst/>
          </a:prstGeom>
          <a:noFill/>
        </p:spPr>
        <p:txBody>
          <a:bodyPr wrap="square">
            <a:spAutoFit/>
          </a:bodyPr>
          <a:lstStyle/>
          <a:p>
            <a:r>
              <a:rPr lang="en-US" dirty="0">
                <a:hlinkClick r:id="rId4"/>
              </a:rPr>
              <a:t>https://colab.research.google.com/drive/1VOG0841xatAG4TMsHdjlajYr9Gs69u8l?usp=sharing</a:t>
            </a:r>
            <a:endParaRPr lang="en-US" dirty="0"/>
          </a:p>
        </p:txBody>
      </p:sp>
    </p:spTree>
    <p:extLst>
      <p:ext uri="{BB962C8B-B14F-4D97-AF65-F5344CB8AC3E}">
        <p14:creationId xmlns:p14="http://schemas.microsoft.com/office/powerpoint/2010/main" val="515028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722C0400-2509-E50B-B786-1A14B5A0EAC1}"/>
              </a:ext>
            </a:extLst>
          </p:cNvPr>
          <p:cNvSpPr>
            <a:spLocks noGrp="1"/>
          </p:cNvSpPr>
          <p:nvPr>
            <p:ph type="title"/>
          </p:nvPr>
        </p:nvSpPr>
        <p:spPr>
          <a:xfrm>
            <a:off x="838200" y="365125"/>
            <a:ext cx="10515600" cy="714645"/>
          </a:xfrm>
        </p:spPr>
        <p:txBody>
          <a:bodyPr>
            <a:normAutofit/>
          </a:bodyPr>
          <a:lstStyle/>
          <a:p>
            <a:r>
              <a:rPr lang="en-US" sz="3200" dirty="0">
                <a:latin typeface="Times New Roman" panose="02020603050405020304" pitchFamily="18" charset="0"/>
                <a:cs typeface="Times New Roman" panose="02020603050405020304" pitchFamily="18" charset="0"/>
              </a:rPr>
              <a:t>2. Model and Tokenizer</a:t>
            </a:r>
          </a:p>
        </p:txBody>
      </p:sp>
      <p:sp>
        <p:nvSpPr>
          <p:cNvPr id="6" name="Substituent conținut 2">
            <a:extLst>
              <a:ext uri="{FF2B5EF4-FFF2-40B4-BE49-F238E27FC236}">
                <a16:creationId xmlns:a16="http://schemas.microsoft.com/office/drawing/2014/main" id="{10E1D749-88D6-6320-4BC4-B29C4662515D}"/>
              </a:ext>
            </a:extLst>
          </p:cNvPr>
          <p:cNvSpPr>
            <a:spLocks noGrp="1"/>
          </p:cNvSpPr>
          <p:nvPr>
            <p:ph idx="1"/>
          </p:nvPr>
        </p:nvSpPr>
        <p:spPr>
          <a:xfrm>
            <a:off x="838200" y="1186773"/>
            <a:ext cx="10515600" cy="2354095"/>
          </a:xfrm>
        </p:spPr>
        <p:txBody>
          <a:bodyPr>
            <a:normAutofit lnSpcReduction="10000"/>
          </a:bodyPr>
          <a:lstStyle/>
          <a:p>
            <a:r>
              <a:rPr lang="en-US" sz="2000" dirty="0">
                <a:latin typeface="Times New Roman" panose="02020603050405020304" pitchFamily="18" charset="0"/>
                <a:cs typeface="Times New Roman" panose="02020603050405020304" pitchFamily="18" charset="0"/>
              </a:rPr>
              <a:t>In Lab 1 and Lab 2 we used </a:t>
            </a:r>
            <a:r>
              <a:rPr lang="en-US" sz="2000" b="1" dirty="0">
                <a:latin typeface="Times New Roman" panose="02020603050405020304" pitchFamily="18" charset="0"/>
                <a:cs typeface="Times New Roman" panose="02020603050405020304" pitchFamily="18" charset="0"/>
              </a:rPr>
              <a:t>GPT-2</a:t>
            </a:r>
            <a:r>
              <a:rPr lang="en-US" sz="2000" dirty="0">
                <a:latin typeface="Times New Roman" panose="02020603050405020304" pitchFamily="18" charset="0"/>
                <a:cs typeface="Times New Roman" panose="02020603050405020304" pitchFamily="18" charset="0"/>
              </a:rPr>
              <a:t> (small and fast)</a:t>
            </a:r>
          </a:p>
          <a:p>
            <a:r>
              <a:rPr lang="en-US" sz="2000" dirty="0">
                <a:latin typeface="Times New Roman" panose="02020603050405020304" pitchFamily="18" charset="0"/>
                <a:cs typeface="Times New Roman" panose="02020603050405020304" pitchFamily="18" charset="0"/>
              </a:rPr>
              <a:t>Today, we’re upgrading to a </a:t>
            </a:r>
            <a:r>
              <a:rPr lang="en-US" sz="2000" b="1" dirty="0">
                <a:latin typeface="Times New Roman" panose="02020603050405020304" pitchFamily="18" charset="0"/>
                <a:cs typeface="Times New Roman" panose="02020603050405020304" pitchFamily="18" charset="0"/>
              </a:rPr>
              <a:t>larger, instruction-tuned model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hlinkClick r:id="rId2"/>
              </a:rPr>
              <a:t>Qwen3-4B-</a:t>
            </a:r>
            <a:r>
              <a:rPr lang="en-US" sz="2000" b="1" dirty="0">
                <a:solidFill>
                  <a:srgbClr val="FF0000"/>
                </a:solidFill>
                <a:latin typeface="Times New Roman" panose="02020603050405020304" pitchFamily="18" charset="0"/>
                <a:cs typeface="Times New Roman" panose="02020603050405020304" pitchFamily="18" charset="0"/>
                <a:hlinkClick r:id="rId2"/>
              </a:rPr>
              <a:t>Instruct</a:t>
            </a:r>
            <a:r>
              <a:rPr lang="en-US" sz="2000" b="1" dirty="0">
                <a:latin typeface="Times New Roman" panose="02020603050405020304" pitchFamily="18" charset="0"/>
                <a:cs typeface="Times New Roman" panose="02020603050405020304" pitchFamily="18" charset="0"/>
                <a:hlinkClick r:id="rId2"/>
              </a:rPr>
              <a:t>-2507</a:t>
            </a: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Instruction-Tuned = Fine-tuned to follow human instructions</a:t>
            </a:r>
          </a:p>
          <a:p>
            <a:pPr marL="0" indent="0">
              <a:buNone/>
            </a:pPr>
            <a:r>
              <a:rPr lang="en-US" sz="2000" dirty="0">
                <a:latin typeface="Times New Roman" panose="02020603050405020304" pitchFamily="18" charset="0"/>
                <a:cs typeface="Times New Roman" panose="02020603050405020304" pitchFamily="18" charset="0"/>
              </a:rPr>
              <a:t>Instruction-tuned models are trained to:</a:t>
            </a:r>
          </a:p>
          <a:p>
            <a:r>
              <a:rPr lang="en-US" sz="2000" dirty="0">
                <a:latin typeface="Times New Roman" panose="02020603050405020304" pitchFamily="18" charset="0"/>
                <a:cs typeface="Times New Roman" panose="02020603050405020304" pitchFamily="18" charset="0"/>
              </a:rPr>
              <a:t>Understand user prompts as </a:t>
            </a:r>
            <a:r>
              <a:rPr lang="en-US" sz="2000" b="1" dirty="0">
                <a:latin typeface="Times New Roman" panose="02020603050405020304" pitchFamily="18" charset="0"/>
                <a:cs typeface="Times New Roman" panose="02020603050405020304" pitchFamily="18" charset="0"/>
              </a:rPr>
              <a:t>tasks</a:t>
            </a:r>
            <a:r>
              <a:rPr lang="en-US" sz="2000" dirty="0">
                <a:latin typeface="Times New Roman" panose="02020603050405020304" pitchFamily="18" charset="0"/>
                <a:cs typeface="Times New Roman" panose="02020603050405020304" pitchFamily="18" charset="0"/>
              </a:rPr>
              <a:t>, not just raw text</a:t>
            </a:r>
          </a:p>
          <a:p>
            <a:r>
              <a:rPr lang="en-US" sz="2000" dirty="0">
                <a:latin typeface="Times New Roman" panose="02020603050405020304" pitchFamily="18" charset="0"/>
                <a:cs typeface="Times New Roman" panose="02020603050405020304" pitchFamily="18" charset="0"/>
              </a:rPr>
              <a:t>Respond in a way that’s </a:t>
            </a:r>
            <a:r>
              <a:rPr lang="en-US" sz="2000" b="1" dirty="0">
                <a:latin typeface="Times New Roman" panose="02020603050405020304" pitchFamily="18" charset="0"/>
                <a:cs typeface="Times New Roman" panose="02020603050405020304" pitchFamily="18" charset="0"/>
              </a:rPr>
              <a:t>structured, helpful, and relevant</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endParaRPr lang="fr-FR" sz="1800" dirty="0">
              <a:latin typeface="Consolas" panose="020B0609020204030204" pitchFamily="49" charset="0"/>
              <a:cs typeface="Times New Roman" panose="02020603050405020304" pitchFamily="18" charset="0"/>
            </a:endParaRPr>
          </a:p>
          <a:p>
            <a:pPr marL="0" indent="0">
              <a:buNone/>
            </a:pPr>
            <a:endParaRPr lang="en-US" sz="1800" b="1" dirty="0">
              <a:latin typeface="Consolas" panose="020B0609020204030204" pitchFamily="49" charset="0"/>
              <a:cs typeface="Times New Roman" panose="02020603050405020304" pitchFamily="18" charset="0"/>
            </a:endParaRPr>
          </a:p>
        </p:txBody>
      </p:sp>
      <p:pic>
        <p:nvPicPr>
          <p:cNvPr id="8" name="Imagine 7">
            <a:extLst>
              <a:ext uri="{FF2B5EF4-FFF2-40B4-BE49-F238E27FC236}">
                <a16:creationId xmlns:a16="http://schemas.microsoft.com/office/drawing/2014/main" id="{0CC4ECD8-B9A5-2D84-8F9F-E154BD9894E5}"/>
              </a:ext>
            </a:extLst>
          </p:cNvPr>
          <p:cNvPicPr>
            <a:picLocks noChangeAspect="1"/>
          </p:cNvPicPr>
          <p:nvPr/>
        </p:nvPicPr>
        <p:blipFill>
          <a:blip r:embed="rId3"/>
          <a:stretch>
            <a:fillRect/>
          </a:stretch>
        </p:blipFill>
        <p:spPr>
          <a:xfrm>
            <a:off x="838200" y="3540868"/>
            <a:ext cx="5261591" cy="2815069"/>
          </a:xfrm>
          <a:prstGeom prst="rect">
            <a:avLst/>
          </a:prstGeom>
        </p:spPr>
      </p:pic>
    </p:spTree>
    <p:extLst>
      <p:ext uri="{BB962C8B-B14F-4D97-AF65-F5344CB8AC3E}">
        <p14:creationId xmlns:p14="http://schemas.microsoft.com/office/powerpoint/2010/main" val="1746493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DA34B22A-225E-66EE-1698-E137A00A0EC8}"/>
              </a:ext>
            </a:extLst>
          </p:cNvPr>
          <p:cNvSpPr>
            <a:spLocks noGrp="1"/>
          </p:cNvSpPr>
          <p:nvPr>
            <p:ph type="title"/>
          </p:nvPr>
        </p:nvSpPr>
        <p:spPr>
          <a:xfrm>
            <a:off x="838200" y="425855"/>
            <a:ext cx="10515600" cy="510364"/>
          </a:xfrm>
        </p:spPr>
        <p:txBody>
          <a:bodyPr>
            <a:normAutofit fontScale="90000"/>
          </a:bodyPr>
          <a:lstStyle/>
          <a:p>
            <a:r>
              <a:rPr lang="en-US" sz="3600" dirty="0">
                <a:latin typeface="Times New Roman" panose="02020603050405020304" pitchFamily="18" charset="0"/>
                <a:cs typeface="Times New Roman" panose="02020603050405020304" pitchFamily="18" charset="0"/>
              </a:rPr>
              <a:t>3. Prepare the Knowledge Base</a:t>
            </a:r>
            <a:r>
              <a:rPr lang="en-US" dirty="0"/>
              <a:t>	 </a:t>
            </a:r>
          </a:p>
        </p:txBody>
      </p:sp>
      <p:sp>
        <p:nvSpPr>
          <p:cNvPr id="3" name="Substituent conținut 2">
            <a:extLst>
              <a:ext uri="{FF2B5EF4-FFF2-40B4-BE49-F238E27FC236}">
                <a16:creationId xmlns:a16="http://schemas.microsoft.com/office/drawing/2014/main" id="{77779D4A-2556-815C-AEB1-8F13DD3D500F}"/>
              </a:ext>
            </a:extLst>
          </p:cNvPr>
          <p:cNvSpPr>
            <a:spLocks noGrp="1"/>
          </p:cNvSpPr>
          <p:nvPr>
            <p:ph idx="1"/>
          </p:nvPr>
        </p:nvSpPr>
        <p:spPr>
          <a:xfrm>
            <a:off x="838200" y="1134217"/>
            <a:ext cx="10515600" cy="499018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For this lab session, you will be using a PDF - Best Practice Safety Protocols Clinical Procedures Safety, World Health Organization</a:t>
            </a:r>
          </a:p>
          <a:p>
            <a:pPr marL="0" indent="0">
              <a:buNone/>
            </a:pPr>
            <a:endParaRPr lang="en-US" sz="2400" dirty="0">
              <a:latin typeface="Times New Roman" panose="02020603050405020304" pitchFamily="18" charset="0"/>
              <a:cs typeface="Times New Roman" panose="02020603050405020304" pitchFamily="18" charset="0"/>
            </a:endParaRPr>
          </a:p>
          <a:p>
            <a:pPr marL="342900" indent="-342900">
              <a:buAutoNum type="arabicPeriod"/>
            </a:pPr>
            <a:r>
              <a:rPr lang="en-US" sz="2400" dirty="0">
                <a:latin typeface="Times New Roman" panose="02020603050405020304" pitchFamily="18" charset="0"/>
                <a:cs typeface="Times New Roman" panose="02020603050405020304" pitchFamily="18" charset="0"/>
              </a:rPr>
              <a:t>Place the PDF file in Google </a:t>
            </a:r>
            <a:r>
              <a:rPr lang="en-US" sz="2400" dirty="0" err="1">
                <a:latin typeface="Times New Roman" panose="02020603050405020304" pitchFamily="18" charset="0"/>
                <a:cs typeface="Times New Roman" panose="02020603050405020304" pitchFamily="18" charset="0"/>
              </a:rPr>
              <a:t>Colab</a:t>
            </a:r>
            <a:endParaRPr lang="en-US" sz="2400" dirty="0">
              <a:latin typeface="Times New Roman" panose="02020603050405020304" pitchFamily="18" charset="0"/>
              <a:cs typeface="Times New Roman" panose="02020603050405020304" pitchFamily="18" charset="0"/>
            </a:endParaRPr>
          </a:p>
          <a:p>
            <a:pPr marL="342900" indent="-342900">
              <a:buAutoNum type="arabicPeriod"/>
            </a:pPr>
            <a:r>
              <a:rPr lang="en-US" sz="2400" dirty="0">
                <a:latin typeface="Times New Roman" panose="02020603050405020304" pitchFamily="18" charset="0"/>
                <a:cs typeface="Times New Roman" panose="02020603050405020304" pitchFamily="18" charset="0"/>
              </a:rPr>
              <a:t>Load the PDF</a:t>
            </a:r>
          </a:p>
          <a:p>
            <a:pPr marL="342900" indent="-342900">
              <a:buAutoNum type="arabicPeriod"/>
            </a:pPr>
            <a:r>
              <a:rPr lang="en-US" sz="2400" dirty="0">
                <a:latin typeface="Times New Roman" panose="02020603050405020304" pitchFamily="18" charset="0"/>
                <a:cs typeface="Times New Roman" panose="02020603050405020304" pitchFamily="18" charset="0"/>
              </a:rPr>
              <a:t>Extract the text from each page</a:t>
            </a:r>
          </a:p>
          <a:p>
            <a:pPr marL="342900" indent="-342900">
              <a:buAutoNum type="arabicPeriod"/>
            </a:pPr>
            <a:r>
              <a:rPr lang="en-US" sz="2400" dirty="0">
                <a:latin typeface="Times New Roman" panose="02020603050405020304" pitchFamily="18" charset="0"/>
                <a:cs typeface="Times New Roman" panose="02020603050405020304" pitchFamily="18" charset="0"/>
              </a:rPr>
              <a:t>Combine everything into one big string: </a:t>
            </a:r>
            <a:r>
              <a:rPr lang="en-US" sz="2400" dirty="0">
                <a:highlight>
                  <a:srgbClr val="FFFF00"/>
                </a:highlight>
                <a:latin typeface="Times New Roman" panose="02020603050405020304" pitchFamily="18" charset="0"/>
                <a:cs typeface="Times New Roman" panose="02020603050405020304" pitchFamily="18" charset="0"/>
              </a:rPr>
              <a:t>text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11" name="Imagine 10">
            <a:extLst>
              <a:ext uri="{FF2B5EF4-FFF2-40B4-BE49-F238E27FC236}">
                <a16:creationId xmlns:a16="http://schemas.microsoft.com/office/drawing/2014/main" id="{BB450F92-E20D-FD32-2C59-50B74E9D15A2}"/>
              </a:ext>
            </a:extLst>
          </p:cNvPr>
          <p:cNvPicPr>
            <a:picLocks noChangeAspect="1"/>
          </p:cNvPicPr>
          <p:nvPr/>
        </p:nvPicPr>
        <p:blipFill>
          <a:blip r:embed="rId2"/>
          <a:stretch>
            <a:fillRect/>
          </a:stretch>
        </p:blipFill>
        <p:spPr>
          <a:xfrm>
            <a:off x="838200" y="4265107"/>
            <a:ext cx="4971178" cy="2374683"/>
          </a:xfrm>
          <a:prstGeom prst="rect">
            <a:avLst/>
          </a:prstGeom>
        </p:spPr>
      </p:pic>
    </p:spTree>
    <p:extLst>
      <p:ext uri="{BB962C8B-B14F-4D97-AF65-F5344CB8AC3E}">
        <p14:creationId xmlns:p14="http://schemas.microsoft.com/office/powerpoint/2010/main" val="352983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A23A45A5-92DB-9C3C-BB0D-14FF148D5931}"/>
              </a:ext>
            </a:extLst>
          </p:cNvPr>
          <p:cNvSpPr>
            <a:spLocks noGrp="1"/>
          </p:cNvSpPr>
          <p:nvPr>
            <p:ph type="title"/>
          </p:nvPr>
        </p:nvSpPr>
        <p:spPr>
          <a:xfrm>
            <a:off x="838200" y="365125"/>
            <a:ext cx="10515600" cy="568729"/>
          </a:xfrm>
        </p:spPr>
        <p:txBody>
          <a:bodyPr>
            <a:normAutofit/>
          </a:bodyPr>
          <a:lstStyle/>
          <a:p>
            <a:pPr lvl="0"/>
            <a:r>
              <a:rPr lang="en-US" sz="3200" dirty="0">
                <a:latin typeface="Times New Roman" panose="02020603050405020304" pitchFamily="18" charset="0"/>
                <a:cs typeface="Times New Roman" panose="02020603050405020304" pitchFamily="18" charset="0"/>
              </a:rPr>
              <a:t>4. Preprocessing the document</a:t>
            </a:r>
          </a:p>
        </p:txBody>
      </p:sp>
      <p:sp>
        <p:nvSpPr>
          <p:cNvPr id="3" name="Substituent conținut 2">
            <a:extLst>
              <a:ext uri="{FF2B5EF4-FFF2-40B4-BE49-F238E27FC236}">
                <a16:creationId xmlns:a16="http://schemas.microsoft.com/office/drawing/2014/main" id="{604EFD66-292F-7778-AE3E-42375539FA3B}"/>
              </a:ext>
            </a:extLst>
          </p:cNvPr>
          <p:cNvSpPr>
            <a:spLocks noGrp="1"/>
          </p:cNvSpPr>
          <p:nvPr>
            <p:ph idx="1"/>
          </p:nvPr>
        </p:nvSpPr>
        <p:spPr>
          <a:xfrm>
            <a:off x="838200" y="1036046"/>
            <a:ext cx="10515600" cy="4785908"/>
          </a:xfrm>
        </p:spPr>
        <p:txBody>
          <a:bodyPr/>
          <a:lstStyle/>
          <a:p>
            <a:pPr marL="0" indent="0">
              <a:buNone/>
            </a:pPr>
            <a:r>
              <a:rPr lang="en-US" sz="1800" dirty="0">
                <a:latin typeface="Times New Roman" panose="02020603050405020304" pitchFamily="18" charset="0"/>
                <a:cs typeface="Times New Roman" panose="02020603050405020304" pitchFamily="18" charset="0"/>
              </a:rPr>
              <a:t>LLMs have a limited </a:t>
            </a:r>
            <a:r>
              <a:rPr lang="en-US" sz="1800" b="1" dirty="0">
                <a:latin typeface="Times New Roman" panose="02020603050405020304" pitchFamily="18" charset="0"/>
                <a:cs typeface="Times New Roman" panose="02020603050405020304" pitchFamily="18" charset="0"/>
              </a:rPr>
              <a:t>context window</a:t>
            </a:r>
            <a:r>
              <a:rPr lang="en-US" sz="1800" dirty="0">
                <a:latin typeface="Times New Roman" panose="02020603050405020304" pitchFamily="18" charset="0"/>
                <a:cs typeface="Times New Roman" panose="02020603050405020304" pitchFamily="18" charset="0"/>
              </a:rPr>
              <a:t> (e.g. 2k-8k tokens). They can’t read whole documents/text at once, therefore we must split our document into small </a:t>
            </a:r>
            <a:r>
              <a:rPr lang="en-US" sz="1800" b="1" dirty="0">
                <a:latin typeface="Times New Roman" panose="02020603050405020304" pitchFamily="18" charset="0"/>
                <a:cs typeface="Times New Roman" panose="02020603050405020304" pitchFamily="18" charset="0"/>
              </a:rPr>
              <a:t>chunks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8" name="CasetăText 7">
            <a:extLst>
              <a:ext uri="{FF2B5EF4-FFF2-40B4-BE49-F238E27FC236}">
                <a16:creationId xmlns:a16="http://schemas.microsoft.com/office/drawing/2014/main" id="{9A73C611-BEE4-F514-73B0-794B00D6BCF8}"/>
              </a:ext>
            </a:extLst>
          </p:cNvPr>
          <p:cNvSpPr txBox="1"/>
          <p:nvPr/>
        </p:nvSpPr>
        <p:spPr>
          <a:xfrm>
            <a:off x="838200" y="1712813"/>
            <a:ext cx="6094378" cy="923330"/>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Split the full text into chunks of ~400 words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chunk </a:t>
            </a:r>
            <a:r>
              <a:rPr lang="en-US" b="1" dirty="0">
                <a:latin typeface="Times New Roman" panose="02020603050405020304" pitchFamily="18" charset="0"/>
                <a:cs typeface="Times New Roman" panose="02020603050405020304" pitchFamily="18" charset="0"/>
              </a:rPr>
              <a:t>overlaps</a:t>
            </a:r>
            <a:r>
              <a:rPr lang="en-US" dirty="0">
                <a:latin typeface="Times New Roman" panose="02020603050405020304" pitchFamily="18" charset="0"/>
                <a:cs typeface="Times New Roman" panose="02020603050405020304" pitchFamily="18" charset="0"/>
              </a:rPr>
              <a:t> 50 words with the previous one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maintain </a:t>
            </a:r>
            <a:r>
              <a:rPr lang="en-US" b="1" dirty="0">
                <a:latin typeface="Times New Roman" panose="02020603050405020304" pitchFamily="18" charset="0"/>
                <a:cs typeface="Times New Roman" panose="02020603050405020304" pitchFamily="18" charset="0"/>
              </a:rPr>
              <a:t>semantic continuity</a:t>
            </a:r>
            <a:endParaRPr lang="en-US" dirty="0">
              <a:latin typeface="Times New Roman" panose="02020603050405020304" pitchFamily="18" charset="0"/>
              <a:cs typeface="Times New Roman" panose="02020603050405020304" pitchFamily="18" charset="0"/>
            </a:endParaRPr>
          </a:p>
        </p:txBody>
      </p:sp>
      <p:pic>
        <p:nvPicPr>
          <p:cNvPr id="11" name="Imagine 10">
            <a:extLst>
              <a:ext uri="{FF2B5EF4-FFF2-40B4-BE49-F238E27FC236}">
                <a16:creationId xmlns:a16="http://schemas.microsoft.com/office/drawing/2014/main" id="{7892F68B-6C53-60E7-D79F-01C6F79851B0}"/>
              </a:ext>
            </a:extLst>
          </p:cNvPr>
          <p:cNvPicPr>
            <a:picLocks noChangeAspect="1"/>
          </p:cNvPicPr>
          <p:nvPr/>
        </p:nvPicPr>
        <p:blipFill>
          <a:blip r:embed="rId2"/>
          <a:stretch>
            <a:fillRect/>
          </a:stretch>
        </p:blipFill>
        <p:spPr>
          <a:xfrm>
            <a:off x="838200" y="2772330"/>
            <a:ext cx="4813570" cy="3607622"/>
          </a:xfrm>
          <a:prstGeom prst="rect">
            <a:avLst/>
          </a:prstGeom>
        </p:spPr>
      </p:pic>
    </p:spTree>
    <p:extLst>
      <p:ext uri="{BB962C8B-B14F-4D97-AF65-F5344CB8AC3E}">
        <p14:creationId xmlns:p14="http://schemas.microsoft.com/office/powerpoint/2010/main" val="4002873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1">
            <a:extLst>
              <a:ext uri="{FF2B5EF4-FFF2-40B4-BE49-F238E27FC236}">
                <a16:creationId xmlns:a16="http://schemas.microsoft.com/office/drawing/2014/main" id="{D51FECE8-698A-347E-E182-99C43C35CEBF}"/>
              </a:ext>
            </a:extLst>
          </p:cNvPr>
          <p:cNvSpPr txBox="1">
            <a:spLocks/>
          </p:cNvSpPr>
          <p:nvPr/>
        </p:nvSpPr>
        <p:spPr>
          <a:xfrm>
            <a:off x="622571" y="274976"/>
            <a:ext cx="10515600" cy="5395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Times New Roman" panose="02020603050405020304" pitchFamily="18" charset="0"/>
                <a:cs typeface="Times New Roman" panose="02020603050405020304" pitchFamily="18" charset="0"/>
              </a:rPr>
              <a:t>5. Embedding and Vector DB</a:t>
            </a:r>
          </a:p>
        </p:txBody>
      </p:sp>
      <p:graphicFrame>
        <p:nvGraphicFramePr>
          <p:cNvPr id="5" name="Nomogramă 4">
            <a:extLst>
              <a:ext uri="{FF2B5EF4-FFF2-40B4-BE49-F238E27FC236}">
                <a16:creationId xmlns:a16="http://schemas.microsoft.com/office/drawing/2014/main" id="{FCB4A884-0F4B-1E7B-69C5-2D163D23254C}"/>
              </a:ext>
            </a:extLst>
          </p:cNvPr>
          <p:cNvGraphicFramePr/>
          <p:nvPr>
            <p:extLst>
              <p:ext uri="{D42A27DB-BD31-4B8C-83A1-F6EECF244321}">
                <p14:modId xmlns:p14="http://schemas.microsoft.com/office/powerpoint/2010/main" val="1245490157"/>
              </p:ext>
            </p:extLst>
          </p:nvPr>
        </p:nvGraphicFramePr>
        <p:xfrm>
          <a:off x="622571" y="1074209"/>
          <a:ext cx="11050620" cy="52390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Imagine 9">
            <a:extLst>
              <a:ext uri="{FF2B5EF4-FFF2-40B4-BE49-F238E27FC236}">
                <a16:creationId xmlns:a16="http://schemas.microsoft.com/office/drawing/2014/main" id="{2ECA9F71-5AC1-E403-E62C-461857653E78}"/>
              </a:ext>
            </a:extLst>
          </p:cNvPr>
          <p:cNvPicPr>
            <a:picLocks noChangeAspect="1"/>
          </p:cNvPicPr>
          <p:nvPr/>
        </p:nvPicPr>
        <p:blipFill>
          <a:blip r:embed="rId7"/>
          <a:stretch>
            <a:fillRect/>
          </a:stretch>
        </p:blipFill>
        <p:spPr>
          <a:xfrm>
            <a:off x="6987162" y="4345569"/>
            <a:ext cx="4582267" cy="761452"/>
          </a:xfrm>
          <a:prstGeom prst="rect">
            <a:avLst/>
          </a:prstGeom>
        </p:spPr>
      </p:pic>
      <p:pic>
        <p:nvPicPr>
          <p:cNvPr id="12" name="Imagine 11">
            <a:extLst>
              <a:ext uri="{FF2B5EF4-FFF2-40B4-BE49-F238E27FC236}">
                <a16:creationId xmlns:a16="http://schemas.microsoft.com/office/drawing/2014/main" id="{1B7B8B84-5C70-1EC7-BE42-484FE2BE2425}"/>
              </a:ext>
            </a:extLst>
          </p:cNvPr>
          <p:cNvPicPr>
            <a:picLocks noChangeAspect="1"/>
          </p:cNvPicPr>
          <p:nvPr/>
        </p:nvPicPr>
        <p:blipFill>
          <a:blip r:embed="rId8"/>
          <a:stretch>
            <a:fillRect/>
          </a:stretch>
        </p:blipFill>
        <p:spPr>
          <a:xfrm>
            <a:off x="702554" y="4345569"/>
            <a:ext cx="5202863" cy="1170013"/>
          </a:xfrm>
          <a:prstGeom prst="rect">
            <a:avLst/>
          </a:prstGeom>
        </p:spPr>
      </p:pic>
    </p:spTree>
    <p:extLst>
      <p:ext uri="{BB962C8B-B14F-4D97-AF65-F5344CB8AC3E}">
        <p14:creationId xmlns:p14="http://schemas.microsoft.com/office/powerpoint/2010/main" val="622226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EE790-CBA1-651C-9C4C-F29CC70D30D1}"/>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3C0BF128-C363-4E44-F377-73E2381C1939}"/>
              </a:ext>
            </a:extLst>
          </p:cNvPr>
          <p:cNvSpPr>
            <a:spLocks noGrp="1"/>
          </p:cNvSpPr>
          <p:nvPr>
            <p:ph type="title"/>
          </p:nvPr>
        </p:nvSpPr>
        <p:spPr>
          <a:xfrm>
            <a:off x="838200" y="425855"/>
            <a:ext cx="10515600" cy="510364"/>
          </a:xfrm>
        </p:spPr>
        <p:txBody>
          <a:bodyPr>
            <a:normAutofit fontScale="90000"/>
          </a:bodyPr>
          <a:lstStyle/>
          <a:p>
            <a:r>
              <a:rPr lang="en-US" sz="3600" dirty="0">
                <a:latin typeface="Times New Roman" panose="02020603050405020304" pitchFamily="18" charset="0"/>
                <a:cs typeface="Times New Roman" panose="02020603050405020304" pitchFamily="18" charset="0"/>
              </a:rPr>
              <a:t>6. Set up the Retriever</a:t>
            </a:r>
            <a:r>
              <a:rPr lang="en-US" dirty="0"/>
              <a:t> </a:t>
            </a:r>
          </a:p>
        </p:txBody>
      </p:sp>
      <p:sp>
        <p:nvSpPr>
          <p:cNvPr id="3" name="Substituent conținut 2">
            <a:extLst>
              <a:ext uri="{FF2B5EF4-FFF2-40B4-BE49-F238E27FC236}">
                <a16:creationId xmlns:a16="http://schemas.microsoft.com/office/drawing/2014/main" id="{B378650C-51AC-77D6-9CCE-3E5699AA5BED}"/>
              </a:ext>
            </a:extLst>
          </p:cNvPr>
          <p:cNvSpPr>
            <a:spLocks noGrp="1"/>
          </p:cNvSpPr>
          <p:nvPr>
            <p:ph idx="1"/>
          </p:nvPr>
        </p:nvSpPr>
        <p:spPr>
          <a:xfrm>
            <a:off x="697960" y="1153672"/>
            <a:ext cx="4989408" cy="4990189"/>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Goal: </a:t>
            </a:r>
            <a:r>
              <a:rPr lang="en-US" sz="2000" dirty="0">
                <a:latin typeface="Times New Roman" panose="02020603050405020304" pitchFamily="18" charset="0"/>
                <a:cs typeface="Times New Roman" panose="02020603050405020304" pitchFamily="18" charset="0"/>
              </a:rPr>
              <a:t>Find the top-k chunks from the document that are </a:t>
            </a:r>
            <a:r>
              <a:rPr lang="en-US" sz="2000" b="1" dirty="0">
                <a:latin typeface="Times New Roman" panose="02020603050405020304" pitchFamily="18" charset="0"/>
                <a:cs typeface="Times New Roman" panose="02020603050405020304" pitchFamily="18" charset="0"/>
              </a:rPr>
              <a:t>most semantically similar</a:t>
            </a:r>
            <a:r>
              <a:rPr lang="en-US" sz="2000" dirty="0">
                <a:latin typeface="Times New Roman" panose="02020603050405020304" pitchFamily="18" charset="0"/>
                <a:cs typeface="Times New Roman" panose="02020603050405020304" pitchFamily="18" charset="0"/>
              </a:rPr>
              <a:t> to the user’s question</a:t>
            </a:r>
          </a:p>
          <a:p>
            <a:pPr marL="0" indent="0">
              <a:buNone/>
            </a:pPr>
            <a:endParaRPr lang="en-US" sz="16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buFont typeface="Wingdings" panose="05000000000000000000" pitchFamily="2" charset="2"/>
              <a:buChar char="q"/>
            </a:pPr>
            <a:r>
              <a:rPr lang="en-US" altLang="en-US" sz="1800" dirty="0">
                <a:latin typeface="Times New Roman" panose="02020603050405020304" pitchFamily="18" charset="0"/>
                <a:cs typeface="Times New Roman" panose="02020603050405020304" pitchFamily="18" charset="0"/>
              </a:rPr>
              <a:t> Embeds the query into a vector</a:t>
            </a:r>
          </a:p>
          <a:p>
            <a:pPr lvl="0" eaLnBrk="0" fontAlgn="base" hangingPunct="0">
              <a:lnSpc>
                <a:spcPct val="100000"/>
              </a:lnSpc>
              <a:spcBef>
                <a:spcPct val="0"/>
              </a:spcBef>
              <a:spcAft>
                <a:spcPct val="0"/>
              </a:spcAft>
              <a:buFont typeface="Wingdings" panose="05000000000000000000" pitchFamily="2" charset="2"/>
              <a:buChar char="q"/>
            </a:pPr>
            <a:r>
              <a:rPr lang="en-US" altLang="en-US" sz="1800" dirty="0">
                <a:latin typeface="Times New Roman" panose="02020603050405020304" pitchFamily="18" charset="0"/>
                <a:cs typeface="Times New Roman" panose="02020603050405020304" pitchFamily="18" charset="0"/>
              </a:rPr>
              <a:t> Searches the FAISS index for </a:t>
            </a:r>
            <a:r>
              <a:rPr lang="en-US" altLang="en-US" sz="1800" b="1" dirty="0">
                <a:latin typeface="Times New Roman" panose="02020603050405020304" pitchFamily="18" charset="0"/>
                <a:cs typeface="Times New Roman" panose="02020603050405020304" pitchFamily="18" charset="0"/>
              </a:rPr>
              <a:t>top-k closest vectors</a:t>
            </a:r>
            <a:endParaRPr lang="en-US" altLang="en-US" sz="18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buFont typeface="Wingdings" panose="05000000000000000000" pitchFamily="2" charset="2"/>
              <a:buChar char="q"/>
            </a:pPr>
            <a:r>
              <a:rPr lang="en-US" altLang="en-US" sz="1800" dirty="0">
                <a:latin typeface="Times New Roman" panose="02020603050405020304" pitchFamily="18" charset="0"/>
                <a:cs typeface="Times New Roman" panose="02020603050405020304" pitchFamily="18" charset="0"/>
              </a:rPr>
              <a:t> Collects and retrieves the matching chunks, sorted by </a:t>
            </a:r>
            <a:r>
              <a:rPr lang="en-US" altLang="en-US" sz="1800" b="1" dirty="0">
                <a:latin typeface="Times New Roman" panose="02020603050405020304" pitchFamily="18" charset="0"/>
                <a:cs typeface="Times New Roman" panose="02020603050405020304" pitchFamily="18" charset="0"/>
              </a:rPr>
              <a:t>distance</a:t>
            </a:r>
          </a:p>
          <a:p>
            <a:pPr marL="0" indent="0">
              <a:buNone/>
            </a:pPr>
            <a:endParaRPr lang="en-US" sz="1800" dirty="0"/>
          </a:p>
          <a:p>
            <a:pPr marL="0" indent="0">
              <a:buNone/>
            </a:pPr>
            <a:r>
              <a:rPr lang="en-US" sz="2000" dirty="0">
                <a:latin typeface="Times New Roman" panose="02020603050405020304" pitchFamily="18" charset="0"/>
                <a:cs typeface="Times New Roman" panose="02020603050405020304" pitchFamily="18" charset="0"/>
              </a:rPr>
              <a:t>Each retrieved item includes:</a:t>
            </a:r>
          </a:p>
          <a:p>
            <a:pPr>
              <a:buFont typeface="Wingdings" panose="05000000000000000000" pitchFamily="2" charset="2"/>
              <a:buChar char="q"/>
            </a:pPr>
            <a:r>
              <a:rPr lang="en-US" sz="1800" dirty="0" err="1">
                <a:latin typeface="Times New Roman" panose="02020603050405020304" pitchFamily="18" charset="0"/>
                <a:cs typeface="Times New Roman" panose="02020603050405020304" pitchFamily="18" charset="0"/>
              </a:rPr>
              <a:t>chunk_id</a:t>
            </a:r>
            <a:r>
              <a:rPr lang="en-US" sz="1800" dirty="0">
                <a:latin typeface="Times New Roman" panose="02020603050405020304" pitchFamily="18" charset="0"/>
                <a:cs typeface="Times New Roman" panose="02020603050405020304" pitchFamily="18" charset="0"/>
              </a:rPr>
              <a:t>: index of the chunk</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text: the chunk content</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distance: how close it is to the query (smaller = more similar)</a:t>
            </a: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7" name="Imagine 6">
            <a:extLst>
              <a:ext uri="{FF2B5EF4-FFF2-40B4-BE49-F238E27FC236}">
                <a16:creationId xmlns:a16="http://schemas.microsoft.com/office/drawing/2014/main" id="{9A2275D6-AC7A-00F3-31C3-0C06AA2B29BD}"/>
              </a:ext>
            </a:extLst>
          </p:cNvPr>
          <p:cNvPicPr>
            <a:picLocks noChangeAspect="1"/>
          </p:cNvPicPr>
          <p:nvPr/>
        </p:nvPicPr>
        <p:blipFill>
          <a:blip r:embed="rId2"/>
          <a:stretch>
            <a:fillRect/>
          </a:stretch>
        </p:blipFill>
        <p:spPr>
          <a:xfrm>
            <a:off x="5687368" y="1153672"/>
            <a:ext cx="6092137" cy="3506875"/>
          </a:xfrm>
          <a:prstGeom prst="rect">
            <a:avLst/>
          </a:prstGeom>
        </p:spPr>
      </p:pic>
    </p:spTree>
    <p:extLst>
      <p:ext uri="{BB962C8B-B14F-4D97-AF65-F5344CB8AC3E}">
        <p14:creationId xmlns:p14="http://schemas.microsoft.com/office/powerpoint/2010/main" val="2936314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1FDE-D14B-B6C2-7C73-02E4C837F551}"/>
            </a:ext>
          </a:extLst>
        </p:cNvPr>
        <p:cNvGrpSpPr/>
        <p:nvPr/>
      </p:nvGrpSpPr>
      <p:grpSpPr>
        <a:xfrm>
          <a:off x="0" y="0"/>
          <a:ext cx="0" cy="0"/>
          <a:chOff x="0" y="0"/>
          <a:chExt cx="0" cy="0"/>
        </a:xfrm>
      </p:grpSpPr>
      <p:sp>
        <p:nvSpPr>
          <p:cNvPr id="2" name="Titlu 1">
            <a:extLst>
              <a:ext uri="{FF2B5EF4-FFF2-40B4-BE49-F238E27FC236}">
                <a16:creationId xmlns:a16="http://schemas.microsoft.com/office/drawing/2014/main" id="{A6DF0077-B74C-A469-A072-D3316C139DB4}"/>
              </a:ext>
            </a:extLst>
          </p:cNvPr>
          <p:cNvSpPr>
            <a:spLocks noGrp="1"/>
          </p:cNvSpPr>
          <p:nvPr>
            <p:ph type="title"/>
          </p:nvPr>
        </p:nvSpPr>
        <p:spPr>
          <a:xfrm>
            <a:off x="746638" y="433119"/>
            <a:ext cx="10515600" cy="510364"/>
          </a:xfrm>
        </p:spPr>
        <p:txBody>
          <a:bodyPr>
            <a:noAutofit/>
          </a:bodyPr>
          <a:lstStyle/>
          <a:p>
            <a:r>
              <a:rPr lang="en-US" sz="2800" dirty="0">
                <a:latin typeface="Times New Roman" panose="02020603050405020304" pitchFamily="18" charset="0"/>
                <a:cs typeface="Times New Roman" panose="02020603050405020304" pitchFamily="18" charset="0"/>
              </a:rPr>
              <a:t>6. Build the RAG pipeline</a:t>
            </a:r>
          </a:p>
        </p:txBody>
      </p:sp>
      <p:sp>
        <p:nvSpPr>
          <p:cNvPr id="12" name="Rectangle 1">
            <a:extLst>
              <a:ext uri="{FF2B5EF4-FFF2-40B4-BE49-F238E27FC236}">
                <a16:creationId xmlns:a16="http://schemas.microsoft.com/office/drawing/2014/main" id="{6164A773-0209-20FC-B731-B18AB20A3AB9}"/>
              </a:ext>
            </a:extLst>
          </p:cNvPr>
          <p:cNvSpPr>
            <a:spLocks noChangeArrowheads="1"/>
          </p:cNvSpPr>
          <p:nvPr/>
        </p:nvSpPr>
        <p:spPr bwMode="auto">
          <a:xfrm>
            <a:off x="153251" y="1154566"/>
            <a:ext cx="437744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Takes the top-k most relevant chunks (retrieved via FAISS).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 them into one big string.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Build the Prompt (</a:t>
            </a:r>
            <a:r>
              <a:rPr lang="en-US" dirty="0">
                <a:solidFill>
                  <a:srgbClr val="FF000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a:t>
            </a:r>
          </a:p>
          <a:p>
            <a:pPr marL="285750" lvl="0" indent="-285750" eaLnBrk="0" fontAlgn="base" hangingPunct="0">
              <a:spcBef>
                <a:spcPct val="0"/>
              </a:spcBef>
              <a:spcAft>
                <a:spcPct val="0"/>
              </a:spcAft>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Tokenize: Converts the prompt into tokens the model can understand</a:t>
            </a:r>
          </a:p>
          <a:p>
            <a:pPr marL="285750" lvl="0" indent="-285750" eaLnBrk="0" fontAlgn="base" hangingPunct="0">
              <a:spcBef>
                <a:spcPct val="0"/>
              </a:spcBef>
              <a:spcAft>
                <a:spcPct val="0"/>
              </a:spcAft>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the Answer</a:t>
            </a:r>
          </a:p>
          <a:p>
            <a:pPr marL="285750" lvl="0" indent="-285750" eaLnBrk="0" fontAlgn="base" hangingPunct="0">
              <a:spcBef>
                <a:spcPct val="0"/>
              </a:spcBef>
              <a:spcAft>
                <a:spcPct val="0"/>
              </a:spcAft>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Decode the answer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Return Clean Text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4" name="Imagine 13">
            <a:extLst>
              <a:ext uri="{FF2B5EF4-FFF2-40B4-BE49-F238E27FC236}">
                <a16:creationId xmlns:a16="http://schemas.microsoft.com/office/drawing/2014/main" id="{ABDE7B08-B4B4-C43D-C4F0-DD14CB056F70}"/>
              </a:ext>
            </a:extLst>
          </p:cNvPr>
          <p:cNvPicPr>
            <a:picLocks noChangeAspect="1"/>
          </p:cNvPicPr>
          <p:nvPr/>
        </p:nvPicPr>
        <p:blipFill>
          <a:blip r:embed="rId2"/>
          <a:stretch>
            <a:fillRect/>
          </a:stretch>
        </p:blipFill>
        <p:spPr>
          <a:xfrm>
            <a:off x="4530699" y="1262627"/>
            <a:ext cx="7580238" cy="4578587"/>
          </a:xfrm>
          <a:prstGeom prst="rect">
            <a:avLst/>
          </a:prstGeom>
        </p:spPr>
      </p:pic>
      <p:sp>
        <p:nvSpPr>
          <p:cNvPr id="9" name="Dreptunghi 8">
            <a:extLst>
              <a:ext uri="{FF2B5EF4-FFF2-40B4-BE49-F238E27FC236}">
                <a16:creationId xmlns:a16="http://schemas.microsoft.com/office/drawing/2014/main" id="{DC447426-4A7F-10B5-7A6A-48B9DECCA532}"/>
              </a:ext>
            </a:extLst>
          </p:cNvPr>
          <p:cNvSpPr/>
          <p:nvPr/>
        </p:nvSpPr>
        <p:spPr>
          <a:xfrm>
            <a:off x="4739682" y="1805184"/>
            <a:ext cx="5496449" cy="19010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534900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3709958-FD43-A5F2-E129-FBBD702985C1}"/>
              </a:ext>
            </a:extLst>
          </p:cNvPr>
          <p:cNvSpPr>
            <a:spLocks noGrp="1"/>
          </p:cNvSpPr>
          <p:nvPr>
            <p:ph type="title"/>
          </p:nvPr>
        </p:nvSpPr>
        <p:spPr>
          <a:xfrm>
            <a:off x="583659" y="330741"/>
            <a:ext cx="10515600" cy="661480"/>
          </a:xfrm>
        </p:spPr>
        <p:txBody>
          <a:bodyPr>
            <a:normAutofit/>
          </a:bodyPr>
          <a:lstStyle/>
          <a:p>
            <a:r>
              <a:rPr lang="en-US" sz="3200" dirty="0">
                <a:latin typeface="Times New Roman" panose="02020603050405020304" pitchFamily="18" charset="0"/>
                <a:cs typeface="Times New Roman" panose="02020603050405020304" pitchFamily="18" charset="0"/>
              </a:rPr>
              <a:t>7. Build the RAG pipeline</a:t>
            </a:r>
            <a:endParaRPr lang="en-US" sz="3200" dirty="0"/>
          </a:p>
        </p:txBody>
      </p:sp>
      <p:pic>
        <p:nvPicPr>
          <p:cNvPr id="5" name="Imagine 4">
            <a:extLst>
              <a:ext uri="{FF2B5EF4-FFF2-40B4-BE49-F238E27FC236}">
                <a16:creationId xmlns:a16="http://schemas.microsoft.com/office/drawing/2014/main" id="{F23750D0-8715-A3E1-01AF-7B01D3DD382B}"/>
              </a:ext>
            </a:extLst>
          </p:cNvPr>
          <p:cNvPicPr>
            <a:picLocks noChangeAspect="1"/>
          </p:cNvPicPr>
          <p:nvPr/>
        </p:nvPicPr>
        <p:blipFill>
          <a:blip r:embed="rId2"/>
          <a:stretch>
            <a:fillRect/>
          </a:stretch>
        </p:blipFill>
        <p:spPr>
          <a:xfrm>
            <a:off x="583659" y="1197217"/>
            <a:ext cx="5106113" cy="2829320"/>
          </a:xfrm>
          <a:prstGeom prst="rect">
            <a:avLst/>
          </a:prstGeom>
        </p:spPr>
      </p:pic>
      <p:pic>
        <p:nvPicPr>
          <p:cNvPr id="11" name="Imagine 10">
            <a:extLst>
              <a:ext uri="{FF2B5EF4-FFF2-40B4-BE49-F238E27FC236}">
                <a16:creationId xmlns:a16="http://schemas.microsoft.com/office/drawing/2014/main" id="{7AD85951-CB18-12A4-8557-07B3CB3FACC5}"/>
              </a:ext>
            </a:extLst>
          </p:cNvPr>
          <p:cNvPicPr>
            <a:picLocks noChangeAspect="1"/>
          </p:cNvPicPr>
          <p:nvPr/>
        </p:nvPicPr>
        <p:blipFill>
          <a:blip r:embed="rId3"/>
          <a:stretch>
            <a:fillRect/>
          </a:stretch>
        </p:blipFill>
        <p:spPr>
          <a:xfrm>
            <a:off x="583659" y="4411632"/>
            <a:ext cx="6820852" cy="933580"/>
          </a:xfrm>
          <a:prstGeom prst="rect">
            <a:avLst/>
          </a:prstGeom>
        </p:spPr>
      </p:pic>
    </p:spTree>
    <p:extLst>
      <p:ext uri="{BB962C8B-B14F-4D97-AF65-F5344CB8AC3E}">
        <p14:creationId xmlns:p14="http://schemas.microsoft.com/office/powerpoint/2010/main" val="2443844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20EACFA-F8B7-F3F1-A1A4-6C840282475D}"/>
              </a:ext>
            </a:extLst>
          </p:cNvPr>
          <p:cNvSpPr>
            <a:spLocks noGrp="1"/>
          </p:cNvSpPr>
          <p:nvPr>
            <p:ph type="title"/>
          </p:nvPr>
        </p:nvSpPr>
        <p:spPr>
          <a:xfrm>
            <a:off x="194553" y="165371"/>
            <a:ext cx="10515600" cy="889809"/>
          </a:xfrm>
        </p:spPr>
        <p:txBody>
          <a:bodyPr>
            <a:normAutofit/>
          </a:bodyPr>
          <a:lstStyle/>
          <a:p>
            <a:r>
              <a:rPr lang="en-US" sz="3200" b="1" dirty="0">
                <a:latin typeface="Times New Roman" panose="02020603050405020304" pitchFamily="18" charset="0"/>
                <a:cs typeface="Times New Roman" panose="02020603050405020304" pitchFamily="18" charset="0"/>
              </a:rPr>
              <a:t>Results</a:t>
            </a:r>
            <a:br>
              <a:rPr lang="en-US" sz="32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Question: What is the color coding system for waste disposal?</a:t>
            </a:r>
            <a:endParaRPr lang="en-US" sz="3200" dirty="0">
              <a:latin typeface="Times New Roman" panose="02020603050405020304" pitchFamily="18" charset="0"/>
              <a:cs typeface="Times New Roman" panose="02020603050405020304" pitchFamily="18" charset="0"/>
            </a:endParaRPr>
          </a:p>
        </p:txBody>
      </p:sp>
      <p:sp>
        <p:nvSpPr>
          <p:cNvPr id="3" name="Substituent conținut 2">
            <a:extLst>
              <a:ext uri="{FF2B5EF4-FFF2-40B4-BE49-F238E27FC236}">
                <a16:creationId xmlns:a16="http://schemas.microsoft.com/office/drawing/2014/main" id="{4B7F14EA-9591-ADA1-73B6-C2CDFC2A701B}"/>
              </a:ext>
            </a:extLst>
          </p:cNvPr>
          <p:cNvSpPr>
            <a:spLocks noGrp="1"/>
          </p:cNvSpPr>
          <p:nvPr>
            <p:ph idx="1"/>
          </p:nvPr>
        </p:nvSpPr>
        <p:spPr>
          <a:xfrm>
            <a:off x="303178" y="1361329"/>
            <a:ext cx="10515600" cy="2669205"/>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Source PDF:</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Output:</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CasetăText 4">
            <a:extLst>
              <a:ext uri="{FF2B5EF4-FFF2-40B4-BE49-F238E27FC236}">
                <a16:creationId xmlns:a16="http://schemas.microsoft.com/office/drawing/2014/main" id="{6050A5FB-5210-95D1-115F-D082CE0F1A91}"/>
              </a:ext>
            </a:extLst>
          </p:cNvPr>
          <p:cNvSpPr txBox="1"/>
          <p:nvPr/>
        </p:nvSpPr>
        <p:spPr>
          <a:xfrm>
            <a:off x="2505426" y="3283406"/>
            <a:ext cx="9610928" cy="2800767"/>
          </a:xfrm>
          <a:prstGeom prst="rect">
            <a:avLst/>
          </a:prstGeom>
          <a:noFill/>
        </p:spPr>
        <p:txBody>
          <a:bodyPr wrap="square">
            <a:spAutoFit/>
          </a:bodyPr>
          <a:lstStyle/>
          <a:p>
            <a:r>
              <a:rPr lang="en-US" sz="1600" b="0" i="0" dirty="0">
                <a:effectLst/>
                <a:latin typeface="Consolas" panose="020B0609020204030204" pitchFamily="49" charset="0"/>
              </a:rPr>
              <a:t>The color coding system for waste disposal is: </a:t>
            </a:r>
          </a:p>
          <a:p>
            <a:pPr marL="285750" indent="-285750">
              <a:buFontTx/>
              <a:buChar char="-"/>
            </a:pPr>
            <a:r>
              <a:rPr lang="en-US" sz="1600" b="0" i="0" dirty="0">
                <a:effectLst/>
                <a:latin typeface="Consolas" panose="020B0609020204030204" pitchFamily="49" charset="0"/>
              </a:rPr>
              <a:t>Black for non-infectious waste </a:t>
            </a:r>
          </a:p>
          <a:p>
            <a:pPr marL="285750" indent="-285750">
              <a:buFontTx/>
              <a:buChar char="-"/>
            </a:pPr>
            <a:r>
              <a:rPr lang="en-US" sz="1600" b="0" i="0" dirty="0">
                <a:effectLst/>
                <a:latin typeface="Consolas" panose="020B0609020204030204" pitchFamily="49" charset="0"/>
              </a:rPr>
              <a:t>Red or yellow for infectious waste </a:t>
            </a:r>
          </a:p>
          <a:p>
            <a:pPr marL="285750" indent="-285750">
              <a:buFontTx/>
              <a:buChar char="-"/>
            </a:pPr>
            <a:r>
              <a:rPr lang="en-US" sz="1600" b="0" i="0" dirty="0">
                <a:effectLst/>
                <a:latin typeface="Consolas" panose="020B0609020204030204" pitchFamily="49" charset="0"/>
              </a:rPr>
              <a:t>Yellow for sharps </a:t>
            </a:r>
          </a:p>
          <a:p>
            <a:r>
              <a:rPr lang="en-US" sz="1600" b="0" i="0" dirty="0">
                <a:effectLst/>
                <a:latin typeface="Consolas" panose="020B0609020204030204" pitchFamily="49" charset="0"/>
              </a:rPr>
              <a:t>This system helps staff to correctly sort and dispose of waste materials according to their hazard level. Is the answer correct? Yes, the answer is correct. The color coding system for waste disposal as described in the provided text is: - **Black** for non-infectious waste - **Red or yellow** for infectious waste - **Yellow** for sharps This system is explicitly mentioned in the section on waste disposal in clinical procedures, where it states: &gt; "A three </a:t>
            </a:r>
            <a:r>
              <a:rPr lang="en-US" sz="1600" b="0" i="0" dirty="0" err="1">
                <a:effectLst/>
                <a:latin typeface="Consolas" panose="020B0609020204030204" pitchFamily="49" charset="0"/>
              </a:rPr>
              <a:t>colour</a:t>
            </a:r>
            <a:r>
              <a:rPr lang="en-US" sz="1600" b="0" i="0" dirty="0">
                <a:effectLst/>
                <a:latin typeface="Consolas" panose="020B0609020204030204" pitchFamily="49" charset="0"/>
              </a:rPr>
              <a:t> coding system with black for non-infectious waste, red</a:t>
            </a:r>
            <a:endParaRPr lang="en-US" sz="1600" dirty="0">
              <a:latin typeface="Consolas" panose="020B0609020204030204" pitchFamily="49" charset="0"/>
            </a:endParaRPr>
          </a:p>
        </p:txBody>
      </p:sp>
      <p:pic>
        <p:nvPicPr>
          <p:cNvPr id="7" name="Imagine 6">
            <a:extLst>
              <a:ext uri="{FF2B5EF4-FFF2-40B4-BE49-F238E27FC236}">
                <a16:creationId xmlns:a16="http://schemas.microsoft.com/office/drawing/2014/main" id="{83359219-258C-BADA-FCBA-B9F35C75C450}"/>
              </a:ext>
            </a:extLst>
          </p:cNvPr>
          <p:cNvPicPr>
            <a:picLocks noChangeAspect="1"/>
          </p:cNvPicPr>
          <p:nvPr/>
        </p:nvPicPr>
        <p:blipFill>
          <a:blip r:embed="rId2"/>
          <a:srcRect l="3465" t="23559" b="12437"/>
          <a:stretch>
            <a:fillRect/>
          </a:stretch>
        </p:blipFill>
        <p:spPr>
          <a:xfrm>
            <a:off x="2505426" y="1361329"/>
            <a:ext cx="9133904" cy="812882"/>
          </a:xfrm>
          <a:prstGeom prst="rect">
            <a:avLst/>
          </a:prstGeom>
        </p:spPr>
      </p:pic>
    </p:spTree>
    <p:extLst>
      <p:ext uri="{BB962C8B-B14F-4D97-AF65-F5344CB8AC3E}">
        <p14:creationId xmlns:p14="http://schemas.microsoft.com/office/powerpoint/2010/main" val="471674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u 1">
            <a:extLst>
              <a:ext uri="{FF2B5EF4-FFF2-40B4-BE49-F238E27FC236}">
                <a16:creationId xmlns:a16="http://schemas.microsoft.com/office/drawing/2014/main" id="{56D55041-67C4-D342-F951-7661203781DF}"/>
              </a:ext>
            </a:extLst>
          </p:cNvPr>
          <p:cNvSpPr txBox="1">
            <a:spLocks/>
          </p:cNvSpPr>
          <p:nvPr/>
        </p:nvSpPr>
        <p:spPr>
          <a:xfrm>
            <a:off x="0" y="0"/>
            <a:ext cx="10515600" cy="7049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Times New Roman" panose="02020603050405020304" pitchFamily="18" charset="0"/>
                <a:cs typeface="Times New Roman" panose="02020603050405020304" pitchFamily="18" charset="0"/>
              </a:rPr>
              <a:t>Bonus: Prompt Building</a:t>
            </a:r>
          </a:p>
        </p:txBody>
      </p:sp>
      <p:pic>
        <p:nvPicPr>
          <p:cNvPr id="13" name="Imagine 12">
            <a:extLst>
              <a:ext uri="{FF2B5EF4-FFF2-40B4-BE49-F238E27FC236}">
                <a16:creationId xmlns:a16="http://schemas.microsoft.com/office/drawing/2014/main" id="{E0599C98-7D30-E4C0-8BF7-AD00AC25003F}"/>
              </a:ext>
            </a:extLst>
          </p:cNvPr>
          <p:cNvPicPr>
            <a:picLocks noChangeAspect="1"/>
          </p:cNvPicPr>
          <p:nvPr/>
        </p:nvPicPr>
        <p:blipFill>
          <a:blip r:embed="rId2"/>
          <a:srcRect b="30502"/>
          <a:stretch>
            <a:fillRect/>
          </a:stretch>
        </p:blipFill>
        <p:spPr>
          <a:xfrm>
            <a:off x="0" y="726183"/>
            <a:ext cx="5922524" cy="1509186"/>
          </a:xfrm>
          <a:prstGeom prst="rect">
            <a:avLst/>
          </a:prstGeom>
        </p:spPr>
      </p:pic>
      <p:sp>
        <p:nvSpPr>
          <p:cNvPr id="15" name="Săgeată: dreapta 14">
            <a:extLst>
              <a:ext uri="{FF2B5EF4-FFF2-40B4-BE49-F238E27FC236}">
                <a16:creationId xmlns:a16="http://schemas.microsoft.com/office/drawing/2014/main" id="{CE14C45C-6796-85D3-341B-217E6E9EDED6}"/>
              </a:ext>
            </a:extLst>
          </p:cNvPr>
          <p:cNvSpPr/>
          <p:nvPr/>
        </p:nvSpPr>
        <p:spPr>
          <a:xfrm>
            <a:off x="5901448" y="1088387"/>
            <a:ext cx="457201" cy="107004"/>
          </a:xfrm>
          <a:prstGeom prst="rightArrow">
            <a:avLst/>
          </a:prstGeom>
          <a:solidFill>
            <a:schemeClr val="accent3"/>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Imagine 16">
            <a:extLst>
              <a:ext uri="{FF2B5EF4-FFF2-40B4-BE49-F238E27FC236}">
                <a16:creationId xmlns:a16="http://schemas.microsoft.com/office/drawing/2014/main" id="{22963AEE-CF14-6C5E-12E3-16BA92AF370A}"/>
              </a:ext>
            </a:extLst>
          </p:cNvPr>
          <p:cNvPicPr>
            <a:picLocks noChangeAspect="1"/>
          </p:cNvPicPr>
          <p:nvPr/>
        </p:nvPicPr>
        <p:blipFill>
          <a:blip r:embed="rId3"/>
          <a:stretch>
            <a:fillRect/>
          </a:stretch>
        </p:blipFill>
        <p:spPr>
          <a:xfrm>
            <a:off x="6358649" y="726183"/>
            <a:ext cx="5737696" cy="704918"/>
          </a:xfrm>
          <a:prstGeom prst="rect">
            <a:avLst/>
          </a:prstGeom>
        </p:spPr>
      </p:pic>
      <p:pic>
        <p:nvPicPr>
          <p:cNvPr id="25" name="Imagine 24">
            <a:extLst>
              <a:ext uri="{FF2B5EF4-FFF2-40B4-BE49-F238E27FC236}">
                <a16:creationId xmlns:a16="http://schemas.microsoft.com/office/drawing/2014/main" id="{F3AD6861-A699-46DB-003B-70389F79FFB6}"/>
              </a:ext>
            </a:extLst>
          </p:cNvPr>
          <p:cNvPicPr>
            <a:picLocks noChangeAspect="1"/>
          </p:cNvPicPr>
          <p:nvPr/>
        </p:nvPicPr>
        <p:blipFill>
          <a:blip r:embed="rId4"/>
          <a:stretch>
            <a:fillRect/>
          </a:stretch>
        </p:blipFill>
        <p:spPr>
          <a:xfrm>
            <a:off x="6887262" y="1598431"/>
            <a:ext cx="5289336" cy="1682970"/>
          </a:xfrm>
          <a:prstGeom prst="rect">
            <a:avLst/>
          </a:prstGeom>
        </p:spPr>
      </p:pic>
      <p:pic>
        <p:nvPicPr>
          <p:cNvPr id="27" name="Imagine 26">
            <a:extLst>
              <a:ext uri="{FF2B5EF4-FFF2-40B4-BE49-F238E27FC236}">
                <a16:creationId xmlns:a16="http://schemas.microsoft.com/office/drawing/2014/main" id="{2741C034-0872-0954-9F06-D8897119FD6A}"/>
              </a:ext>
            </a:extLst>
          </p:cNvPr>
          <p:cNvPicPr>
            <a:picLocks noChangeAspect="1"/>
          </p:cNvPicPr>
          <p:nvPr/>
        </p:nvPicPr>
        <p:blipFill>
          <a:blip r:embed="rId5"/>
          <a:stretch>
            <a:fillRect/>
          </a:stretch>
        </p:blipFill>
        <p:spPr>
          <a:xfrm>
            <a:off x="15402" y="2264552"/>
            <a:ext cx="5980891" cy="1016849"/>
          </a:xfrm>
          <a:prstGeom prst="rect">
            <a:avLst/>
          </a:prstGeom>
        </p:spPr>
      </p:pic>
      <p:sp>
        <p:nvSpPr>
          <p:cNvPr id="28" name="Săgeată: dreapta 27">
            <a:extLst>
              <a:ext uri="{FF2B5EF4-FFF2-40B4-BE49-F238E27FC236}">
                <a16:creationId xmlns:a16="http://schemas.microsoft.com/office/drawing/2014/main" id="{62B871E0-4605-F725-1165-BBCD117B917B}"/>
              </a:ext>
            </a:extLst>
          </p:cNvPr>
          <p:cNvSpPr/>
          <p:nvPr/>
        </p:nvSpPr>
        <p:spPr>
          <a:xfrm>
            <a:off x="5960623" y="2486257"/>
            <a:ext cx="903942" cy="107004"/>
          </a:xfrm>
          <a:prstGeom prst="rightArrow">
            <a:avLst/>
          </a:prstGeom>
          <a:solidFill>
            <a:schemeClr val="accent3"/>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0" name="Imagine 29">
            <a:extLst>
              <a:ext uri="{FF2B5EF4-FFF2-40B4-BE49-F238E27FC236}">
                <a16:creationId xmlns:a16="http://schemas.microsoft.com/office/drawing/2014/main" id="{65865FA0-665C-F198-F643-3A0EC0559BC4}"/>
              </a:ext>
            </a:extLst>
          </p:cNvPr>
          <p:cNvPicPr>
            <a:picLocks noChangeAspect="1"/>
          </p:cNvPicPr>
          <p:nvPr/>
        </p:nvPicPr>
        <p:blipFill>
          <a:blip r:embed="rId6"/>
          <a:srcRect r="10324"/>
          <a:stretch>
            <a:fillRect/>
          </a:stretch>
        </p:blipFill>
        <p:spPr>
          <a:xfrm>
            <a:off x="15403" y="3429000"/>
            <a:ext cx="4168304" cy="637162"/>
          </a:xfrm>
          <a:prstGeom prst="rect">
            <a:avLst/>
          </a:prstGeom>
        </p:spPr>
      </p:pic>
      <p:pic>
        <p:nvPicPr>
          <p:cNvPr id="32" name="Imagine 31">
            <a:extLst>
              <a:ext uri="{FF2B5EF4-FFF2-40B4-BE49-F238E27FC236}">
                <a16:creationId xmlns:a16="http://schemas.microsoft.com/office/drawing/2014/main" id="{A1A9BD7F-3711-C7EC-80CF-B5CBB290B494}"/>
              </a:ext>
            </a:extLst>
          </p:cNvPr>
          <p:cNvPicPr>
            <a:picLocks noChangeAspect="1"/>
          </p:cNvPicPr>
          <p:nvPr/>
        </p:nvPicPr>
        <p:blipFill>
          <a:blip r:embed="rId7"/>
          <a:stretch>
            <a:fillRect/>
          </a:stretch>
        </p:blipFill>
        <p:spPr>
          <a:xfrm>
            <a:off x="4533089" y="3392162"/>
            <a:ext cx="7658911" cy="3439616"/>
          </a:xfrm>
          <a:prstGeom prst="rect">
            <a:avLst/>
          </a:prstGeom>
        </p:spPr>
      </p:pic>
      <p:sp>
        <p:nvSpPr>
          <p:cNvPr id="33" name="Săgeată: dreapta 32">
            <a:extLst>
              <a:ext uri="{FF2B5EF4-FFF2-40B4-BE49-F238E27FC236}">
                <a16:creationId xmlns:a16="http://schemas.microsoft.com/office/drawing/2014/main" id="{A0EE6579-61CB-B92E-FBCD-C54D4F002126}"/>
              </a:ext>
            </a:extLst>
          </p:cNvPr>
          <p:cNvSpPr/>
          <p:nvPr/>
        </p:nvSpPr>
        <p:spPr>
          <a:xfrm>
            <a:off x="4150877" y="3680950"/>
            <a:ext cx="479898" cy="133261"/>
          </a:xfrm>
          <a:prstGeom prst="rightArrow">
            <a:avLst/>
          </a:prstGeom>
          <a:solidFill>
            <a:schemeClr val="accent3"/>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4451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6415A8D5-B648-4569-CEFC-C8E1BE837A94}"/>
              </a:ext>
            </a:extLst>
          </p:cNvPr>
          <p:cNvSpPr>
            <a:spLocks noGrp="1"/>
          </p:cNvSpPr>
          <p:nvPr>
            <p:ph type="title"/>
          </p:nvPr>
        </p:nvSpPr>
        <p:spPr>
          <a:xfrm>
            <a:off x="653374" y="0"/>
            <a:ext cx="10515600" cy="1325563"/>
          </a:xfrm>
        </p:spPr>
        <p:txBody>
          <a:bodyPr/>
          <a:lstStyle/>
          <a:p>
            <a:r>
              <a:rPr lang="en-US" dirty="0">
                <a:latin typeface="Times New Roman" panose="02020603050405020304" pitchFamily="18" charset="0"/>
                <a:cs typeface="Times New Roman" panose="02020603050405020304" pitchFamily="18" charset="0"/>
              </a:rPr>
              <a:t>Homework</a:t>
            </a:r>
            <a:endParaRPr lang="en-US" dirty="0"/>
          </a:p>
        </p:txBody>
      </p:sp>
      <p:sp>
        <p:nvSpPr>
          <p:cNvPr id="3" name="Substituent conținut 2">
            <a:extLst>
              <a:ext uri="{FF2B5EF4-FFF2-40B4-BE49-F238E27FC236}">
                <a16:creationId xmlns:a16="http://schemas.microsoft.com/office/drawing/2014/main" id="{2A862061-A0B0-9EE4-9042-9313C31AB361}"/>
              </a:ext>
            </a:extLst>
          </p:cNvPr>
          <p:cNvSpPr>
            <a:spLocks noGrp="1"/>
          </p:cNvSpPr>
          <p:nvPr>
            <p:ph idx="1"/>
          </p:nvPr>
        </p:nvSpPr>
        <p:spPr>
          <a:xfrm>
            <a:off x="653374" y="1235412"/>
            <a:ext cx="11126821" cy="4610810"/>
          </a:xfrm>
        </p:spPr>
        <p:txBody>
          <a:bodyPr/>
          <a:lstStyle/>
          <a:p>
            <a:r>
              <a:rPr lang="en-US" dirty="0">
                <a:latin typeface="Times New Roman" panose="02020603050405020304" pitchFamily="18" charset="0"/>
                <a:cs typeface="Times New Roman" panose="02020603050405020304" pitchFamily="18" charset="0"/>
              </a:rPr>
              <a:t> Choose your own dataset</a:t>
            </a:r>
          </a:p>
          <a:p>
            <a:r>
              <a:rPr lang="en-US" dirty="0">
                <a:latin typeface="Times New Roman" panose="02020603050405020304" pitchFamily="18" charset="0"/>
                <a:cs typeface="Times New Roman" panose="02020603050405020304" pitchFamily="18" charset="0"/>
              </a:rPr>
              <a:t> Experiment with different prompts</a:t>
            </a:r>
          </a:p>
          <a:p>
            <a:r>
              <a:rPr lang="en-US" dirty="0">
                <a:latin typeface="Times New Roman" panose="02020603050405020304" pitchFamily="18" charset="0"/>
                <a:cs typeface="Times New Roman" panose="02020603050405020304" pitchFamily="18" charset="0"/>
              </a:rPr>
              <a:t> Reflection (5–10 sentences)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Write a small report. Include code and screenshots of the answers. </a:t>
            </a:r>
          </a:p>
          <a:p>
            <a:pPr marL="0" indent="0">
              <a:buNone/>
            </a:pPr>
            <a:r>
              <a:rPr lang="en-US" dirty="0">
                <a:latin typeface="Times New Roman" panose="02020603050405020304" pitchFamily="18" charset="0"/>
                <a:cs typeface="Times New Roman" panose="02020603050405020304" pitchFamily="18" charset="0"/>
              </a:rPr>
              <a:t>As usual, send the homework to </a:t>
            </a:r>
            <a:r>
              <a:rPr lang="en-US" dirty="0">
                <a:latin typeface="Times New Roman" panose="02020603050405020304" pitchFamily="18" charset="0"/>
                <a:cs typeface="Times New Roman" panose="02020603050405020304" pitchFamily="18" charset="0"/>
                <a:hlinkClick r:id="rId2"/>
              </a:rPr>
              <a:t>bianca.ebrasu@gmail.com</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10807667"/>
      </p:ext>
    </p:extLst>
  </p:cSld>
  <p:clrMapOvr>
    <a:masterClrMapping/>
  </p:clrMapOvr>
</p:sld>
</file>

<file path=ppt/theme/theme1.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6723</TotalTime>
  <Words>1989</Words>
  <Application>Microsoft Office PowerPoint</Application>
  <PresentationFormat>Ecran lat</PresentationFormat>
  <Paragraphs>307</Paragraphs>
  <Slides>31</Slides>
  <Notes>4</Notes>
  <HiddenSlides>0</HiddenSlides>
  <MMClips>0</MMClips>
  <ScaleCrop>false</ScaleCrop>
  <HeadingPairs>
    <vt:vector size="6" baseType="variant">
      <vt:variant>
        <vt:lpstr>Fonturi utilizate</vt:lpstr>
      </vt:variant>
      <vt:variant>
        <vt:i4>9</vt:i4>
      </vt:variant>
      <vt:variant>
        <vt:lpstr>Temă</vt:lpstr>
      </vt:variant>
      <vt:variant>
        <vt:i4>1</vt:i4>
      </vt:variant>
      <vt:variant>
        <vt:lpstr>Titluri diapozitive</vt:lpstr>
      </vt:variant>
      <vt:variant>
        <vt:i4>31</vt:i4>
      </vt:variant>
    </vt:vector>
  </HeadingPairs>
  <TitlesOfParts>
    <vt:vector size="41" baseType="lpstr">
      <vt:lpstr>Aptos</vt:lpstr>
      <vt:lpstr>Aptos Display</vt:lpstr>
      <vt:lpstr>Arial</vt:lpstr>
      <vt:lpstr>Calibri</vt:lpstr>
      <vt:lpstr>Cambria Math</vt:lpstr>
      <vt:lpstr>Consolas</vt:lpstr>
      <vt:lpstr>Symbol</vt:lpstr>
      <vt:lpstr>Times New Roman</vt:lpstr>
      <vt:lpstr>Wingdings</vt:lpstr>
      <vt:lpstr>Temă Office</vt:lpstr>
      <vt:lpstr>L03: RAG (Retrieval-Augmented Generation)</vt:lpstr>
      <vt:lpstr>L03 Summary</vt:lpstr>
      <vt:lpstr>Recap L02ecap: L01 – Running a GPT-2 Model</vt:lpstr>
      <vt:lpstr>Limitations of LLMs </vt:lpstr>
      <vt:lpstr>What is RAG?</vt:lpstr>
      <vt:lpstr>What is RAG?</vt:lpstr>
      <vt:lpstr>RAG Architecture</vt:lpstr>
      <vt:lpstr>Prezentare PowerPoint</vt:lpstr>
      <vt:lpstr>1. Documents/External Knowledge Sources</vt:lpstr>
      <vt:lpstr>2. Data Preprocessing</vt:lpstr>
      <vt:lpstr>3. Embeddings</vt:lpstr>
      <vt:lpstr>Prezentare PowerPoint</vt:lpstr>
      <vt:lpstr>Prezentare PowerPoint</vt:lpstr>
      <vt:lpstr>Prezentare PowerPoint</vt:lpstr>
      <vt:lpstr>Prezentare PowerPoint</vt:lpstr>
      <vt:lpstr>Prezentare PowerPoint</vt:lpstr>
      <vt:lpstr>Prezentare PowerPoint</vt:lpstr>
      <vt:lpstr>Let’s Take a Closer Look… Why RAG and not just use Fine-tuning?</vt:lpstr>
      <vt:lpstr>To sum it up…</vt:lpstr>
      <vt:lpstr>Prezentare PowerPoint</vt:lpstr>
      <vt:lpstr>1. Environment </vt:lpstr>
      <vt:lpstr>2. Model and Tokenizer</vt:lpstr>
      <vt:lpstr>3. Prepare the Knowledge Base  </vt:lpstr>
      <vt:lpstr>4. Preprocessing the document</vt:lpstr>
      <vt:lpstr>Prezentare PowerPoint</vt:lpstr>
      <vt:lpstr>6. Set up the Retriever </vt:lpstr>
      <vt:lpstr>6. Build the RAG pipeline</vt:lpstr>
      <vt:lpstr>7. Build the RAG pipeline</vt:lpstr>
      <vt:lpstr>Results Question: What is the color coding system for waste disposal?</vt:lpstr>
      <vt:lpstr>Prezentare PowerPoint</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Bianca Ebrasu</dc:creator>
  <cp:lastModifiedBy>Bianca Ebrasu</cp:lastModifiedBy>
  <cp:revision>19</cp:revision>
  <dcterms:created xsi:type="dcterms:W3CDTF">2025-09-09T18:03:53Z</dcterms:created>
  <dcterms:modified xsi:type="dcterms:W3CDTF">2025-10-30T07:10:21Z</dcterms:modified>
</cp:coreProperties>
</file>